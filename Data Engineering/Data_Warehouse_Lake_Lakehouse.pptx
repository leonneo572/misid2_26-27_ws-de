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55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8808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Introduction : ce cours présente l'évolution des architectures analytiques, du data warehouse des années 1990 au data lake des années 2010, jusqu'au lakehouse actuel.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cours suit l'ordre historique : chaque architecture répond aux limites de la précédente.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OLTP = Online Transaction Processing, OLAP = Online Analytical Processing. C'est la distinction fondatrice du data engineering.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partie : l'architecture historique, toujours très utilisée.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quatre propriétés viennent de la définition de Bill Inmon, considéré comme le père du data warehouse. Exemples d'outils : Teradata, Oracle, SQL Server, Snowflake, BigQuery, Redshift.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Outils ETL classiques : Talend, Informatica, SSIS, Pentaho. Outils modernes : Airbyte, dbt, Spark, scripts Python orchestrés par Airflow.</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nettoyage représente souvent la majorité du temps d'un projet data. Exemple Odoo : les champs vides sont renvoyés à False par l'API et doivent être convertis en NULL.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transformation applique les règles métier : c'est là que l'on définit ce qu'est une vente confirmée, comment calculer la marge, etc.</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data mart est un sous-ensemble du warehouse dédié à un service : finance, ventes, RH.</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schéma en étoile limite le nombre de jointures et rend les tableaux de bord rapides et faciles à construire. Variante : le schéma en flocon, où les dimensions sont elles-mêmes normalisées.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limites ont motivé l'apparition du data lake dans les années 2010, avec l'explosion du big data.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partie : le data lake, apparu avec Hadoop puis le stockage objet dans le cloud.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data lake accepte aussi bien les bases de données que les fichiers, les réseaux sociaux, les capteurs IoT ou les documents. Il sert de réservoir unique pour la data science et le machine learning.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répartition 80/20 est une estimation souvent citée dans l'industrie, à présenter comme un ordre de grandeur et non comme une mesure précise.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deux ne s'opposent pas forcément : pendant des années, beaucoup d'entreprises ont utilisé les deux ensemble, ce qui mène à l'architecture à deux niveaux.</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data swamp, ou marécage de données, désigne un lake devenu inutilisable : on ne sait plus quelles données existent, lesquelles sont fiables, ni qui les a produites. Ces problèmes sont à l'origine du lakehouse.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partie : le lakehouse, popularisé par Databricks vers 2020.</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terme lakehouse a été popularisé par Databricks. Aujourd'hui, Snowflake, Microsoft Fabric, Google BigQuery et AWS proposent tous une approche lakehouse.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essentiel : le stockage et le calcul sont séparés. On peut changer de moteur sans déplacer les données, puisqu'elles restent dans un format ouvert.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principe commun : des fichiers Parquet plus un journal de transactions qui indique, pour chaque version, quels fichiers font partie de la table.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L'architecture médaillon est une convention d'organisation, pas une technologie. Elle reprend en quelque sorte la zone de staging et l'entrepôt du data warehouse, mais au sein d'une seule plateforme.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colonne lakehouse est mise en évidence : elle combine les points forts des deux autres colonnes.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n'y a pas de bonne réponse universelle : le choix dépend du volume, des types de données, des compétences de l'équipe et du budget.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et transition vers la pratique.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8.png"/><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Text 0"/>
          <p:cNvSpPr txBox="1"/>
          <p:nvPr/>
        </p:nvSpPr>
        <p:spPr>
          <a:xfrm>
            <a:off x="640080" y="1188720"/>
            <a:ext cx="5486400" cy="365760"/>
          </a:xfrm>
          <a:prstGeom prst="rect">
            <a:avLst/>
          </a:prstGeom>
          <a:noFill/>
          <a:ln/>
        </p:spPr>
        <p:txBody>
          <a:bodyPr wrap="square" lIns="0" tIns="0" rIns="0" bIns="0" rtlCol="0" anchor="ctr"/>
          <a:lstStyle/>
          <a:p>
            <a:pPr marL="0" indent="0">
              <a:buNone/>
            </a:pPr>
            <a:r>
              <a:rPr lang="en-US" sz="1600" b="1" kern="0" spc="200" dirty="0">
                <a:solidFill>
                  <a:srgbClr val="F2A541"/>
                </a:solidFill>
                <a:latin typeface="Calibri" pitchFamily="34" charset="0"/>
                <a:ea typeface="Calibri" pitchFamily="34" charset="-122"/>
                <a:cs typeface="Calibri" pitchFamily="34" charset="-120"/>
              </a:rPr>
              <a:t>Cours de data engineering</a:t>
            </a:r>
            <a:endParaRPr lang="en-US" sz="1600" dirty="0"/>
          </a:p>
        </p:txBody>
      </p:sp>
      <p:sp>
        <p:nvSpPr>
          <p:cNvPr id="3" name="Text 1"/>
          <p:cNvSpPr txBox="1"/>
          <p:nvPr/>
        </p:nvSpPr>
        <p:spPr>
          <a:xfrm>
            <a:off x="640080" y="1691640"/>
            <a:ext cx="5577840" cy="219456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Data Warehouse, Data Lake et Data Lakehouse</a:t>
            </a:r>
            <a:endParaRPr lang="en-US" sz="4000" dirty="0"/>
          </a:p>
        </p:txBody>
      </p:sp>
      <p:sp>
        <p:nvSpPr>
          <p:cNvPr id="4" name="Text 2"/>
          <p:cNvSpPr txBox="1"/>
          <p:nvPr/>
        </p:nvSpPr>
        <p:spPr>
          <a:xfrm>
            <a:off x="640080" y="4023360"/>
            <a:ext cx="5303520" cy="822960"/>
          </a:xfrm>
          <a:prstGeom prst="rect">
            <a:avLst/>
          </a:prstGeom>
          <a:noFill/>
          <a:ln/>
        </p:spPr>
        <p:txBody>
          <a:bodyPr wrap="square" lIns="0" tIns="0" rIns="0" bIns="0" rtlCol="0" anchor="t"/>
          <a:lstStyle/>
          <a:p>
            <a:pPr marL="0" indent="0">
              <a:buNone/>
            </a:pPr>
            <a:r>
              <a:rPr lang="en-US" sz="1800" dirty="0">
                <a:solidFill>
                  <a:srgbClr val="DCEBF0"/>
                </a:solidFill>
                <a:latin typeface="Calibri" pitchFamily="34" charset="0"/>
                <a:ea typeface="Calibri" pitchFamily="34" charset="-122"/>
                <a:cs typeface="Calibri" pitchFamily="34" charset="-120"/>
              </a:rPr>
              <a:t>Trois architectures pour stocker et analyser les données de l'entreprise</a:t>
            </a:r>
            <a:endParaRPr lang="en-US" sz="1800" dirty="0"/>
          </a:p>
        </p:txBody>
      </p:sp>
      <p:sp>
        <p:nvSpPr>
          <p:cNvPr id="5" name="Shape 3"/>
          <p:cNvSpPr/>
          <p:nvPr/>
        </p:nvSpPr>
        <p:spPr>
          <a:xfrm>
            <a:off x="6583680" y="1371600"/>
            <a:ext cx="5029200" cy="3017520"/>
          </a:xfrm>
          <a:prstGeom prst="roundRect">
            <a:avLst>
              <a:gd name="adj" fmla="val 3636"/>
            </a:avLst>
          </a:prstGeom>
          <a:solidFill>
            <a:srgbClr val="FFFFFF"/>
          </a:solidFill>
          <a:ln w="9525">
            <a:solidFill>
              <a:srgbClr val="E2E8F0"/>
            </a:solidFill>
            <a:prstDash val="solid"/>
          </a:ln>
          <a:effectLst>
            <a:outerShdw blurRad="101600" dist="25400" dir="5400000" algn="bl" rotWithShape="0">
              <a:srgbClr val="000000">
                <a:alpha val="15000"/>
              </a:srgbClr>
            </a:outerShdw>
          </a:effectLst>
        </p:spPr>
      </p:sp>
      <p:pic>
        <p:nvPicPr>
          <p:cNvPr id="6" name="Image 0" descr="/home/claude/deck/img/what.png"/>
          <p:cNvPicPr>
            <a:picLocks noChangeAspect="1"/>
          </p:cNvPicPr>
          <p:nvPr/>
        </p:nvPicPr>
        <p:blipFill>
          <a:blip r:embed="rId3"/>
          <a:stretch>
            <a:fillRect/>
          </a:stretch>
        </p:blipFill>
        <p:spPr>
          <a:xfrm>
            <a:off x="6693408" y="1507729"/>
            <a:ext cx="4809744" cy="2745262"/>
          </a:xfrm>
          <a:prstGeom prst="rect">
            <a:avLst/>
          </a:prstGeom>
        </p:spPr>
      </p:pic>
      <p:sp>
        <p:nvSpPr>
          <p:cNvPr id="7" name="Text 2"/>
          <p:cNvSpPr txBox="1"/>
          <p:nvPr/>
        </p:nvSpPr>
        <p:spPr>
          <a:xfrm>
            <a:off x="640080" y="5270465"/>
            <a:ext cx="5303520" cy="822960"/>
          </a:xfrm>
          <a:prstGeom prst="rect">
            <a:avLst/>
          </a:prstGeom>
          <a:noFill/>
          <a:ln/>
        </p:spPr>
        <p:txBody>
          <a:bodyPr wrap="square" lIns="0" tIns="0" rIns="0" bIns="0" rtlCol="0" anchor="t"/>
          <a:lstStyle/>
          <a:p>
            <a:r>
              <a:rPr lang="en-US" i="1" dirty="0" smtClean="0">
                <a:solidFill>
                  <a:srgbClr val="8FA3BE"/>
                </a:solidFill>
                <a:latin typeface="Calibri" pitchFamily="34" charset="0"/>
                <a:ea typeface="Calibri" pitchFamily="34" charset="-122"/>
                <a:cs typeface="Calibri" pitchFamily="34" charset="-120"/>
              </a:rPr>
              <a:t>Enseignante : Safa Chmengui </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155680" y="6400800"/>
            <a:ext cx="548640" cy="274320"/>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2</a:t>
            </a:r>
            <a:endParaRPr lang="en-US" sz="1000" dirty="0"/>
          </a:p>
        </p:txBody>
      </p:sp>
      <p:sp>
        <p:nvSpPr>
          <p:cNvPr id="3" name="Text 1"/>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Plan du cours</a:t>
            </a:r>
            <a:endParaRPr lang="en-US" sz="3200" dirty="0"/>
          </a:p>
        </p:txBody>
      </p:sp>
      <p:sp>
        <p:nvSpPr>
          <p:cNvPr id="4" name="Shape 2"/>
          <p:cNvSpPr/>
          <p:nvPr/>
        </p:nvSpPr>
        <p:spPr>
          <a:xfrm>
            <a:off x="548640" y="1463040"/>
            <a:ext cx="11064240" cy="1325880"/>
          </a:xfrm>
          <a:prstGeom prst="roundRect">
            <a:avLst>
              <a:gd name="adj" fmla="val 6897"/>
            </a:avLst>
          </a:prstGeom>
          <a:solidFill>
            <a:srgbClr val="F1F6F8"/>
          </a:solidFill>
          <a:ln w="12700">
            <a:solidFill>
              <a:srgbClr val="F1F6F8"/>
            </a:solidFill>
            <a:prstDash val="solid"/>
          </a:ln>
        </p:spPr>
      </p:sp>
      <p:sp>
        <p:nvSpPr>
          <p:cNvPr id="5" name="Shape 3"/>
          <p:cNvSpPr/>
          <p:nvPr/>
        </p:nvSpPr>
        <p:spPr>
          <a:xfrm>
            <a:off x="868680" y="1737360"/>
            <a:ext cx="777240" cy="777240"/>
          </a:xfrm>
          <a:prstGeom prst="ellipse">
            <a:avLst/>
          </a:prstGeom>
          <a:solidFill>
            <a:srgbClr val="1B998B"/>
          </a:solidFill>
          <a:ln w="12700">
            <a:solidFill>
              <a:srgbClr val="1B998B"/>
            </a:solidFill>
            <a:prstDash val="solid"/>
          </a:ln>
        </p:spPr>
      </p:sp>
      <p:pic>
        <p:nvPicPr>
          <p:cNvPr id="6" name="Image 0" descr="preencoded.png"/>
          <p:cNvPicPr>
            <a:picLocks noChangeAspect="1"/>
          </p:cNvPicPr>
          <p:nvPr/>
        </p:nvPicPr>
        <p:blipFill>
          <a:blip r:embed="rId3"/>
          <a:stretch>
            <a:fillRect/>
          </a:stretch>
        </p:blipFill>
        <p:spPr>
          <a:xfrm>
            <a:off x="1062990" y="1931670"/>
            <a:ext cx="388620" cy="388620"/>
          </a:xfrm>
          <a:prstGeom prst="rect">
            <a:avLst/>
          </a:prstGeom>
        </p:spPr>
      </p:pic>
      <p:sp>
        <p:nvSpPr>
          <p:cNvPr id="7" name="Text 4"/>
          <p:cNvSpPr txBox="1"/>
          <p:nvPr/>
        </p:nvSpPr>
        <p:spPr>
          <a:xfrm>
            <a:off x="1920240" y="1645920"/>
            <a:ext cx="914400" cy="914400"/>
          </a:xfrm>
          <a:prstGeom prst="rect">
            <a:avLst/>
          </a:prstGeom>
          <a:noFill/>
          <a:ln/>
        </p:spPr>
        <p:txBody>
          <a:bodyPr wrap="square" lIns="0" tIns="0" rIns="0" bIns="0" rtlCol="0" anchor="ctr"/>
          <a:lstStyle/>
          <a:p>
            <a:pPr marL="0" indent="0">
              <a:buNone/>
            </a:pPr>
            <a:r>
              <a:rPr lang="en-US" sz="3600" b="1" dirty="0">
                <a:solidFill>
                  <a:srgbClr val="F2A541"/>
                </a:solidFill>
                <a:latin typeface="Cambria" pitchFamily="34" charset="0"/>
                <a:ea typeface="Cambria" pitchFamily="34" charset="-122"/>
                <a:cs typeface="Cambria" pitchFamily="34" charset="-120"/>
              </a:rPr>
              <a:t>01</a:t>
            </a:r>
            <a:endParaRPr lang="en-US" sz="3600" dirty="0"/>
          </a:p>
        </p:txBody>
      </p:sp>
      <p:sp>
        <p:nvSpPr>
          <p:cNvPr id="8" name="Text 5"/>
          <p:cNvSpPr txBox="1"/>
          <p:nvPr/>
        </p:nvSpPr>
        <p:spPr>
          <a:xfrm>
            <a:off x="2926080" y="1691640"/>
            <a:ext cx="8412480" cy="457200"/>
          </a:xfrm>
          <a:prstGeom prst="rect">
            <a:avLst/>
          </a:prstGeom>
          <a:noFill/>
          <a:ln/>
        </p:spPr>
        <p:txBody>
          <a:bodyPr wrap="square" lIns="0" tIns="0" rIns="0" bIns="0" rtlCol="0" anchor="ctr"/>
          <a:lstStyle/>
          <a:p>
            <a:pPr marL="0" indent="0">
              <a:buNone/>
            </a:pPr>
            <a:r>
              <a:rPr lang="en-US" sz="2200" b="1" dirty="0">
                <a:solidFill>
                  <a:srgbClr val="0B2545"/>
                </a:solidFill>
                <a:latin typeface="Cambria" pitchFamily="34" charset="0"/>
                <a:ea typeface="Cambria" pitchFamily="34" charset="-122"/>
                <a:cs typeface="Cambria" pitchFamily="34" charset="-120"/>
              </a:rPr>
              <a:t>Le Data Warehouse</a:t>
            </a:r>
            <a:endParaRPr lang="en-US" sz="2200" dirty="0"/>
          </a:p>
        </p:txBody>
      </p:sp>
      <p:sp>
        <p:nvSpPr>
          <p:cNvPr id="9" name="Text 6"/>
          <p:cNvSpPr txBox="1"/>
          <p:nvPr/>
        </p:nvSpPr>
        <p:spPr>
          <a:xfrm>
            <a:off x="2926080" y="2176272"/>
            <a:ext cx="8412480" cy="411480"/>
          </a:xfrm>
          <a:prstGeom prst="rect">
            <a:avLst/>
          </a:prstGeom>
          <a:noFill/>
          <a:ln/>
        </p:spPr>
        <p:txBody>
          <a:bodyPr wrap="square" lIns="0" tIns="0" rIns="0" bIns="0" rtlCol="0" anchor="ctr"/>
          <a:lstStyle/>
          <a:p>
            <a:pPr marL="0" indent="0">
              <a:buNone/>
            </a:pPr>
            <a:r>
              <a:rPr lang="en-US" sz="1500" dirty="0">
                <a:solidFill>
                  <a:srgbClr val="5B6B7F"/>
                </a:solidFill>
                <a:latin typeface="Calibri" pitchFamily="34" charset="0"/>
                <a:ea typeface="Calibri" pitchFamily="34" charset="-122"/>
                <a:cs typeface="Calibri" pitchFamily="34" charset="-120"/>
              </a:rPr>
              <a:t>Définition, ETL, nettoyage, transformation, modélisation en étoile</a:t>
            </a:r>
            <a:endParaRPr lang="en-US" sz="1500" dirty="0"/>
          </a:p>
        </p:txBody>
      </p:sp>
      <p:sp>
        <p:nvSpPr>
          <p:cNvPr id="10" name="Shape 7"/>
          <p:cNvSpPr/>
          <p:nvPr/>
        </p:nvSpPr>
        <p:spPr>
          <a:xfrm>
            <a:off x="548640" y="3063240"/>
            <a:ext cx="11064240" cy="1325880"/>
          </a:xfrm>
          <a:prstGeom prst="roundRect">
            <a:avLst>
              <a:gd name="adj" fmla="val 6897"/>
            </a:avLst>
          </a:prstGeom>
          <a:solidFill>
            <a:srgbClr val="F1F6F8"/>
          </a:solidFill>
          <a:ln w="12700">
            <a:solidFill>
              <a:srgbClr val="F1F6F8"/>
            </a:solidFill>
            <a:prstDash val="solid"/>
          </a:ln>
        </p:spPr>
      </p:sp>
      <p:sp>
        <p:nvSpPr>
          <p:cNvPr id="11" name="Shape 8"/>
          <p:cNvSpPr/>
          <p:nvPr/>
        </p:nvSpPr>
        <p:spPr>
          <a:xfrm>
            <a:off x="868680" y="3337560"/>
            <a:ext cx="777240" cy="777240"/>
          </a:xfrm>
          <a:prstGeom prst="ellipse">
            <a:avLst/>
          </a:prstGeom>
          <a:solidFill>
            <a:srgbClr val="1B998B"/>
          </a:solidFill>
          <a:ln w="12700">
            <a:solidFill>
              <a:srgbClr val="1B998B"/>
            </a:solidFill>
            <a:prstDash val="solid"/>
          </a:ln>
        </p:spPr>
      </p:sp>
      <p:pic>
        <p:nvPicPr>
          <p:cNvPr id="12" name="Image 1" descr="preencoded.png"/>
          <p:cNvPicPr>
            <a:picLocks noChangeAspect="1"/>
          </p:cNvPicPr>
          <p:nvPr/>
        </p:nvPicPr>
        <p:blipFill>
          <a:blip r:embed="rId4"/>
          <a:stretch>
            <a:fillRect/>
          </a:stretch>
        </p:blipFill>
        <p:spPr>
          <a:xfrm>
            <a:off x="1062990" y="3531870"/>
            <a:ext cx="388620" cy="388620"/>
          </a:xfrm>
          <a:prstGeom prst="rect">
            <a:avLst/>
          </a:prstGeom>
        </p:spPr>
      </p:pic>
      <p:sp>
        <p:nvSpPr>
          <p:cNvPr id="13" name="Text 9"/>
          <p:cNvSpPr txBox="1"/>
          <p:nvPr/>
        </p:nvSpPr>
        <p:spPr>
          <a:xfrm>
            <a:off x="1920240" y="3246120"/>
            <a:ext cx="914400" cy="914400"/>
          </a:xfrm>
          <a:prstGeom prst="rect">
            <a:avLst/>
          </a:prstGeom>
          <a:noFill/>
          <a:ln/>
        </p:spPr>
        <p:txBody>
          <a:bodyPr wrap="square" lIns="0" tIns="0" rIns="0" bIns="0" rtlCol="0" anchor="ctr"/>
          <a:lstStyle/>
          <a:p>
            <a:pPr marL="0" indent="0">
              <a:buNone/>
            </a:pPr>
            <a:r>
              <a:rPr lang="en-US" sz="3600" b="1" dirty="0">
                <a:solidFill>
                  <a:srgbClr val="F2A541"/>
                </a:solidFill>
                <a:latin typeface="Cambria" pitchFamily="34" charset="0"/>
                <a:ea typeface="Cambria" pitchFamily="34" charset="-122"/>
                <a:cs typeface="Cambria" pitchFamily="34" charset="-120"/>
              </a:rPr>
              <a:t>02</a:t>
            </a:r>
            <a:endParaRPr lang="en-US" sz="3600" dirty="0"/>
          </a:p>
        </p:txBody>
      </p:sp>
      <p:sp>
        <p:nvSpPr>
          <p:cNvPr id="14" name="Text 10"/>
          <p:cNvSpPr txBox="1"/>
          <p:nvPr/>
        </p:nvSpPr>
        <p:spPr>
          <a:xfrm>
            <a:off x="2926080" y="3291840"/>
            <a:ext cx="8412480" cy="457200"/>
          </a:xfrm>
          <a:prstGeom prst="rect">
            <a:avLst/>
          </a:prstGeom>
          <a:noFill/>
          <a:ln/>
        </p:spPr>
        <p:txBody>
          <a:bodyPr wrap="square" lIns="0" tIns="0" rIns="0" bIns="0" rtlCol="0" anchor="ctr"/>
          <a:lstStyle/>
          <a:p>
            <a:pPr marL="0" indent="0">
              <a:buNone/>
            </a:pPr>
            <a:r>
              <a:rPr lang="en-US" sz="2200" b="1" dirty="0">
                <a:solidFill>
                  <a:srgbClr val="0B2545"/>
                </a:solidFill>
                <a:latin typeface="Cambria" pitchFamily="34" charset="0"/>
                <a:ea typeface="Cambria" pitchFamily="34" charset="-122"/>
                <a:cs typeface="Cambria" pitchFamily="34" charset="-120"/>
              </a:rPr>
              <a:t>Le Data Lake</a:t>
            </a:r>
            <a:endParaRPr lang="en-US" sz="2200" dirty="0"/>
          </a:p>
        </p:txBody>
      </p:sp>
      <p:sp>
        <p:nvSpPr>
          <p:cNvPr id="15" name="Text 11"/>
          <p:cNvSpPr txBox="1"/>
          <p:nvPr/>
        </p:nvSpPr>
        <p:spPr>
          <a:xfrm>
            <a:off x="2926080" y="3776472"/>
            <a:ext cx="8412480" cy="411480"/>
          </a:xfrm>
          <a:prstGeom prst="rect">
            <a:avLst/>
          </a:prstGeom>
          <a:noFill/>
          <a:ln/>
        </p:spPr>
        <p:txBody>
          <a:bodyPr wrap="square" lIns="0" tIns="0" rIns="0" bIns="0" rtlCol="0" anchor="ctr"/>
          <a:lstStyle/>
          <a:p>
            <a:pPr marL="0" indent="0">
              <a:buNone/>
            </a:pPr>
            <a:r>
              <a:rPr lang="en-US" sz="1500" dirty="0">
                <a:solidFill>
                  <a:srgbClr val="5B6B7F"/>
                </a:solidFill>
                <a:latin typeface="Calibri" pitchFamily="34" charset="0"/>
                <a:ea typeface="Calibri" pitchFamily="34" charset="-122"/>
                <a:cs typeface="Calibri" pitchFamily="34" charset="-120"/>
              </a:rPr>
              <a:t>Stockage de toutes les données brutes, types de données, limites</a:t>
            </a:r>
            <a:endParaRPr lang="en-US" sz="1500" dirty="0"/>
          </a:p>
        </p:txBody>
      </p:sp>
      <p:sp>
        <p:nvSpPr>
          <p:cNvPr id="16" name="Shape 12"/>
          <p:cNvSpPr/>
          <p:nvPr/>
        </p:nvSpPr>
        <p:spPr>
          <a:xfrm>
            <a:off x="548640" y="4663440"/>
            <a:ext cx="11064240" cy="1325880"/>
          </a:xfrm>
          <a:prstGeom prst="roundRect">
            <a:avLst>
              <a:gd name="adj" fmla="val 6897"/>
            </a:avLst>
          </a:prstGeom>
          <a:solidFill>
            <a:srgbClr val="F1F6F8"/>
          </a:solidFill>
          <a:ln w="12700">
            <a:solidFill>
              <a:srgbClr val="F1F6F8"/>
            </a:solidFill>
            <a:prstDash val="solid"/>
          </a:ln>
        </p:spPr>
      </p:sp>
      <p:sp>
        <p:nvSpPr>
          <p:cNvPr id="17" name="Shape 13"/>
          <p:cNvSpPr/>
          <p:nvPr/>
        </p:nvSpPr>
        <p:spPr>
          <a:xfrm>
            <a:off x="868680" y="4937760"/>
            <a:ext cx="777240" cy="777240"/>
          </a:xfrm>
          <a:prstGeom prst="ellipse">
            <a:avLst/>
          </a:prstGeom>
          <a:solidFill>
            <a:srgbClr val="1B998B"/>
          </a:solidFill>
          <a:ln w="12700">
            <a:solidFill>
              <a:srgbClr val="1B998B"/>
            </a:solidFill>
            <a:prstDash val="solid"/>
          </a:ln>
        </p:spPr>
      </p:sp>
      <p:pic>
        <p:nvPicPr>
          <p:cNvPr id="18" name="Image 2" descr="preencoded.png"/>
          <p:cNvPicPr>
            <a:picLocks noChangeAspect="1"/>
          </p:cNvPicPr>
          <p:nvPr/>
        </p:nvPicPr>
        <p:blipFill>
          <a:blip r:embed="rId5"/>
          <a:stretch>
            <a:fillRect/>
          </a:stretch>
        </p:blipFill>
        <p:spPr>
          <a:xfrm>
            <a:off x="1062990" y="5132070"/>
            <a:ext cx="388620" cy="388620"/>
          </a:xfrm>
          <a:prstGeom prst="rect">
            <a:avLst/>
          </a:prstGeom>
        </p:spPr>
      </p:pic>
      <p:sp>
        <p:nvSpPr>
          <p:cNvPr id="19" name="Text 14"/>
          <p:cNvSpPr txBox="1"/>
          <p:nvPr/>
        </p:nvSpPr>
        <p:spPr>
          <a:xfrm>
            <a:off x="1920240" y="4846320"/>
            <a:ext cx="914400" cy="914400"/>
          </a:xfrm>
          <a:prstGeom prst="rect">
            <a:avLst/>
          </a:prstGeom>
          <a:noFill/>
          <a:ln/>
        </p:spPr>
        <p:txBody>
          <a:bodyPr wrap="square" lIns="0" tIns="0" rIns="0" bIns="0" rtlCol="0" anchor="ctr"/>
          <a:lstStyle/>
          <a:p>
            <a:pPr marL="0" indent="0">
              <a:buNone/>
            </a:pPr>
            <a:r>
              <a:rPr lang="en-US" sz="3600" b="1" dirty="0">
                <a:solidFill>
                  <a:srgbClr val="F2A541"/>
                </a:solidFill>
                <a:latin typeface="Cambria" pitchFamily="34" charset="0"/>
                <a:ea typeface="Cambria" pitchFamily="34" charset="-122"/>
                <a:cs typeface="Cambria" pitchFamily="34" charset="-120"/>
              </a:rPr>
              <a:t>03</a:t>
            </a:r>
            <a:endParaRPr lang="en-US" sz="3600" dirty="0"/>
          </a:p>
        </p:txBody>
      </p:sp>
      <p:sp>
        <p:nvSpPr>
          <p:cNvPr id="20" name="Text 15"/>
          <p:cNvSpPr txBox="1"/>
          <p:nvPr/>
        </p:nvSpPr>
        <p:spPr>
          <a:xfrm>
            <a:off x="2926080" y="4892040"/>
            <a:ext cx="8412480" cy="457200"/>
          </a:xfrm>
          <a:prstGeom prst="rect">
            <a:avLst/>
          </a:prstGeom>
          <a:noFill/>
          <a:ln/>
        </p:spPr>
        <p:txBody>
          <a:bodyPr wrap="square" lIns="0" tIns="0" rIns="0" bIns="0" rtlCol="0" anchor="ctr"/>
          <a:lstStyle/>
          <a:p>
            <a:pPr marL="0" indent="0">
              <a:buNone/>
            </a:pPr>
            <a:r>
              <a:rPr lang="en-US" sz="2200" b="1" dirty="0">
                <a:solidFill>
                  <a:srgbClr val="0B2545"/>
                </a:solidFill>
                <a:latin typeface="Cambria" pitchFamily="34" charset="0"/>
                <a:ea typeface="Cambria" pitchFamily="34" charset="-122"/>
                <a:cs typeface="Cambria" pitchFamily="34" charset="-120"/>
              </a:rPr>
              <a:t>Le Data Lakehouse</a:t>
            </a:r>
            <a:endParaRPr lang="en-US" sz="2200" dirty="0"/>
          </a:p>
        </p:txBody>
      </p:sp>
      <p:sp>
        <p:nvSpPr>
          <p:cNvPr id="21" name="Text 16"/>
          <p:cNvSpPr txBox="1"/>
          <p:nvPr/>
        </p:nvSpPr>
        <p:spPr>
          <a:xfrm>
            <a:off x="2926080" y="5376672"/>
            <a:ext cx="8412480" cy="411480"/>
          </a:xfrm>
          <a:prstGeom prst="rect">
            <a:avLst/>
          </a:prstGeom>
          <a:noFill/>
          <a:ln/>
        </p:spPr>
        <p:txBody>
          <a:bodyPr wrap="square" lIns="0" tIns="0" rIns="0" bIns="0" rtlCol="0" anchor="ctr"/>
          <a:lstStyle/>
          <a:p>
            <a:pPr marL="0" indent="0">
              <a:buNone/>
            </a:pPr>
            <a:r>
              <a:rPr lang="en-US" sz="1500" dirty="0">
                <a:solidFill>
                  <a:srgbClr val="5B6B7F"/>
                </a:solidFill>
                <a:latin typeface="Calibri" pitchFamily="34" charset="0"/>
                <a:ea typeface="Calibri" pitchFamily="34" charset="-122"/>
                <a:cs typeface="Calibri" pitchFamily="34" charset="-120"/>
              </a:rPr>
              <a:t>Le meilleur des deux mondes : formats de table ouverts, architecture médaillon</a:t>
            </a:r>
            <a:endParaRPr lang="en-US" sz="15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155680" y="6400800"/>
            <a:ext cx="548640" cy="274320"/>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3</a:t>
            </a:r>
            <a:endParaRPr lang="en-US" sz="1000" dirty="0"/>
          </a:p>
        </p:txBody>
      </p:sp>
      <p:sp>
        <p:nvSpPr>
          <p:cNvPr id="3" name="Text 1"/>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Pourquoi une plateforme analytique ?</a:t>
            </a:r>
            <a:endParaRPr lang="en-US" sz="3200" dirty="0"/>
          </a:p>
        </p:txBody>
      </p:sp>
      <p:sp>
        <p:nvSpPr>
          <p:cNvPr id="4" name="Text 2"/>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500" i="1" dirty="0">
                <a:solidFill>
                  <a:srgbClr val="5B6B7F"/>
                </a:solidFill>
                <a:latin typeface="Calibri" pitchFamily="34" charset="0"/>
                <a:ea typeface="Calibri" pitchFamily="34" charset="-122"/>
                <a:cs typeface="Calibri" pitchFamily="34" charset="-120"/>
              </a:rPr>
              <a:t>Les bases de production ne sont pas faites pour l'analyse</a:t>
            </a:r>
            <a:endParaRPr lang="en-US" sz="1500" dirty="0"/>
          </a:p>
        </p:txBody>
      </p:sp>
      <p:sp>
        <p:nvSpPr>
          <p:cNvPr id="5" name="Shape 3"/>
          <p:cNvSpPr/>
          <p:nvPr/>
        </p:nvSpPr>
        <p:spPr>
          <a:xfrm>
            <a:off x="548640" y="1645920"/>
            <a:ext cx="5349240" cy="3383280"/>
          </a:xfrm>
          <a:prstGeom prst="roundRect">
            <a:avLst>
              <a:gd name="adj" fmla="val 2703"/>
            </a:avLst>
          </a:prstGeom>
          <a:solidFill>
            <a:srgbClr val="F1F6F8"/>
          </a:solidFill>
          <a:ln w="12700">
            <a:solidFill>
              <a:srgbClr val="F1F6F8"/>
            </a:solidFill>
            <a:prstDash val="solid"/>
          </a:ln>
        </p:spPr>
      </p:sp>
      <p:sp>
        <p:nvSpPr>
          <p:cNvPr id="6" name="Shape 4"/>
          <p:cNvSpPr/>
          <p:nvPr/>
        </p:nvSpPr>
        <p:spPr>
          <a:xfrm>
            <a:off x="868680" y="1920240"/>
            <a:ext cx="685800" cy="685800"/>
          </a:xfrm>
          <a:prstGeom prst="ellipse">
            <a:avLst/>
          </a:prstGeom>
          <a:solidFill>
            <a:srgbClr val="1B998B"/>
          </a:solidFill>
          <a:ln w="12700">
            <a:solidFill>
              <a:srgbClr val="1B998B"/>
            </a:solidFill>
            <a:prstDash val="solid"/>
          </a:ln>
        </p:spPr>
      </p:sp>
      <p:pic>
        <p:nvPicPr>
          <p:cNvPr id="7" name="Image 0" descr="preencoded.png"/>
          <p:cNvPicPr>
            <a:picLocks noChangeAspect="1"/>
          </p:cNvPicPr>
          <p:nvPr/>
        </p:nvPicPr>
        <p:blipFill>
          <a:blip r:embed="rId3"/>
          <a:stretch>
            <a:fillRect/>
          </a:stretch>
        </p:blipFill>
        <p:spPr>
          <a:xfrm>
            <a:off x="1040130" y="2091690"/>
            <a:ext cx="342900" cy="342900"/>
          </a:xfrm>
          <a:prstGeom prst="rect">
            <a:avLst/>
          </a:prstGeom>
        </p:spPr>
      </p:pic>
      <p:sp>
        <p:nvSpPr>
          <p:cNvPr id="8" name="Text 5"/>
          <p:cNvSpPr txBox="1"/>
          <p:nvPr/>
        </p:nvSpPr>
        <p:spPr>
          <a:xfrm>
            <a:off x="1737360" y="1965960"/>
            <a:ext cx="3931920" cy="594360"/>
          </a:xfrm>
          <a:prstGeom prst="rect">
            <a:avLst/>
          </a:prstGeom>
          <a:noFill/>
          <a:ln/>
        </p:spPr>
        <p:txBody>
          <a:bodyPr wrap="square" lIns="0" tIns="0" rIns="0" bIns="0" rtlCol="0" anchor="ctr"/>
          <a:lstStyle/>
          <a:p>
            <a:pPr marL="0" indent="0">
              <a:buNone/>
            </a:pPr>
            <a:r>
              <a:rPr lang="en-US" sz="2000" b="1" dirty="0">
                <a:solidFill>
                  <a:srgbClr val="0B2545"/>
                </a:solidFill>
                <a:latin typeface="Cambria" pitchFamily="34" charset="0"/>
                <a:ea typeface="Cambria" pitchFamily="34" charset="-122"/>
                <a:cs typeface="Cambria" pitchFamily="34" charset="-120"/>
              </a:rPr>
              <a:t>OLTP : faire tourner l'activité</a:t>
            </a:r>
            <a:endParaRPr lang="en-US" sz="2000" dirty="0"/>
          </a:p>
        </p:txBody>
      </p:sp>
      <p:sp>
        <p:nvSpPr>
          <p:cNvPr id="9" name="Text 6"/>
          <p:cNvSpPr txBox="1"/>
          <p:nvPr/>
        </p:nvSpPr>
        <p:spPr>
          <a:xfrm>
            <a:off x="868680" y="2834640"/>
            <a:ext cx="4754880" cy="2103120"/>
          </a:xfrm>
          <a:prstGeom prst="rect">
            <a:avLst/>
          </a:prstGeom>
          <a:noFill/>
          <a:ln/>
        </p:spPr>
        <p:txBody>
          <a:bodyPr wrap="square" rtlCol="0" anchor="t"/>
          <a:lstStyle/>
          <a:p>
            <a:pPr marL="342900" indent="-342900">
              <a:spcAft>
                <a:spcPts val="800"/>
              </a:spcAft>
              <a:buSzPct val="100000"/>
              <a:buChar char="•"/>
            </a:pPr>
            <a:r>
              <a:rPr lang="en-US" sz="1700" dirty="0">
                <a:solidFill>
                  <a:srgbClr val="1E293B"/>
                </a:solidFill>
                <a:latin typeface="Calibri" pitchFamily="34" charset="0"/>
                <a:ea typeface="Calibri" pitchFamily="34" charset="-122"/>
                <a:cs typeface="Calibri" pitchFamily="34" charset="-120"/>
              </a:rPr>
              <a:t>Exemples : ERP (Odoo), CRM, site e-commerce</a:t>
            </a:r>
            <a:endParaRPr lang="en-US" sz="1700" dirty="0"/>
          </a:p>
          <a:p>
            <a:pPr marL="342900" indent="-342900">
              <a:spcAft>
                <a:spcPts val="800"/>
              </a:spcAft>
              <a:buSzPct val="100000"/>
              <a:buChar char="•"/>
            </a:pPr>
            <a:r>
              <a:rPr lang="en-US" sz="1700" dirty="0">
                <a:solidFill>
                  <a:srgbClr val="1E293B"/>
                </a:solidFill>
                <a:latin typeface="Calibri" pitchFamily="34" charset="0"/>
                <a:ea typeface="Calibri" pitchFamily="34" charset="-122"/>
                <a:cs typeface="Calibri" pitchFamily="34" charset="-120"/>
              </a:rPr>
              <a:t>Requêtes courtes sur quelques lignes</a:t>
            </a:r>
            <a:endParaRPr lang="en-US" sz="1700" dirty="0"/>
          </a:p>
          <a:p>
            <a:pPr marL="342900" indent="-342900">
              <a:spcAft>
                <a:spcPts val="800"/>
              </a:spcAft>
              <a:buSzPct val="100000"/>
              <a:buChar char="•"/>
            </a:pPr>
            <a:r>
              <a:rPr lang="en-US" sz="1700" dirty="0">
                <a:solidFill>
                  <a:srgbClr val="1E293B"/>
                </a:solidFill>
                <a:latin typeface="Calibri" pitchFamily="34" charset="0"/>
                <a:ea typeface="Calibri" pitchFamily="34" charset="-122"/>
                <a:cs typeface="Calibri" pitchFamily="34" charset="-120"/>
              </a:rPr>
              <a:t>Écritures fréquentes, forte concurrence</a:t>
            </a:r>
            <a:endParaRPr lang="en-US" sz="1700" dirty="0"/>
          </a:p>
          <a:p>
            <a:pPr marL="342900" indent="-342900">
              <a:spcAft>
                <a:spcPts val="800"/>
              </a:spcAft>
              <a:buSzPct val="100000"/>
              <a:buChar char="•"/>
            </a:pPr>
            <a:r>
              <a:rPr lang="en-US" sz="1700" dirty="0">
                <a:solidFill>
                  <a:srgbClr val="1E293B"/>
                </a:solidFill>
                <a:latin typeface="Calibri" pitchFamily="34" charset="0"/>
                <a:ea typeface="Calibri" pitchFamily="34" charset="-122"/>
                <a:cs typeface="Calibri" pitchFamily="34" charset="-120"/>
              </a:rPr>
              <a:t>Stockage orienté lignes, schéma normalisé</a:t>
            </a:r>
            <a:endParaRPr lang="en-US" sz="1700" dirty="0"/>
          </a:p>
        </p:txBody>
      </p:sp>
      <p:sp>
        <p:nvSpPr>
          <p:cNvPr id="10" name="Shape 7"/>
          <p:cNvSpPr/>
          <p:nvPr/>
        </p:nvSpPr>
        <p:spPr>
          <a:xfrm>
            <a:off x="6263640" y="1645920"/>
            <a:ext cx="5349240" cy="3383280"/>
          </a:xfrm>
          <a:prstGeom prst="roundRect">
            <a:avLst>
              <a:gd name="adj" fmla="val 2703"/>
            </a:avLst>
          </a:prstGeom>
          <a:solidFill>
            <a:srgbClr val="F1F6F8"/>
          </a:solidFill>
          <a:ln w="12700">
            <a:solidFill>
              <a:srgbClr val="F1F6F8"/>
            </a:solidFill>
            <a:prstDash val="solid"/>
          </a:ln>
        </p:spPr>
      </p:sp>
      <p:sp>
        <p:nvSpPr>
          <p:cNvPr id="11" name="Shape 8"/>
          <p:cNvSpPr/>
          <p:nvPr/>
        </p:nvSpPr>
        <p:spPr>
          <a:xfrm>
            <a:off x="6583680" y="1920240"/>
            <a:ext cx="685800" cy="685800"/>
          </a:xfrm>
          <a:prstGeom prst="ellipse">
            <a:avLst/>
          </a:prstGeom>
          <a:solidFill>
            <a:srgbClr val="F2A541"/>
          </a:solidFill>
          <a:ln w="12700">
            <a:solidFill>
              <a:srgbClr val="F2A541"/>
            </a:solidFill>
            <a:prstDash val="solid"/>
          </a:ln>
        </p:spPr>
      </p:sp>
      <p:pic>
        <p:nvPicPr>
          <p:cNvPr id="12" name="Image 1" descr="preencoded.png"/>
          <p:cNvPicPr>
            <a:picLocks noChangeAspect="1"/>
          </p:cNvPicPr>
          <p:nvPr/>
        </p:nvPicPr>
        <p:blipFill>
          <a:blip r:embed="rId4"/>
          <a:stretch>
            <a:fillRect/>
          </a:stretch>
        </p:blipFill>
        <p:spPr>
          <a:xfrm>
            <a:off x="6755130" y="2091690"/>
            <a:ext cx="342900" cy="342900"/>
          </a:xfrm>
          <a:prstGeom prst="rect">
            <a:avLst/>
          </a:prstGeom>
        </p:spPr>
      </p:pic>
      <p:sp>
        <p:nvSpPr>
          <p:cNvPr id="13" name="Text 9"/>
          <p:cNvSpPr txBox="1"/>
          <p:nvPr/>
        </p:nvSpPr>
        <p:spPr>
          <a:xfrm>
            <a:off x="7452360" y="1965960"/>
            <a:ext cx="3931920" cy="594360"/>
          </a:xfrm>
          <a:prstGeom prst="rect">
            <a:avLst/>
          </a:prstGeom>
          <a:noFill/>
          <a:ln/>
        </p:spPr>
        <p:txBody>
          <a:bodyPr wrap="square" lIns="0" tIns="0" rIns="0" bIns="0" rtlCol="0" anchor="ctr"/>
          <a:lstStyle/>
          <a:p>
            <a:pPr marL="0" indent="0">
              <a:buNone/>
            </a:pPr>
            <a:r>
              <a:rPr lang="en-US" sz="2000" b="1" dirty="0">
                <a:solidFill>
                  <a:srgbClr val="0B2545"/>
                </a:solidFill>
                <a:latin typeface="Cambria" pitchFamily="34" charset="0"/>
                <a:ea typeface="Cambria" pitchFamily="34" charset="-122"/>
                <a:cs typeface="Cambria" pitchFamily="34" charset="-120"/>
              </a:rPr>
              <a:t>OLAP : analyser l'activité</a:t>
            </a:r>
            <a:endParaRPr lang="en-US" sz="2000" dirty="0"/>
          </a:p>
        </p:txBody>
      </p:sp>
      <p:sp>
        <p:nvSpPr>
          <p:cNvPr id="14" name="Text 10"/>
          <p:cNvSpPr txBox="1"/>
          <p:nvPr/>
        </p:nvSpPr>
        <p:spPr>
          <a:xfrm>
            <a:off x="6583680" y="2834640"/>
            <a:ext cx="4754880" cy="2103120"/>
          </a:xfrm>
          <a:prstGeom prst="rect">
            <a:avLst/>
          </a:prstGeom>
          <a:noFill/>
          <a:ln/>
        </p:spPr>
        <p:txBody>
          <a:bodyPr wrap="square" rtlCol="0" anchor="t"/>
          <a:lstStyle/>
          <a:p>
            <a:pPr marL="342900" indent="-342900">
              <a:spcAft>
                <a:spcPts val="800"/>
              </a:spcAft>
              <a:buSzPct val="100000"/>
              <a:buChar char="•"/>
            </a:pPr>
            <a:r>
              <a:rPr lang="en-US" sz="1700" dirty="0">
                <a:solidFill>
                  <a:srgbClr val="1E293B"/>
                </a:solidFill>
                <a:latin typeface="Calibri" pitchFamily="34" charset="0"/>
                <a:ea typeface="Calibri" pitchFamily="34" charset="-122"/>
                <a:cs typeface="Calibri" pitchFamily="34" charset="-120"/>
              </a:rPr>
              <a:t>Exemples : data warehouse, lakehouse</a:t>
            </a:r>
            <a:endParaRPr lang="en-US" sz="1700" dirty="0"/>
          </a:p>
          <a:p>
            <a:pPr marL="342900" indent="-342900">
              <a:spcAft>
                <a:spcPts val="800"/>
              </a:spcAft>
              <a:buSzPct val="100000"/>
              <a:buChar char="•"/>
            </a:pPr>
            <a:r>
              <a:rPr lang="en-US" sz="1700" dirty="0">
                <a:solidFill>
                  <a:srgbClr val="1E293B"/>
                </a:solidFill>
                <a:latin typeface="Calibri" pitchFamily="34" charset="0"/>
                <a:ea typeface="Calibri" pitchFamily="34" charset="-122"/>
                <a:cs typeface="Calibri" pitchFamily="34" charset="-120"/>
              </a:rPr>
              <a:t>Requêtes sur des millions de lignes</a:t>
            </a:r>
            <a:endParaRPr lang="en-US" sz="1700" dirty="0"/>
          </a:p>
          <a:p>
            <a:pPr marL="342900" indent="-342900">
              <a:spcAft>
                <a:spcPts val="800"/>
              </a:spcAft>
              <a:buSzPct val="100000"/>
              <a:buChar char="•"/>
            </a:pPr>
            <a:r>
              <a:rPr lang="en-US" sz="1700" dirty="0">
                <a:solidFill>
                  <a:srgbClr val="1E293B"/>
                </a:solidFill>
                <a:latin typeface="Calibri" pitchFamily="34" charset="0"/>
                <a:ea typeface="Calibri" pitchFamily="34" charset="-122"/>
                <a:cs typeface="Calibri" pitchFamily="34" charset="-120"/>
              </a:rPr>
              <a:t>Surtout des lectures et des agrégations</a:t>
            </a:r>
            <a:endParaRPr lang="en-US" sz="1700" dirty="0"/>
          </a:p>
          <a:p>
            <a:pPr marL="342900" indent="-342900">
              <a:spcAft>
                <a:spcPts val="800"/>
              </a:spcAft>
              <a:buSzPct val="100000"/>
              <a:buChar char="•"/>
            </a:pPr>
            <a:r>
              <a:rPr lang="en-US" sz="1700" dirty="0">
                <a:solidFill>
                  <a:srgbClr val="1E293B"/>
                </a:solidFill>
                <a:latin typeface="Calibri" pitchFamily="34" charset="0"/>
                <a:ea typeface="Calibri" pitchFamily="34" charset="-122"/>
                <a:cs typeface="Calibri" pitchFamily="34" charset="-120"/>
              </a:rPr>
              <a:t>Stockage orienté colonnes, schéma dénormalisé</a:t>
            </a:r>
            <a:endParaRPr lang="en-US" sz="1700" dirty="0"/>
          </a:p>
        </p:txBody>
      </p:sp>
      <p:sp>
        <p:nvSpPr>
          <p:cNvPr id="15" name="Text 11"/>
          <p:cNvSpPr txBox="1"/>
          <p:nvPr/>
        </p:nvSpPr>
        <p:spPr>
          <a:xfrm>
            <a:off x="548640" y="5349240"/>
            <a:ext cx="11064240" cy="457200"/>
          </a:xfrm>
          <a:prstGeom prst="rect">
            <a:avLst/>
          </a:prstGeom>
          <a:noFill/>
          <a:ln/>
        </p:spPr>
        <p:txBody>
          <a:bodyPr wrap="square" lIns="0" tIns="0" rIns="0" bIns="0" rtlCol="0" anchor="ctr"/>
          <a:lstStyle/>
          <a:p>
            <a:pPr marL="0" indent="0">
              <a:buNone/>
            </a:pPr>
            <a:r>
              <a:rPr lang="en-US" sz="1600" i="1" dirty="0">
                <a:solidFill>
                  <a:srgbClr val="1B998B"/>
                </a:solidFill>
                <a:latin typeface="Calibri" pitchFamily="34" charset="0"/>
                <a:ea typeface="Calibri" pitchFamily="34" charset="-122"/>
                <a:cs typeface="Calibri" pitchFamily="34" charset="-120"/>
              </a:rPr>
              <a:t>Analyser directement sur la base de production ralentit les utilisateurs : on copie donc les données vers un système dédié.</a:t>
            </a:r>
            <a:endParaRPr lang="en-US" sz="16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545"/>
        </a:solidFill>
        <a:effectLst/>
      </p:bgPr>
    </p:bg>
    <p:spTree>
      <p:nvGrpSpPr>
        <p:cNvPr id="1" name=""/>
        <p:cNvGrpSpPr/>
        <p:nvPr/>
      </p:nvGrpSpPr>
      <p:grpSpPr>
        <a:xfrm>
          <a:off x="0" y="0"/>
          <a:ext cx="0" cy="0"/>
          <a:chOff x="0" y="0"/>
          <a:chExt cx="0" cy="0"/>
        </a:xfrm>
      </p:grpSpPr>
      <p:sp>
        <p:nvSpPr>
          <p:cNvPr id="2" name="Text 0"/>
          <p:cNvSpPr txBox="1"/>
          <p:nvPr/>
        </p:nvSpPr>
        <p:spPr>
          <a:xfrm>
            <a:off x="640080" y="1737360"/>
            <a:ext cx="2743200" cy="1280160"/>
          </a:xfrm>
          <a:prstGeom prst="rect">
            <a:avLst/>
          </a:prstGeom>
          <a:noFill/>
          <a:ln/>
        </p:spPr>
        <p:txBody>
          <a:bodyPr wrap="square" lIns="0" tIns="0" rIns="0" bIns="0" rtlCol="0" anchor="ctr"/>
          <a:lstStyle/>
          <a:p>
            <a:pPr marL="0" indent="0">
              <a:buNone/>
            </a:pPr>
            <a:r>
              <a:rPr lang="en-US" sz="8000" b="1" dirty="0">
                <a:solidFill>
                  <a:srgbClr val="F2A541"/>
                </a:solidFill>
                <a:latin typeface="Cambria" pitchFamily="34" charset="0"/>
                <a:ea typeface="Cambria" pitchFamily="34" charset="-122"/>
                <a:cs typeface="Cambria" pitchFamily="34" charset="-120"/>
              </a:rPr>
              <a:t>01</a:t>
            </a:r>
            <a:endParaRPr lang="en-US" sz="8000" dirty="0"/>
          </a:p>
        </p:txBody>
      </p:sp>
      <p:sp>
        <p:nvSpPr>
          <p:cNvPr id="3" name="Text 1"/>
          <p:cNvSpPr txBox="1"/>
          <p:nvPr/>
        </p:nvSpPr>
        <p:spPr>
          <a:xfrm>
            <a:off x="640080" y="3108960"/>
            <a:ext cx="10058400" cy="9144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Le Data Warehouse</a:t>
            </a:r>
            <a:endParaRPr lang="en-US" sz="4400" dirty="0"/>
          </a:p>
        </p:txBody>
      </p:sp>
      <p:sp>
        <p:nvSpPr>
          <p:cNvPr id="4" name="Text 2"/>
          <p:cNvSpPr txBox="1"/>
          <p:nvPr/>
        </p:nvSpPr>
        <p:spPr>
          <a:xfrm>
            <a:off x="640080" y="4069080"/>
            <a:ext cx="10058400" cy="548640"/>
          </a:xfrm>
          <a:prstGeom prst="rect">
            <a:avLst/>
          </a:prstGeom>
          <a:noFill/>
          <a:ln/>
        </p:spPr>
        <p:txBody>
          <a:bodyPr wrap="square" lIns="0" tIns="0" rIns="0" bIns="0" rtlCol="0" anchor="ctr"/>
          <a:lstStyle/>
          <a:p>
            <a:pPr marL="0" indent="0">
              <a:buNone/>
            </a:pPr>
            <a:r>
              <a:rPr lang="en-US" sz="2000" dirty="0">
                <a:solidFill>
                  <a:srgbClr val="DCEBF0"/>
                </a:solidFill>
                <a:latin typeface="Calibri" pitchFamily="34" charset="0"/>
                <a:ea typeface="Calibri" pitchFamily="34" charset="-122"/>
                <a:cs typeface="Calibri" pitchFamily="34" charset="-120"/>
              </a:rPr>
              <a:t>L'entrepôt de données structurées, fiable et prêt pour la BI</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155680" y="6400800"/>
            <a:ext cx="548640" cy="274320"/>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5</a:t>
            </a:r>
            <a:endParaRPr lang="en-US" sz="1000" dirty="0"/>
          </a:p>
        </p:txBody>
      </p:sp>
      <p:sp>
        <p:nvSpPr>
          <p:cNvPr id="3" name="Text 1"/>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Qu'est-ce qu'un data warehouse ?</a:t>
            </a:r>
            <a:endParaRPr lang="en-US" sz="3200" dirty="0"/>
          </a:p>
        </p:txBody>
      </p:sp>
      <p:sp>
        <p:nvSpPr>
          <p:cNvPr id="4" name="Text 2"/>
          <p:cNvSpPr txBox="1"/>
          <p:nvPr/>
        </p:nvSpPr>
        <p:spPr>
          <a:xfrm>
            <a:off x="548640" y="1234440"/>
            <a:ext cx="5120640" cy="914400"/>
          </a:xfrm>
          <a:prstGeom prst="rect">
            <a:avLst/>
          </a:prstGeom>
          <a:noFill/>
          <a:ln/>
        </p:spPr>
        <p:txBody>
          <a:bodyPr wrap="square" lIns="0" tIns="0" rIns="0" bIns="0" rtlCol="0" anchor="t"/>
          <a:lstStyle/>
          <a:p>
            <a:pPr marL="0" indent="0">
              <a:buNone/>
            </a:pPr>
            <a:r>
              <a:rPr lang="en-US" sz="1600" dirty="0">
                <a:solidFill>
                  <a:srgbClr val="1E293B"/>
                </a:solidFill>
                <a:latin typeface="Calibri" pitchFamily="34" charset="0"/>
                <a:ea typeface="Calibri" pitchFamily="34" charset="-122"/>
                <a:cs typeface="Calibri" pitchFamily="34" charset="-120"/>
              </a:rPr>
              <a:t>Une base de données centrale qui regroupe les données de plusieurs systèmes sources, nettoyées et organisées pour l'analyse.</a:t>
            </a:r>
            <a:endParaRPr lang="en-US" sz="1600" dirty="0"/>
          </a:p>
        </p:txBody>
      </p:sp>
      <p:sp>
        <p:nvSpPr>
          <p:cNvPr id="5" name="Shape 3"/>
          <p:cNvSpPr/>
          <p:nvPr/>
        </p:nvSpPr>
        <p:spPr>
          <a:xfrm>
            <a:off x="548640" y="2377440"/>
            <a:ext cx="502920" cy="502920"/>
          </a:xfrm>
          <a:prstGeom prst="ellipse">
            <a:avLst/>
          </a:prstGeom>
          <a:solidFill>
            <a:srgbClr val="1B998B"/>
          </a:solidFill>
          <a:ln w="12700">
            <a:solidFill>
              <a:srgbClr val="1B998B"/>
            </a:solidFill>
            <a:prstDash val="solid"/>
          </a:ln>
        </p:spPr>
      </p:sp>
      <p:pic>
        <p:nvPicPr>
          <p:cNvPr id="6" name="Image 0" descr="preencoded.png"/>
          <p:cNvPicPr>
            <a:picLocks noChangeAspect="1"/>
          </p:cNvPicPr>
          <p:nvPr/>
        </p:nvPicPr>
        <p:blipFill>
          <a:blip r:embed="rId3"/>
          <a:stretch>
            <a:fillRect/>
          </a:stretch>
        </p:blipFill>
        <p:spPr>
          <a:xfrm>
            <a:off x="674370" y="2503170"/>
            <a:ext cx="251460" cy="251460"/>
          </a:xfrm>
          <a:prstGeom prst="rect">
            <a:avLst/>
          </a:prstGeom>
        </p:spPr>
      </p:pic>
      <p:sp>
        <p:nvSpPr>
          <p:cNvPr id="7" name="Text 4"/>
          <p:cNvSpPr txBox="1"/>
          <p:nvPr/>
        </p:nvSpPr>
        <p:spPr>
          <a:xfrm>
            <a:off x="1234440" y="2331720"/>
            <a:ext cx="4480560" cy="347472"/>
          </a:xfrm>
          <a:prstGeom prst="rect">
            <a:avLst/>
          </a:prstGeom>
          <a:noFill/>
          <a:ln/>
        </p:spPr>
        <p:txBody>
          <a:bodyPr wrap="square" lIns="0" tIns="0" rIns="0" bIns="0" rtlCol="0" anchor="ctr"/>
          <a:lstStyle/>
          <a:p>
            <a:pPr marL="0" indent="0">
              <a:buNone/>
            </a:pPr>
            <a:r>
              <a:rPr lang="en-US" sz="1600" b="1" dirty="0">
                <a:solidFill>
                  <a:srgbClr val="0B2545"/>
                </a:solidFill>
                <a:latin typeface="Calibri" pitchFamily="34" charset="0"/>
                <a:ea typeface="Calibri" pitchFamily="34" charset="-122"/>
                <a:cs typeface="Calibri" pitchFamily="34" charset="-120"/>
              </a:rPr>
              <a:t>Orienté sujet</a:t>
            </a:r>
            <a:endParaRPr lang="en-US" sz="1600" dirty="0"/>
          </a:p>
        </p:txBody>
      </p:sp>
      <p:sp>
        <p:nvSpPr>
          <p:cNvPr id="8" name="Text 5"/>
          <p:cNvSpPr txBox="1"/>
          <p:nvPr/>
        </p:nvSpPr>
        <p:spPr>
          <a:xfrm>
            <a:off x="1234440" y="2679192"/>
            <a:ext cx="4480560" cy="411480"/>
          </a:xfrm>
          <a:prstGeom prst="rect">
            <a:avLst/>
          </a:prstGeom>
          <a:noFill/>
          <a:ln/>
        </p:spPr>
        <p:txBody>
          <a:bodyPr wrap="square" lIns="0" tIns="0" rIns="0" bIns="0" rtlCol="0" anchor="ctr"/>
          <a:lstStyle/>
          <a:p>
            <a:pPr marL="0" indent="0">
              <a:buNone/>
            </a:pPr>
            <a:r>
              <a:rPr lang="en-US" sz="1400" dirty="0">
                <a:solidFill>
                  <a:srgbClr val="5B6B7F"/>
                </a:solidFill>
                <a:latin typeface="Calibri" pitchFamily="34" charset="0"/>
                <a:ea typeface="Calibri" pitchFamily="34" charset="-122"/>
                <a:cs typeface="Calibri" pitchFamily="34" charset="-120"/>
              </a:rPr>
              <a:t>Organisé par thème métier : ventes, clients, stock</a:t>
            </a:r>
            <a:endParaRPr lang="en-US" sz="1400" dirty="0"/>
          </a:p>
        </p:txBody>
      </p:sp>
      <p:sp>
        <p:nvSpPr>
          <p:cNvPr id="9" name="Shape 6"/>
          <p:cNvSpPr/>
          <p:nvPr/>
        </p:nvSpPr>
        <p:spPr>
          <a:xfrm>
            <a:off x="548640" y="3337560"/>
            <a:ext cx="502920" cy="502920"/>
          </a:xfrm>
          <a:prstGeom prst="ellipse">
            <a:avLst/>
          </a:prstGeom>
          <a:solidFill>
            <a:srgbClr val="1B998B"/>
          </a:solidFill>
          <a:ln w="12700">
            <a:solidFill>
              <a:srgbClr val="1B998B"/>
            </a:solidFill>
            <a:prstDash val="solid"/>
          </a:ln>
        </p:spPr>
      </p:sp>
      <p:pic>
        <p:nvPicPr>
          <p:cNvPr id="10" name="Image 1" descr="preencoded.png"/>
          <p:cNvPicPr>
            <a:picLocks noChangeAspect="1"/>
          </p:cNvPicPr>
          <p:nvPr/>
        </p:nvPicPr>
        <p:blipFill>
          <a:blip r:embed="rId3"/>
          <a:stretch>
            <a:fillRect/>
          </a:stretch>
        </p:blipFill>
        <p:spPr>
          <a:xfrm>
            <a:off x="674370" y="3463290"/>
            <a:ext cx="251460" cy="251460"/>
          </a:xfrm>
          <a:prstGeom prst="rect">
            <a:avLst/>
          </a:prstGeom>
        </p:spPr>
      </p:pic>
      <p:sp>
        <p:nvSpPr>
          <p:cNvPr id="11" name="Text 7"/>
          <p:cNvSpPr txBox="1"/>
          <p:nvPr/>
        </p:nvSpPr>
        <p:spPr>
          <a:xfrm>
            <a:off x="1234440" y="3291840"/>
            <a:ext cx="4480560" cy="347472"/>
          </a:xfrm>
          <a:prstGeom prst="rect">
            <a:avLst/>
          </a:prstGeom>
          <a:noFill/>
          <a:ln/>
        </p:spPr>
        <p:txBody>
          <a:bodyPr wrap="square" lIns="0" tIns="0" rIns="0" bIns="0" rtlCol="0" anchor="ctr"/>
          <a:lstStyle/>
          <a:p>
            <a:pPr marL="0" indent="0">
              <a:buNone/>
            </a:pPr>
            <a:r>
              <a:rPr lang="en-US" sz="1600" b="1" dirty="0">
                <a:solidFill>
                  <a:srgbClr val="0B2545"/>
                </a:solidFill>
                <a:latin typeface="Calibri" pitchFamily="34" charset="0"/>
                <a:ea typeface="Calibri" pitchFamily="34" charset="-122"/>
                <a:cs typeface="Calibri" pitchFamily="34" charset="-120"/>
              </a:rPr>
              <a:t>Intégré</a:t>
            </a:r>
            <a:endParaRPr lang="en-US" sz="1600" dirty="0"/>
          </a:p>
        </p:txBody>
      </p:sp>
      <p:sp>
        <p:nvSpPr>
          <p:cNvPr id="12" name="Text 8"/>
          <p:cNvSpPr txBox="1"/>
          <p:nvPr/>
        </p:nvSpPr>
        <p:spPr>
          <a:xfrm>
            <a:off x="1234440" y="3639312"/>
            <a:ext cx="4480560" cy="411480"/>
          </a:xfrm>
          <a:prstGeom prst="rect">
            <a:avLst/>
          </a:prstGeom>
          <a:noFill/>
          <a:ln/>
        </p:spPr>
        <p:txBody>
          <a:bodyPr wrap="square" lIns="0" tIns="0" rIns="0" bIns="0" rtlCol="0" anchor="ctr"/>
          <a:lstStyle/>
          <a:p>
            <a:pPr marL="0" indent="0">
              <a:buNone/>
            </a:pPr>
            <a:r>
              <a:rPr lang="en-US" sz="1400" dirty="0">
                <a:solidFill>
                  <a:srgbClr val="5B6B7F"/>
                </a:solidFill>
                <a:latin typeface="Calibri" pitchFamily="34" charset="0"/>
                <a:ea typeface="Calibri" pitchFamily="34" charset="-122"/>
                <a:cs typeface="Calibri" pitchFamily="34" charset="-120"/>
              </a:rPr>
              <a:t>Les sources sont harmonisées : mêmes codes, mêmes formats</a:t>
            </a:r>
            <a:endParaRPr lang="en-US" sz="1400" dirty="0"/>
          </a:p>
        </p:txBody>
      </p:sp>
      <p:sp>
        <p:nvSpPr>
          <p:cNvPr id="13" name="Shape 9"/>
          <p:cNvSpPr/>
          <p:nvPr/>
        </p:nvSpPr>
        <p:spPr>
          <a:xfrm>
            <a:off x="548640" y="4297680"/>
            <a:ext cx="502920" cy="502920"/>
          </a:xfrm>
          <a:prstGeom prst="ellipse">
            <a:avLst/>
          </a:prstGeom>
          <a:solidFill>
            <a:srgbClr val="1B998B"/>
          </a:solidFill>
          <a:ln w="12700">
            <a:solidFill>
              <a:srgbClr val="1B998B"/>
            </a:solidFill>
            <a:prstDash val="solid"/>
          </a:ln>
        </p:spPr>
      </p:sp>
      <p:pic>
        <p:nvPicPr>
          <p:cNvPr id="14" name="Image 2" descr="preencoded.png"/>
          <p:cNvPicPr>
            <a:picLocks noChangeAspect="1"/>
          </p:cNvPicPr>
          <p:nvPr/>
        </p:nvPicPr>
        <p:blipFill>
          <a:blip r:embed="rId3"/>
          <a:stretch>
            <a:fillRect/>
          </a:stretch>
        </p:blipFill>
        <p:spPr>
          <a:xfrm>
            <a:off x="674370" y="4423410"/>
            <a:ext cx="251460" cy="251460"/>
          </a:xfrm>
          <a:prstGeom prst="rect">
            <a:avLst/>
          </a:prstGeom>
        </p:spPr>
      </p:pic>
      <p:sp>
        <p:nvSpPr>
          <p:cNvPr id="15" name="Text 10"/>
          <p:cNvSpPr txBox="1"/>
          <p:nvPr/>
        </p:nvSpPr>
        <p:spPr>
          <a:xfrm>
            <a:off x="1234440" y="4251960"/>
            <a:ext cx="4480560" cy="347472"/>
          </a:xfrm>
          <a:prstGeom prst="rect">
            <a:avLst/>
          </a:prstGeom>
          <a:noFill/>
          <a:ln/>
        </p:spPr>
        <p:txBody>
          <a:bodyPr wrap="square" lIns="0" tIns="0" rIns="0" bIns="0" rtlCol="0" anchor="ctr"/>
          <a:lstStyle/>
          <a:p>
            <a:pPr marL="0" indent="0">
              <a:buNone/>
            </a:pPr>
            <a:r>
              <a:rPr lang="en-US" sz="1600" b="1" dirty="0">
                <a:solidFill>
                  <a:srgbClr val="0B2545"/>
                </a:solidFill>
                <a:latin typeface="Calibri" pitchFamily="34" charset="0"/>
                <a:ea typeface="Calibri" pitchFamily="34" charset="-122"/>
                <a:cs typeface="Calibri" pitchFamily="34" charset="-120"/>
              </a:rPr>
              <a:t>Non volatile</a:t>
            </a:r>
            <a:endParaRPr lang="en-US" sz="1600" dirty="0"/>
          </a:p>
        </p:txBody>
      </p:sp>
      <p:sp>
        <p:nvSpPr>
          <p:cNvPr id="16" name="Text 11"/>
          <p:cNvSpPr txBox="1"/>
          <p:nvPr/>
        </p:nvSpPr>
        <p:spPr>
          <a:xfrm>
            <a:off x="1234440" y="4599432"/>
            <a:ext cx="4480560" cy="411480"/>
          </a:xfrm>
          <a:prstGeom prst="rect">
            <a:avLst/>
          </a:prstGeom>
          <a:noFill/>
          <a:ln/>
        </p:spPr>
        <p:txBody>
          <a:bodyPr wrap="square" lIns="0" tIns="0" rIns="0" bIns="0" rtlCol="0" anchor="ctr"/>
          <a:lstStyle/>
          <a:p>
            <a:pPr marL="0" indent="0">
              <a:buNone/>
            </a:pPr>
            <a:r>
              <a:rPr lang="en-US" sz="1400" dirty="0">
                <a:solidFill>
                  <a:srgbClr val="5B6B7F"/>
                </a:solidFill>
                <a:latin typeface="Calibri" pitchFamily="34" charset="0"/>
                <a:ea typeface="Calibri" pitchFamily="34" charset="-122"/>
                <a:cs typeface="Calibri" pitchFamily="34" charset="-120"/>
              </a:rPr>
              <a:t>Les données chargées ne sont pas modifiées par l'activité</a:t>
            </a:r>
            <a:endParaRPr lang="en-US" sz="1400" dirty="0"/>
          </a:p>
        </p:txBody>
      </p:sp>
      <p:sp>
        <p:nvSpPr>
          <p:cNvPr id="17" name="Shape 12"/>
          <p:cNvSpPr/>
          <p:nvPr/>
        </p:nvSpPr>
        <p:spPr>
          <a:xfrm>
            <a:off x="548640" y="5257800"/>
            <a:ext cx="502920" cy="502920"/>
          </a:xfrm>
          <a:prstGeom prst="ellipse">
            <a:avLst/>
          </a:prstGeom>
          <a:solidFill>
            <a:srgbClr val="1B998B"/>
          </a:solidFill>
          <a:ln w="12700">
            <a:solidFill>
              <a:srgbClr val="1B998B"/>
            </a:solidFill>
            <a:prstDash val="solid"/>
          </a:ln>
        </p:spPr>
      </p:sp>
      <p:pic>
        <p:nvPicPr>
          <p:cNvPr id="18" name="Image 3" descr="preencoded.png"/>
          <p:cNvPicPr>
            <a:picLocks noChangeAspect="1"/>
          </p:cNvPicPr>
          <p:nvPr/>
        </p:nvPicPr>
        <p:blipFill>
          <a:blip r:embed="rId3"/>
          <a:stretch>
            <a:fillRect/>
          </a:stretch>
        </p:blipFill>
        <p:spPr>
          <a:xfrm>
            <a:off x="674370" y="5383530"/>
            <a:ext cx="251460" cy="251460"/>
          </a:xfrm>
          <a:prstGeom prst="rect">
            <a:avLst/>
          </a:prstGeom>
        </p:spPr>
      </p:pic>
      <p:sp>
        <p:nvSpPr>
          <p:cNvPr id="19" name="Text 13"/>
          <p:cNvSpPr txBox="1"/>
          <p:nvPr/>
        </p:nvSpPr>
        <p:spPr>
          <a:xfrm>
            <a:off x="1234440" y="5212080"/>
            <a:ext cx="4480560" cy="347472"/>
          </a:xfrm>
          <a:prstGeom prst="rect">
            <a:avLst/>
          </a:prstGeom>
          <a:noFill/>
          <a:ln/>
        </p:spPr>
        <p:txBody>
          <a:bodyPr wrap="square" lIns="0" tIns="0" rIns="0" bIns="0" rtlCol="0" anchor="ctr"/>
          <a:lstStyle/>
          <a:p>
            <a:pPr marL="0" indent="0">
              <a:buNone/>
            </a:pPr>
            <a:r>
              <a:rPr lang="en-US" sz="1600" b="1" dirty="0">
                <a:solidFill>
                  <a:srgbClr val="0B2545"/>
                </a:solidFill>
                <a:latin typeface="Calibri" pitchFamily="34" charset="0"/>
                <a:ea typeface="Calibri" pitchFamily="34" charset="-122"/>
                <a:cs typeface="Calibri" pitchFamily="34" charset="-120"/>
              </a:rPr>
              <a:t>Historisé</a:t>
            </a:r>
            <a:endParaRPr lang="en-US" sz="1600" dirty="0"/>
          </a:p>
        </p:txBody>
      </p:sp>
      <p:sp>
        <p:nvSpPr>
          <p:cNvPr id="20" name="Text 14"/>
          <p:cNvSpPr txBox="1"/>
          <p:nvPr/>
        </p:nvSpPr>
        <p:spPr>
          <a:xfrm>
            <a:off x="1234440" y="5559552"/>
            <a:ext cx="4480560" cy="411480"/>
          </a:xfrm>
          <a:prstGeom prst="rect">
            <a:avLst/>
          </a:prstGeom>
          <a:noFill/>
          <a:ln/>
        </p:spPr>
        <p:txBody>
          <a:bodyPr wrap="square" lIns="0" tIns="0" rIns="0" bIns="0" rtlCol="0" anchor="ctr"/>
          <a:lstStyle/>
          <a:p>
            <a:pPr marL="0" indent="0">
              <a:buNone/>
            </a:pPr>
            <a:r>
              <a:rPr lang="en-US" sz="1400" dirty="0">
                <a:solidFill>
                  <a:srgbClr val="5B6B7F"/>
                </a:solidFill>
                <a:latin typeface="Calibri" pitchFamily="34" charset="0"/>
                <a:ea typeface="Calibri" pitchFamily="34" charset="-122"/>
                <a:cs typeface="Calibri" pitchFamily="34" charset="-120"/>
              </a:rPr>
              <a:t>On conserve l'évolution dans le temps</a:t>
            </a:r>
            <a:endParaRPr lang="en-US" sz="1400" dirty="0"/>
          </a:p>
        </p:txBody>
      </p:sp>
      <p:sp>
        <p:nvSpPr>
          <p:cNvPr id="21" name="Shape 15"/>
          <p:cNvSpPr/>
          <p:nvPr/>
        </p:nvSpPr>
        <p:spPr>
          <a:xfrm>
            <a:off x="6035040" y="1463040"/>
            <a:ext cx="5577840" cy="2926080"/>
          </a:xfrm>
          <a:prstGeom prst="roundRect">
            <a:avLst>
              <a:gd name="adj" fmla="val 3750"/>
            </a:avLst>
          </a:prstGeom>
          <a:solidFill>
            <a:srgbClr val="FFFFFF"/>
          </a:solidFill>
          <a:ln w="9525">
            <a:solidFill>
              <a:srgbClr val="E2E8F0"/>
            </a:solidFill>
            <a:prstDash val="solid"/>
          </a:ln>
          <a:effectLst>
            <a:outerShdw blurRad="101600" dist="25400" dir="5400000" algn="bl" rotWithShape="0">
              <a:srgbClr val="000000">
                <a:alpha val="15000"/>
              </a:srgbClr>
            </a:outerShdw>
          </a:effectLst>
        </p:spPr>
      </p:sp>
      <p:pic>
        <p:nvPicPr>
          <p:cNvPr id="22" name="Image 4" descr="/home/claude/deck/img/dwh_sources.png"/>
          <p:cNvPicPr>
            <a:picLocks noChangeAspect="1"/>
          </p:cNvPicPr>
          <p:nvPr/>
        </p:nvPicPr>
        <p:blipFill>
          <a:blip r:embed="rId4"/>
          <a:stretch>
            <a:fillRect/>
          </a:stretch>
        </p:blipFill>
        <p:spPr>
          <a:xfrm>
            <a:off x="6144768" y="1688325"/>
            <a:ext cx="5358384" cy="2475511"/>
          </a:xfrm>
          <a:prstGeom prst="rect">
            <a:avLst/>
          </a:prstGeom>
        </p:spPr>
      </p:pic>
      <p:sp>
        <p:nvSpPr>
          <p:cNvPr id="23" name="Text 16"/>
          <p:cNvSpPr txBox="1"/>
          <p:nvPr/>
        </p:nvSpPr>
        <p:spPr>
          <a:xfrm>
            <a:off x="6035040" y="4572000"/>
            <a:ext cx="5577840" cy="548640"/>
          </a:xfrm>
          <a:prstGeom prst="rect">
            <a:avLst/>
          </a:prstGeom>
          <a:noFill/>
          <a:ln/>
        </p:spPr>
        <p:txBody>
          <a:bodyPr wrap="square" lIns="0" tIns="0" rIns="0" bIns="0" rtlCol="0" anchor="ctr"/>
          <a:lstStyle/>
          <a:p>
            <a:pPr marL="0" indent="0">
              <a:buNone/>
            </a:pPr>
            <a:r>
              <a:rPr lang="en-US" sz="1300" i="1" dirty="0">
                <a:solidFill>
                  <a:srgbClr val="5B6B7F"/>
                </a:solidFill>
                <a:latin typeface="Calibri" pitchFamily="34" charset="0"/>
                <a:ea typeface="Calibri" pitchFamily="34" charset="-122"/>
                <a:cs typeface="Calibri" pitchFamily="34" charset="-120"/>
              </a:rPr>
              <a:t>Plusieurs sources (SQL Server, Oracle, APIs, IoT) alimentent un entrepôt unique via l'ETL.</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155680" y="6400800"/>
            <a:ext cx="548640" cy="274320"/>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6</a:t>
            </a:r>
            <a:endParaRPr lang="en-US" sz="1000" dirty="0"/>
          </a:p>
        </p:txBody>
      </p:sp>
      <p:sp>
        <p:nvSpPr>
          <p:cNvPr id="3" name="Text 1"/>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Le processus ETL</a:t>
            </a:r>
            <a:endParaRPr lang="en-US" sz="3200" dirty="0"/>
          </a:p>
        </p:txBody>
      </p:sp>
      <p:sp>
        <p:nvSpPr>
          <p:cNvPr id="4" name="Text 2"/>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500" i="1" dirty="0">
                <a:solidFill>
                  <a:srgbClr val="5B6B7F"/>
                </a:solidFill>
                <a:latin typeface="Calibri" pitchFamily="34" charset="0"/>
                <a:ea typeface="Calibri" pitchFamily="34" charset="-122"/>
                <a:cs typeface="Calibri" pitchFamily="34" charset="-120"/>
              </a:rPr>
              <a:t>Extract, Transform, Load : comment les données arrivent dans l'entrepôt</a:t>
            </a:r>
            <a:endParaRPr lang="en-US" sz="1500" dirty="0"/>
          </a:p>
        </p:txBody>
      </p:sp>
      <p:sp>
        <p:nvSpPr>
          <p:cNvPr id="5" name="Shape 3"/>
          <p:cNvSpPr/>
          <p:nvPr/>
        </p:nvSpPr>
        <p:spPr>
          <a:xfrm>
            <a:off x="548640" y="1645920"/>
            <a:ext cx="6035040" cy="3291840"/>
          </a:xfrm>
          <a:prstGeom prst="roundRect">
            <a:avLst>
              <a:gd name="adj" fmla="val 3333"/>
            </a:avLst>
          </a:prstGeom>
          <a:solidFill>
            <a:srgbClr val="FFFFFF"/>
          </a:solidFill>
          <a:ln w="9525">
            <a:solidFill>
              <a:srgbClr val="E2E8F0"/>
            </a:solidFill>
            <a:prstDash val="solid"/>
          </a:ln>
          <a:effectLst>
            <a:outerShdw blurRad="101600" dist="25400" dir="5400000" algn="bl" rotWithShape="0">
              <a:srgbClr val="000000">
                <a:alpha val="15000"/>
              </a:srgbClr>
            </a:outerShdw>
          </a:effectLst>
        </p:spPr>
      </p:sp>
      <p:pic>
        <p:nvPicPr>
          <p:cNvPr id="6" name="Image 0" descr="/home/claude/deck/img/etl.png"/>
          <p:cNvPicPr>
            <a:picLocks noChangeAspect="1"/>
          </p:cNvPicPr>
          <p:nvPr/>
        </p:nvPicPr>
        <p:blipFill>
          <a:blip r:embed="rId3"/>
          <a:stretch>
            <a:fillRect/>
          </a:stretch>
        </p:blipFill>
        <p:spPr>
          <a:xfrm>
            <a:off x="658368" y="1806932"/>
            <a:ext cx="5815584" cy="2969815"/>
          </a:xfrm>
          <a:prstGeom prst="rect">
            <a:avLst/>
          </a:prstGeom>
        </p:spPr>
      </p:pic>
      <p:sp>
        <p:nvSpPr>
          <p:cNvPr id="7" name="Shape 4"/>
          <p:cNvSpPr/>
          <p:nvPr/>
        </p:nvSpPr>
        <p:spPr>
          <a:xfrm>
            <a:off x="6949440" y="1645920"/>
            <a:ext cx="594360" cy="594360"/>
          </a:xfrm>
          <a:prstGeom prst="ellipse">
            <a:avLst/>
          </a:prstGeom>
          <a:solidFill>
            <a:srgbClr val="1B998B"/>
          </a:solidFill>
          <a:ln w="12700">
            <a:solidFill>
              <a:srgbClr val="1B998B"/>
            </a:solidFill>
            <a:prstDash val="solid"/>
          </a:ln>
        </p:spPr>
      </p:sp>
      <p:sp>
        <p:nvSpPr>
          <p:cNvPr id="8" name="Text 5"/>
          <p:cNvSpPr txBox="1"/>
          <p:nvPr/>
        </p:nvSpPr>
        <p:spPr>
          <a:xfrm>
            <a:off x="6949440" y="164592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9" name="Text 6"/>
          <p:cNvSpPr txBox="1"/>
          <p:nvPr/>
        </p:nvSpPr>
        <p:spPr>
          <a:xfrm>
            <a:off x="7726680" y="1627632"/>
            <a:ext cx="3931920" cy="365760"/>
          </a:xfrm>
          <a:prstGeom prst="rect">
            <a:avLst/>
          </a:prstGeom>
          <a:noFill/>
          <a:ln/>
        </p:spPr>
        <p:txBody>
          <a:bodyPr wrap="square" lIns="0" tIns="0" rIns="0" bIns="0" rtlCol="0" anchor="ctr"/>
          <a:lstStyle/>
          <a:p>
            <a:pPr marL="0" indent="0">
              <a:buNone/>
            </a:pPr>
            <a:r>
              <a:rPr lang="en-US" sz="1900" b="1" dirty="0">
                <a:solidFill>
                  <a:srgbClr val="0B2545"/>
                </a:solidFill>
                <a:latin typeface="Cambria" pitchFamily="34" charset="0"/>
                <a:ea typeface="Cambria" pitchFamily="34" charset="-122"/>
                <a:cs typeface="Cambria" pitchFamily="34" charset="-120"/>
              </a:rPr>
              <a:t>Extract</a:t>
            </a:r>
            <a:endParaRPr lang="en-US" sz="1900" dirty="0"/>
          </a:p>
        </p:txBody>
      </p:sp>
      <p:sp>
        <p:nvSpPr>
          <p:cNvPr id="10" name="Text 7"/>
          <p:cNvSpPr txBox="1"/>
          <p:nvPr/>
        </p:nvSpPr>
        <p:spPr>
          <a:xfrm>
            <a:off x="7726680" y="1993392"/>
            <a:ext cx="3931920" cy="685800"/>
          </a:xfrm>
          <a:prstGeom prst="rect">
            <a:avLst/>
          </a:prstGeom>
          <a:noFill/>
          <a:ln/>
        </p:spPr>
        <p:txBody>
          <a:bodyPr wrap="square" lIns="0" tIns="0" rIns="0" bIns="0" rtlCol="0" anchor="t"/>
          <a:lstStyle/>
          <a:p>
            <a:pPr marL="0" indent="0">
              <a:buNone/>
            </a:pPr>
            <a:r>
              <a:rPr lang="en-US" sz="1400" dirty="0">
                <a:solidFill>
                  <a:srgbClr val="1E293B"/>
                </a:solidFill>
                <a:latin typeface="Calibri" pitchFamily="34" charset="0"/>
                <a:ea typeface="Calibri" pitchFamily="34" charset="-122"/>
                <a:cs typeface="Calibri" pitchFamily="34" charset="-120"/>
              </a:rPr>
              <a:t>Lire les données des sources : ERP, CRM, applications métier, fichiers.</a:t>
            </a:r>
            <a:endParaRPr lang="en-US" sz="1400" dirty="0"/>
          </a:p>
        </p:txBody>
      </p:sp>
      <p:sp>
        <p:nvSpPr>
          <p:cNvPr id="11" name="Shape 8"/>
          <p:cNvSpPr/>
          <p:nvPr/>
        </p:nvSpPr>
        <p:spPr>
          <a:xfrm>
            <a:off x="6949440" y="2834640"/>
            <a:ext cx="594360" cy="594360"/>
          </a:xfrm>
          <a:prstGeom prst="ellipse">
            <a:avLst/>
          </a:prstGeom>
          <a:solidFill>
            <a:srgbClr val="1B998B"/>
          </a:solidFill>
          <a:ln w="12700">
            <a:solidFill>
              <a:srgbClr val="1B998B"/>
            </a:solidFill>
            <a:prstDash val="solid"/>
          </a:ln>
        </p:spPr>
      </p:sp>
      <p:sp>
        <p:nvSpPr>
          <p:cNvPr id="12" name="Text 9"/>
          <p:cNvSpPr txBox="1"/>
          <p:nvPr/>
        </p:nvSpPr>
        <p:spPr>
          <a:xfrm>
            <a:off x="6949440" y="283464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3" name="Text 10"/>
          <p:cNvSpPr txBox="1"/>
          <p:nvPr/>
        </p:nvSpPr>
        <p:spPr>
          <a:xfrm>
            <a:off x="7726680" y="2816352"/>
            <a:ext cx="3931920" cy="365760"/>
          </a:xfrm>
          <a:prstGeom prst="rect">
            <a:avLst/>
          </a:prstGeom>
          <a:noFill/>
          <a:ln/>
        </p:spPr>
        <p:txBody>
          <a:bodyPr wrap="square" lIns="0" tIns="0" rIns="0" bIns="0" rtlCol="0" anchor="ctr"/>
          <a:lstStyle/>
          <a:p>
            <a:pPr marL="0" indent="0">
              <a:buNone/>
            </a:pPr>
            <a:r>
              <a:rPr lang="en-US" sz="1900" b="1" dirty="0">
                <a:solidFill>
                  <a:srgbClr val="0B2545"/>
                </a:solidFill>
                <a:latin typeface="Cambria" pitchFamily="34" charset="0"/>
                <a:ea typeface="Cambria" pitchFamily="34" charset="-122"/>
                <a:cs typeface="Cambria" pitchFamily="34" charset="-120"/>
              </a:rPr>
              <a:t>Transform</a:t>
            </a:r>
            <a:endParaRPr lang="en-US" sz="1900" dirty="0"/>
          </a:p>
        </p:txBody>
      </p:sp>
      <p:sp>
        <p:nvSpPr>
          <p:cNvPr id="14" name="Text 11"/>
          <p:cNvSpPr txBox="1"/>
          <p:nvPr/>
        </p:nvSpPr>
        <p:spPr>
          <a:xfrm>
            <a:off x="7726680" y="3182112"/>
            <a:ext cx="3931920" cy="685800"/>
          </a:xfrm>
          <a:prstGeom prst="rect">
            <a:avLst/>
          </a:prstGeom>
          <a:noFill/>
          <a:ln/>
        </p:spPr>
        <p:txBody>
          <a:bodyPr wrap="square" lIns="0" tIns="0" rIns="0" bIns="0" rtlCol="0" anchor="t"/>
          <a:lstStyle/>
          <a:p>
            <a:pPr marL="0" indent="0">
              <a:buNone/>
            </a:pPr>
            <a:r>
              <a:rPr lang="en-US" sz="1400" dirty="0">
                <a:solidFill>
                  <a:srgbClr val="1E293B"/>
                </a:solidFill>
                <a:latin typeface="Calibri" pitchFamily="34" charset="0"/>
                <a:ea typeface="Calibri" pitchFamily="34" charset="-122"/>
                <a:cs typeface="Calibri" pitchFamily="34" charset="-120"/>
              </a:rPr>
              <a:t>Nettoyer, convertir, relier et calculer dans une zone intermédiaire.</a:t>
            </a:r>
            <a:endParaRPr lang="en-US" sz="1400" dirty="0"/>
          </a:p>
        </p:txBody>
      </p:sp>
      <p:sp>
        <p:nvSpPr>
          <p:cNvPr id="15" name="Shape 12"/>
          <p:cNvSpPr/>
          <p:nvPr/>
        </p:nvSpPr>
        <p:spPr>
          <a:xfrm>
            <a:off x="6949440" y="4023360"/>
            <a:ext cx="594360" cy="594360"/>
          </a:xfrm>
          <a:prstGeom prst="ellipse">
            <a:avLst/>
          </a:prstGeom>
          <a:solidFill>
            <a:srgbClr val="1B998B"/>
          </a:solidFill>
          <a:ln w="12700">
            <a:solidFill>
              <a:srgbClr val="1B998B"/>
            </a:solidFill>
            <a:prstDash val="solid"/>
          </a:ln>
        </p:spPr>
      </p:sp>
      <p:sp>
        <p:nvSpPr>
          <p:cNvPr id="16" name="Text 13"/>
          <p:cNvSpPr txBox="1"/>
          <p:nvPr/>
        </p:nvSpPr>
        <p:spPr>
          <a:xfrm>
            <a:off x="6949440" y="402336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7" name="Text 14"/>
          <p:cNvSpPr txBox="1"/>
          <p:nvPr/>
        </p:nvSpPr>
        <p:spPr>
          <a:xfrm>
            <a:off x="7726680" y="4005072"/>
            <a:ext cx="3931920" cy="365760"/>
          </a:xfrm>
          <a:prstGeom prst="rect">
            <a:avLst/>
          </a:prstGeom>
          <a:noFill/>
          <a:ln/>
        </p:spPr>
        <p:txBody>
          <a:bodyPr wrap="square" lIns="0" tIns="0" rIns="0" bIns="0" rtlCol="0" anchor="ctr"/>
          <a:lstStyle/>
          <a:p>
            <a:pPr marL="0" indent="0">
              <a:buNone/>
            </a:pPr>
            <a:r>
              <a:rPr lang="en-US" sz="1900" b="1" dirty="0">
                <a:solidFill>
                  <a:srgbClr val="0B2545"/>
                </a:solidFill>
                <a:latin typeface="Cambria" pitchFamily="34" charset="0"/>
                <a:ea typeface="Cambria" pitchFamily="34" charset="-122"/>
                <a:cs typeface="Cambria" pitchFamily="34" charset="-120"/>
              </a:rPr>
              <a:t>Load</a:t>
            </a:r>
            <a:endParaRPr lang="en-US" sz="1900" dirty="0"/>
          </a:p>
        </p:txBody>
      </p:sp>
      <p:sp>
        <p:nvSpPr>
          <p:cNvPr id="18" name="Text 15"/>
          <p:cNvSpPr txBox="1"/>
          <p:nvPr/>
        </p:nvSpPr>
        <p:spPr>
          <a:xfrm>
            <a:off x="7726680" y="4370832"/>
            <a:ext cx="3931920" cy="685800"/>
          </a:xfrm>
          <a:prstGeom prst="rect">
            <a:avLst/>
          </a:prstGeom>
          <a:noFill/>
          <a:ln/>
        </p:spPr>
        <p:txBody>
          <a:bodyPr wrap="square" lIns="0" tIns="0" rIns="0" bIns="0" rtlCol="0" anchor="t"/>
          <a:lstStyle/>
          <a:p>
            <a:pPr marL="0" indent="0">
              <a:buNone/>
            </a:pPr>
            <a:r>
              <a:rPr lang="en-US" sz="1400" dirty="0">
                <a:solidFill>
                  <a:srgbClr val="1E293B"/>
                </a:solidFill>
                <a:latin typeface="Calibri" pitchFamily="34" charset="0"/>
                <a:ea typeface="Calibri" pitchFamily="34" charset="-122"/>
                <a:cs typeface="Calibri" pitchFamily="34" charset="-120"/>
              </a:rPr>
              <a:t>Charger le résultat dans les tables de l'entrepôt.</a:t>
            </a:r>
            <a:endParaRPr lang="en-US" sz="1400" dirty="0"/>
          </a:p>
        </p:txBody>
      </p:sp>
      <p:sp>
        <p:nvSpPr>
          <p:cNvPr id="19" name="Shape 16"/>
          <p:cNvSpPr/>
          <p:nvPr/>
        </p:nvSpPr>
        <p:spPr>
          <a:xfrm>
            <a:off x="548640" y="5257800"/>
            <a:ext cx="11064240" cy="914400"/>
          </a:xfrm>
          <a:prstGeom prst="roundRect">
            <a:avLst>
              <a:gd name="adj" fmla="val 10000"/>
            </a:avLst>
          </a:prstGeom>
          <a:solidFill>
            <a:srgbClr val="DCEBF0"/>
          </a:solidFill>
          <a:ln w="12700">
            <a:solidFill>
              <a:srgbClr val="DCEBF0"/>
            </a:solidFill>
            <a:prstDash val="solid"/>
          </a:ln>
        </p:spPr>
      </p:sp>
      <p:sp>
        <p:nvSpPr>
          <p:cNvPr id="20" name="Text 17"/>
          <p:cNvSpPr txBox="1"/>
          <p:nvPr/>
        </p:nvSpPr>
        <p:spPr>
          <a:xfrm>
            <a:off x="777240" y="5303520"/>
            <a:ext cx="10607040" cy="822960"/>
          </a:xfrm>
          <a:prstGeom prst="rect">
            <a:avLst/>
          </a:prstGeom>
          <a:noFill/>
          <a:ln/>
        </p:spPr>
        <p:txBody>
          <a:bodyPr wrap="square" lIns="0" tIns="0" rIns="0" bIns="0" rtlCol="0" anchor="ctr"/>
          <a:lstStyle/>
          <a:p>
            <a:pPr marL="0" indent="0">
              <a:buNone/>
            </a:pPr>
            <a:r>
              <a:rPr lang="en-US" sz="1400" b="1" dirty="0">
                <a:solidFill>
                  <a:srgbClr val="0B2545"/>
                </a:solidFill>
                <a:latin typeface="Calibri" pitchFamily="34" charset="0"/>
                <a:ea typeface="Calibri" pitchFamily="34" charset="-122"/>
                <a:cs typeface="Calibri" pitchFamily="34" charset="-120"/>
              </a:rPr>
              <a:t>ETL ou ELT ? </a:t>
            </a:r>
            <a:r>
              <a:rPr lang="en-US" sz="1400" dirty="0">
                <a:solidFill>
                  <a:srgbClr val="1E293B"/>
                </a:solidFill>
                <a:latin typeface="Calibri" pitchFamily="34" charset="0"/>
                <a:ea typeface="Calibri" pitchFamily="34" charset="-122"/>
                <a:cs typeface="Calibri" pitchFamily="34" charset="-120"/>
              </a:rPr>
              <a:t>En ETL, on transforme avant de charger (approche classique du warehouse). En ELT, on charge d'abord les données brutes puis on les transforme dans la plateforme (approche moderne du lake et du lakehouse).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155680" y="6400800"/>
            <a:ext cx="548640" cy="274320"/>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7</a:t>
            </a:r>
            <a:endParaRPr lang="en-US" sz="1000" dirty="0"/>
          </a:p>
        </p:txBody>
      </p:sp>
      <p:sp>
        <p:nvSpPr>
          <p:cNvPr id="3" name="Text 1"/>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Étape clé : le nettoyage des données</a:t>
            </a:r>
            <a:endParaRPr lang="en-US" sz="3200" dirty="0"/>
          </a:p>
        </p:txBody>
      </p:sp>
      <p:sp>
        <p:nvSpPr>
          <p:cNvPr id="4" name="Text 2"/>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500" i="1" dirty="0">
                <a:solidFill>
                  <a:srgbClr val="5B6B7F"/>
                </a:solidFill>
                <a:latin typeface="Calibri" pitchFamily="34" charset="0"/>
                <a:ea typeface="Calibri" pitchFamily="34" charset="-122"/>
                <a:cs typeface="Calibri" pitchFamily="34" charset="-120"/>
              </a:rPr>
              <a:t>Des données sales donnent des indicateurs faux</a:t>
            </a:r>
            <a:endParaRPr lang="en-US" sz="1500" dirty="0"/>
          </a:p>
        </p:txBody>
      </p:sp>
      <p:sp>
        <p:nvSpPr>
          <p:cNvPr id="5" name="Shape 3"/>
          <p:cNvSpPr/>
          <p:nvPr/>
        </p:nvSpPr>
        <p:spPr>
          <a:xfrm>
            <a:off x="548640" y="1645920"/>
            <a:ext cx="4206240" cy="2377440"/>
          </a:xfrm>
          <a:prstGeom prst="roundRect">
            <a:avLst>
              <a:gd name="adj" fmla="val 4615"/>
            </a:avLst>
          </a:prstGeom>
          <a:solidFill>
            <a:srgbClr val="FFFFFF"/>
          </a:solidFill>
          <a:ln w="9525">
            <a:solidFill>
              <a:srgbClr val="E2E8F0"/>
            </a:solidFill>
            <a:prstDash val="solid"/>
          </a:ln>
          <a:effectLst>
            <a:outerShdw blurRad="101600" dist="25400" dir="5400000" algn="bl" rotWithShape="0">
              <a:srgbClr val="000000">
                <a:alpha val="15000"/>
              </a:srgbClr>
            </a:outerShdw>
          </a:effectLst>
        </p:spPr>
      </p:sp>
      <p:pic>
        <p:nvPicPr>
          <p:cNvPr id="6" name="Image 0" descr="/home/claude/deck/img/cleaning.png"/>
          <p:cNvPicPr>
            <a:picLocks noChangeAspect="1"/>
          </p:cNvPicPr>
          <p:nvPr/>
        </p:nvPicPr>
        <p:blipFill>
          <a:blip r:embed="rId3"/>
          <a:stretch>
            <a:fillRect/>
          </a:stretch>
        </p:blipFill>
        <p:spPr>
          <a:xfrm>
            <a:off x="658368" y="1851787"/>
            <a:ext cx="3986784" cy="1965706"/>
          </a:xfrm>
          <a:prstGeom prst="rect">
            <a:avLst/>
          </a:prstGeom>
        </p:spPr>
      </p:pic>
      <p:sp>
        <p:nvSpPr>
          <p:cNvPr id="7" name="Text 4"/>
          <p:cNvSpPr txBox="1"/>
          <p:nvPr/>
        </p:nvSpPr>
        <p:spPr>
          <a:xfrm>
            <a:off x="548640" y="4251960"/>
            <a:ext cx="4206240" cy="1280160"/>
          </a:xfrm>
          <a:prstGeom prst="rect">
            <a:avLst/>
          </a:prstGeom>
          <a:noFill/>
          <a:ln/>
        </p:spPr>
        <p:txBody>
          <a:bodyPr wrap="square" lIns="0" tIns="0" rIns="0" bIns="0" rtlCol="0" anchor="t"/>
          <a:lstStyle/>
          <a:p>
            <a:pPr marL="0" indent="0">
              <a:buNone/>
            </a:pPr>
            <a:r>
              <a:rPr lang="en-US" sz="1500" i="1" dirty="0">
                <a:solidFill>
                  <a:srgbClr val="1B998B"/>
                </a:solidFill>
                <a:latin typeface="Calibri" pitchFamily="34" charset="0"/>
                <a:ea typeface="Calibri" pitchFamily="34" charset="-122"/>
                <a:cs typeface="Calibri" pitchFamily="34" charset="-120"/>
              </a:rPr>
              <a:t>« Garbage in, garbage out » : la qualité des analyses dépend directement de la qualité des données chargées.</a:t>
            </a:r>
            <a:endParaRPr lang="en-US" sz="1500" dirty="0"/>
          </a:p>
        </p:txBody>
      </p:sp>
      <p:sp>
        <p:nvSpPr>
          <p:cNvPr id="8" name="Shape 5"/>
          <p:cNvSpPr/>
          <p:nvPr/>
        </p:nvSpPr>
        <p:spPr>
          <a:xfrm>
            <a:off x="5120640" y="1645920"/>
            <a:ext cx="3108960" cy="1325880"/>
          </a:xfrm>
          <a:prstGeom prst="roundRect">
            <a:avLst>
              <a:gd name="adj" fmla="val 6897"/>
            </a:avLst>
          </a:prstGeom>
          <a:solidFill>
            <a:srgbClr val="F1F6F8"/>
          </a:solidFill>
          <a:ln w="12700">
            <a:solidFill>
              <a:srgbClr val="F1F6F8"/>
            </a:solidFill>
            <a:prstDash val="solid"/>
          </a:ln>
        </p:spPr>
      </p:sp>
      <p:sp>
        <p:nvSpPr>
          <p:cNvPr id="9" name="Shape 6"/>
          <p:cNvSpPr/>
          <p:nvPr/>
        </p:nvSpPr>
        <p:spPr>
          <a:xfrm>
            <a:off x="5303520" y="1828800"/>
            <a:ext cx="457200" cy="457200"/>
          </a:xfrm>
          <a:prstGeom prst="ellipse">
            <a:avLst/>
          </a:prstGeom>
          <a:solidFill>
            <a:srgbClr val="1B998B"/>
          </a:solidFill>
          <a:ln w="12700">
            <a:solidFill>
              <a:srgbClr val="1B998B"/>
            </a:solidFill>
            <a:prstDash val="solid"/>
          </a:ln>
        </p:spPr>
      </p:sp>
      <p:pic>
        <p:nvPicPr>
          <p:cNvPr id="10" name="Image 1" descr="preencoded.png"/>
          <p:cNvPicPr>
            <a:picLocks noChangeAspect="1"/>
          </p:cNvPicPr>
          <p:nvPr/>
        </p:nvPicPr>
        <p:blipFill>
          <a:blip r:embed="rId4"/>
          <a:stretch>
            <a:fillRect/>
          </a:stretch>
        </p:blipFill>
        <p:spPr>
          <a:xfrm>
            <a:off x="5417820" y="1943100"/>
            <a:ext cx="228600" cy="228600"/>
          </a:xfrm>
          <a:prstGeom prst="rect">
            <a:avLst/>
          </a:prstGeom>
        </p:spPr>
      </p:pic>
      <p:sp>
        <p:nvSpPr>
          <p:cNvPr id="11" name="Text 7"/>
          <p:cNvSpPr txBox="1"/>
          <p:nvPr/>
        </p:nvSpPr>
        <p:spPr>
          <a:xfrm>
            <a:off x="5897880" y="1828800"/>
            <a:ext cx="2240280" cy="457200"/>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Doublons</a:t>
            </a:r>
            <a:endParaRPr lang="en-US" sz="1500" dirty="0"/>
          </a:p>
        </p:txBody>
      </p:sp>
      <p:sp>
        <p:nvSpPr>
          <p:cNvPr id="12" name="Text 8"/>
          <p:cNvSpPr txBox="1"/>
          <p:nvPr/>
        </p:nvSpPr>
        <p:spPr>
          <a:xfrm>
            <a:off x="5303520" y="2331720"/>
            <a:ext cx="2788920" cy="594360"/>
          </a:xfrm>
          <a:prstGeom prst="rect">
            <a:avLst/>
          </a:prstGeom>
          <a:noFill/>
          <a:ln/>
        </p:spPr>
        <p:txBody>
          <a:bodyPr wrap="square" lIns="0" tIns="0" rIns="0" bIns="0" rtlCol="0" anchor="t"/>
          <a:lstStyle/>
          <a:p>
            <a:pPr marL="0" indent="0">
              <a:buNone/>
            </a:pPr>
            <a:r>
              <a:rPr lang="en-US" sz="1250" dirty="0">
                <a:solidFill>
                  <a:srgbClr val="1E293B"/>
                </a:solidFill>
                <a:latin typeface="Calibri" pitchFamily="34" charset="0"/>
                <a:ea typeface="Calibri" pitchFamily="34" charset="-122"/>
                <a:cs typeface="Calibri" pitchFamily="34" charset="-120"/>
              </a:rPr>
              <a:t>Supprimer les clients ou commandes saisis deux fois</a:t>
            </a:r>
            <a:endParaRPr lang="en-US" sz="1250" dirty="0"/>
          </a:p>
        </p:txBody>
      </p:sp>
      <p:sp>
        <p:nvSpPr>
          <p:cNvPr id="13" name="Shape 9"/>
          <p:cNvSpPr/>
          <p:nvPr/>
        </p:nvSpPr>
        <p:spPr>
          <a:xfrm>
            <a:off x="8412480" y="1645920"/>
            <a:ext cx="3108960" cy="1325880"/>
          </a:xfrm>
          <a:prstGeom prst="roundRect">
            <a:avLst>
              <a:gd name="adj" fmla="val 6897"/>
            </a:avLst>
          </a:prstGeom>
          <a:solidFill>
            <a:srgbClr val="F1F6F8"/>
          </a:solidFill>
          <a:ln w="12700">
            <a:solidFill>
              <a:srgbClr val="F1F6F8"/>
            </a:solidFill>
            <a:prstDash val="solid"/>
          </a:ln>
        </p:spPr>
      </p:sp>
      <p:sp>
        <p:nvSpPr>
          <p:cNvPr id="14" name="Shape 10"/>
          <p:cNvSpPr/>
          <p:nvPr/>
        </p:nvSpPr>
        <p:spPr>
          <a:xfrm>
            <a:off x="8595360" y="1828800"/>
            <a:ext cx="457200" cy="457200"/>
          </a:xfrm>
          <a:prstGeom prst="ellipse">
            <a:avLst/>
          </a:prstGeom>
          <a:solidFill>
            <a:srgbClr val="1B998B"/>
          </a:solidFill>
          <a:ln w="12700">
            <a:solidFill>
              <a:srgbClr val="1B998B"/>
            </a:solidFill>
            <a:prstDash val="solid"/>
          </a:ln>
        </p:spPr>
      </p:sp>
      <p:pic>
        <p:nvPicPr>
          <p:cNvPr id="15" name="Image 2" descr="preencoded.png"/>
          <p:cNvPicPr>
            <a:picLocks noChangeAspect="1"/>
          </p:cNvPicPr>
          <p:nvPr/>
        </p:nvPicPr>
        <p:blipFill>
          <a:blip r:embed="rId5"/>
          <a:stretch>
            <a:fillRect/>
          </a:stretch>
        </p:blipFill>
        <p:spPr>
          <a:xfrm>
            <a:off x="8709660" y="1943100"/>
            <a:ext cx="228600" cy="228600"/>
          </a:xfrm>
          <a:prstGeom prst="rect">
            <a:avLst/>
          </a:prstGeom>
        </p:spPr>
      </p:pic>
      <p:sp>
        <p:nvSpPr>
          <p:cNvPr id="16" name="Text 11"/>
          <p:cNvSpPr txBox="1"/>
          <p:nvPr/>
        </p:nvSpPr>
        <p:spPr>
          <a:xfrm>
            <a:off x="9189720" y="1828800"/>
            <a:ext cx="2240280" cy="457200"/>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Valeurs manquantes</a:t>
            </a:r>
            <a:endParaRPr lang="en-US" sz="1500" dirty="0"/>
          </a:p>
        </p:txBody>
      </p:sp>
      <p:sp>
        <p:nvSpPr>
          <p:cNvPr id="17" name="Text 12"/>
          <p:cNvSpPr txBox="1"/>
          <p:nvPr/>
        </p:nvSpPr>
        <p:spPr>
          <a:xfrm>
            <a:off x="8595360" y="2331720"/>
            <a:ext cx="2788920" cy="594360"/>
          </a:xfrm>
          <a:prstGeom prst="rect">
            <a:avLst/>
          </a:prstGeom>
          <a:noFill/>
          <a:ln/>
        </p:spPr>
        <p:txBody>
          <a:bodyPr wrap="square" lIns="0" tIns="0" rIns="0" bIns="0" rtlCol="0" anchor="t"/>
          <a:lstStyle/>
          <a:p>
            <a:pPr marL="0" indent="0">
              <a:buNone/>
            </a:pPr>
            <a:r>
              <a:rPr lang="en-US" sz="1250" dirty="0">
                <a:solidFill>
                  <a:srgbClr val="1E293B"/>
                </a:solidFill>
                <a:latin typeface="Calibri" pitchFamily="34" charset="0"/>
                <a:ea typeface="Calibri" pitchFamily="34" charset="-122"/>
                <a:cs typeface="Calibri" pitchFamily="34" charset="-120"/>
              </a:rPr>
              <a:t>Compléter, remplacer par une valeur par défaut ou isoler</a:t>
            </a:r>
            <a:endParaRPr lang="en-US" sz="1250" dirty="0"/>
          </a:p>
        </p:txBody>
      </p:sp>
      <p:sp>
        <p:nvSpPr>
          <p:cNvPr id="18" name="Shape 13"/>
          <p:cNvSpPr/>
          <p:nvPr/>
        </p:nvSpPr>
        <p:spPr>
          <a:xfrm>
            <a:off x="5120640" y="3154680"/>
            <a:ext cx="3108960" cy="1325880"/>
          </a:xfrm>
          <a:prstGeom prst="roundRect">
            <a:avLst>
              <a:gd name="adj" fmla="val 6897"/>
            </a:avLst>
          </a:prstGeom>
          <a:solidFill>
            <a:srgbClr val="F1F6F8"/>
          </a:solidFill>
          <a:ln w="12700">
            <a:solidFill>
              <a:srgbClr val="F1F6F8"/>
            </a:solidFill>
            <a:prstDash val="solid"/>
          </a:ln>
        </p:spPr>
      </p:sp>
      <p:sp>
        <p:nvSpPr>
          <p:cNvPr id="19" name="Shape 14"/>
          <p:cNvSpPr/>
          <p:nvPr/>
        </p:nvSpPr>
        <p:spPr>
          <a:xfrm>
            <a:off x="5303520" y="3337560"/>
            <a:ext cx="457200" cy="457200"/>
          </a:xfrm>
          <a:prstGeom prst="ellipse">
            <a:avLst/>
          </a:prstGeom>
          <a:solidFill>
            <a:srgbClr val="1B998B"/>
          </a:solidFill>
          <a:ln w="12700">
            <a:solidFill>
              <a:srgbClr val="1B998B"/>
            </a:solidFill>
            <a:prstDash val="solid"/>
          </a:ln>
        </p:spPr>
      </p:sp>
      <p:pic>
        <p:nvPicPr>
          <p:cNvPr id="20" name="Image 3" descr="preencoded.png"/>
          <p:cNvPicPr>
            <a:picLocks noChangeAspect="1"/>
          </p:cNvPicPr>
          <p:nvPr/>
        </p:nvPicPr>
        <p:blipFill>
          <a:blip r:embed="rId6"/>
          <a:stretch>
            <a:fillRect/>
          </a:stretch>
        </p:blipFill>
        <p:spPr>
          <a:xfrm>
            <a:off x="5417820" y="3451860"/>
            <a:ext cx="228600" cy="228600"/>
          </a:xfrm>
          <a:prstGeom prst="rect">
            <a:avLst/>
          </a:prstGeom>
        </p:spPr>
      </p:pic>
      <p:sp>
        <p:nvSpPr>
          <p:cNvPr id="21" name="Text 15"/>
          <p:cNvSpPr txBox="1"/>
          <p:nvPr/>
        </p:nvSpPr>
        <p:spPr>
          <a:xfrm>
            <a:off x="5897880" y="3337560"/>
            <a:ext cx="2240280" cy="457200"/>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Formats</a:t>
            </a:r>
            <a:endParaRPr lang="en-US" sz="1500" dirty="0"/>
          </a:p>
        </p:txBody>
      </p:sp>
      <p:sp>
        <p:nvSpPr>
          <p:cNvPr id="22" name="Text 16"/>
          <p:cNvSpPr txBox="1"/>
          <p:nvPr/>
        </p:nvSpPr>
        <p:spPr>
          <a:xfrm>
            <a:off x="5303520" y="3840480"/>
            <a:ext cx="2788920" cy="594360"/>
          </a:xfrm>
          <a:prstGeom prst="rect">
            <a:avLst/>
          </a:prstGeom>
          <a:noFill/>
          <a:ln/>
        </p:spPr>
        <p:txBody>
          <a:bodyPr wrap="square" lIns="0" tIns="0" rIns="0" bIns="0" rtlCol="0" anchor="t"/>
          <a:lstStyle/>
          <a:p>
            <a:pPr marL="0" indent="0">
              <a:buNone/>
            </a:pPr>
            <a:r>
              <a:rPr lang="en-US" sz="1250" dirty="0">
                <a:solidFill>
                  <a:srgbClr val="1E293B"/>
                </a:solidFill>
                <a:latin typeface="Calibri" pitchFamily="34" charset="0"/>
                <a:ea typeface="Calibri" pitchFamily="34" charset="-122"/>
                <a:cs typeface="Calibri" pitchFamily="34" charset="-120"/>
              </a:rPr>
              <a:t>Uniformiser dates, téléphones, codes pays, majuscules</a:t>
            </a:r>
            <a:endParaRPr lang="en-US" sz="1250" dirty="0"/>
          </a:p>
        </p:txBody>
      </p:sp>
      <p:sp>
        <p:nvSpPr>
          <p:cNvPr id="23" name="Shape 17"/>
          <p:cNvSpPr/>
          <p:nvPr/>
        </p:nvSpPr>
        <p:spPr>
          <a:xfrm>
            <a:off x="8412480" y="3154680"/>
            <a:ext cx="3108960" cy="1325880"/>
          </a:xfrm>
          <a:prstGeom prst="roundRect">
            <a:avLst>
              <a:gd name="adj" fmla="val 6897"/>
            </a:avLst>
          </a:prstGeom>
          <a:solidFill>
            <a:srgbClr val="F1F6F8"/>
          </a:solidFill>
          <a:ln w="12700">
            <a:solidFill>
              <a:srgbClr val="F1F6F8"/>
            </a:solidFill>
            <a:prstDash val="solid"/>
          </a:ln>
        </p:spPr>
      </p:sp>
      <p:sp>
        <p:nvSpPr>
          <p:cNvPr id="24" name="Shape 18"/>
          <p:cNvSpPr/>
          <p:nvPr/>
        </p:nvSpPr>
        <p:spPr>
          <a:xfrm>
            <a:off x="8595360" y="3337560"/>
            <a:ext cx="457200" cy="457200"/>
          </a:xfrm>
          <a:prstGeom prst="ellipse">
            <a:avLst/>
          </a:prstGeom>
          <a:solidFill>
            <a:srgbClr val="1B998B"/>
          </a:solidFill>
          <a:ln w="12700">
            <a:solidFill>
              <a:srgbClr val="1B998B"/>
            </a:solidFill>
            <a:prstDash val="solid"/>
          </a:ln>
        </p:spPr>
      </p:sp>
      <p:pic>
        <p:nvPicPr>
          <p:cNvPr id="25" name="Image 4" descr="preencoded.png"/>
          <p:cNvPicPr>
            <a:picLocks noChangeAspect="1"/>
          </p:cNvPicPr>
          <p:nvPr/>
        </p:nvPicPr>
        <p:blipFill>
          <a:blip r:embed="rId7"/>
          <a:stretch>
            <a:fillRect/>
          </a:stretch>
        </p:blipFill>
        <p:spPr>
          <a:xfrm>
            <a:off x="8709660" y="3451860"/>
            <a:ext cx="228600" cy="228600"/>
          </a:xfrm>
          <a:prstGeom prst="rect">
            <a:avLst/>
          </a:prstGeom>
        </p:spPr>
      </p:pic>
      <p:sp>
        <p:nvSpPr>
          <p:cNvPr id="26" name="Text 19"/>
          <p:cNvSpPr txBox="1"/>
          <p:nvPr/>
        </p:nvSpPr>
        <p:spPr>
          <a:xfrm>
            <a:off x="9189720" y="3337560"/>
            <a:ext cx="2240280" cy="457200"/>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Valeurs aberrantes</a:t>
            </a:r>
            <a:endParaRPr lang="en-US" sz="1500" dirty="0"/>
          </a:p>
        </p:txBody>
      </p:sp>
      <p:sp>
        <p:nvSpPr>
          <p:cNvPr id="27" name="Text 20"/>
          <p:cNvSpPr txBox="1"/>
          <p:nvPr/>
        </p:nvSpPr>
        <p:spPr>
          <a:xfrm>
            <a:off x="8595360" y="3840480"/>
            <a:ext cx="2788920" cy="594360"/>
          </a:xfrm>
          <a:prstGeom prst="rect">
            <a:avLst/>
          </a:prstGeom>
          <a:noFill/>
          <a:ln/>
        </p:spPr>
        <p:txBody>
          <a:bodyPr wrap="square" lIns="0" tIns="0" rIns="0" bIns="0" rtlCol="0" anchor="t"/>
          <a:lstStyle/>
          <a:p>
            <a:pPr marL="0" indent="0">
              <a:buNone/>
            </a:pPr>
            <a:r>
              <a:rPr lang="en-US" sz="1250" dirty="0">
                <a:solidFill>
                  <a:srgbClr val="1E293B"/>
                </a:solidFill>
                <a:latin typeface="Calibri" pitchFamily="34" charset="0"/>
                <a:ea typeface="Calibri" pitchFamily="34" charset="-122"/>
                <a:cs typeface="Calibri" pitchFamily="34" charset="-120"/>
              </a:rPr>
              <a:t>Repérer un montant négatif ou une date en 2099</a:t>
            </a:r>
            <a:endParaRPr lang="en-US" sz="1250" dirty="0"/>
          </a:p>
        </p:txBody>
      </p:sp>
      <p:sp>
        <p:nvSpPr>
          <p:cNvPr id="28" name="Shape 21"/>
          <p:cNvSpPr/>
          <p:nvPr/>
        </p:nvSpPr>
        <p:spPr>
          <a:xfrm>
            <a:off x="5120640" y="4663440"/>
            <a:ext cx="3108960" cy="1325880"/>
          </a:xfrm>
          <a:prstGeom prst="roundRect">
            <a:avLst>
              <a:gd name="adj" fmla="val 6897"/>
            </a:avLst>
          </a:prstGeom>
          <a:solidFill>
            <a:srgbClr val="F1F6F8"/>
          </a:solidFill>
          <a:ln w="12700">
            <a:solidFill>
              <a:srgbClr val="F1F6F8"/>
            </a:solidFill>
            <a:prstDash val="solid"/>
          </a:ln>
        </p:spPr>
      </p:sp>
      <p:sp>
        <p:nvSpPr>
          <p:cNvPr id="29" name="Shape 22"/>
          <p:cNvSpPr/>
          <p:nvPr/>
        </p:nvSpPr>
        <p:spPr>
          <a:xfrm>
            <a:off x="5303520" y="4846320"/>
            <a:ext cx="457200" cy="457200"/>
          </a:xfrm>
          <a:prstGeom prst="ellipse">
            <a:avLst/>
          </a:prstGeom>
          <a:solidFill>
            <a:srgbClr val="1B998B"/>
          </a:solidFill>
          <a:ln w="12700">
            <a:solidFill>
              <a:srgbClr val="1B998B"/>
            </a:solidFill>
            <a:prstDash val="solid"/>
          </a:ln>
        </p:spPr>
      </p:sp>
      <p:pic>
        <p:nvPicPr>
          <p:cNvPr id="30" name="Image 5" descr="preencoded.png"/>
          <p:cNvPicPr>
            <a:picLocks noChangeAspect="1"/>
          </p:cNvPicPr>
          <p:nvPr/>
        </p:nvPicPr>
        <p:blipFill>
          <a:blip r:embed="rId8"/>
          <a:stretch>
            <a:fillRect/>
          </a:stretch>
        </p:blipFill>
        <p:spPr>
          <a:xfrm>
            <a:off x="5417820" y="4960620"/>
            <a:ext cx="228600" cy="228600"/>
          </a:xfrm>
          <a:prstGeom prst="rect">
            <a:avLst/>
          </a:prstGeom>
        </p:spPr>
      </p:pic>
      <p:sp>
        <p:nvSpPr>
          <p:cNvPr id="31" name="Text 23"/>
          <p:cNvSpPr txBox="1"/>
          <p:nvPr/>
        </p:nvSpPr>
        <p:spPr>
          <a:xfrm>
            <a:off x="5897880" y="4846320"/>
            <a:ext cx="2240280" cy="457200"/>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Cohérence</a:t>
            </a:r>
            <a:endParaRPr lang="en-US" sz="1500" dirty="0"/>
          </a:p>
        </p:txBody>
      </p:sp>
      <p:sp>
        <p:nvSpPr>
          <p:cNvPr id="32" name="Text 24"/>
          <p:cNvSpPr txBox="1"/>
          <p:nvPr/>
        </p:nvSpPr>
        <p:spPr>
          <a:xfrm>
            <a:off x="5303520" y="5349240"/>
            <a:ext cx="2788920" cy="594360"/>
          </a:xfrm>
          <a:prstGeom prst="rect">
            <a:avLst/>
          </a:prstGeom>
          <a:noFill/>
          <a:ln/>
        </p:spPr>
        <p:txBody>
          <a:bodyPr wrap="square" lIns="0" tIns="0" rIns="0" bIns="0" rtlCol="0" anchor="t"/>
          <a:lstStyle/>
          <a:p>
            <a:pPr marL="0" indent="0">
              <a:buNone/>
            </a:pPr>
            <a:r>
              <a:rPr lang="en-US" sz="1250" dirty="0">
                <a:solidFill>
                  <a:srgbClr val="1E293B"/>
                </a:solidFill>
                <a:latin typeface="Calibri" pitchFamily="34" charset="0"/>
                <a:ea typeface="Calibri" pitchFamily="34" charset="-122"/>
                <a:cs typeface="Calibri" pitchFamily="34" charset="-120"/>
              </a:rPr>
              <a:t>Vérifier qu'une facture pointe vers un client existant</a:t>
            </a:r>
            <a:endParaRPr lang="en-US" sz="1250" dirty="0"/>
          </a:p>
        </p:txBody>
      </p:sp>
      <p:sp>
        <p:nvSpPr>
          <p:cNvPr id="33" name="Shape 25"/>
          <p:cNvSpPr/>
          <p:nvPr/>
        </p:nvSpPr>
        <p:spPr>
          <a:xfrm>
            <a:off x="8412480" y="4663440"/>
            <a:ext cx="3108960" cy="1325880"/>
          </a:xfrm>
          <a:prstGeom prst="roundRect">
            <a:avLst>
              <a:gd name="adj" fmla="val 6897"/>
            </a:avLst>
          </a:prstGeom>
          <a:solidFill>
            <a:srgbClr val="F1F6F8"/>
          </a:solidFill>
          <a:ln w="12700">
            <a:solidFill>
              <a:srgbClr val="F1F6F8"/>
            </a:solidFill>
            <a:prstDash val="solid"/>
          </a:ln>
        </p:spPr>
      </p:sp>
      <p:sp>
        <p:nvSpPr>
          <p:cNvPr id="34" name="Shape 26"/>
          <p:cNvSpPr/>
          <p:nvPr/>
        </p:nvSpPr>
        <p:spPr>
          <a:xfrm>
            <a:off x="8595360" y="4846320"/>
            <a:ext cx="457200" cy="457200"/>
          </a:xfrm>
          <a:prstGeom prst="ellipse">
            <a:avLst/>
          </a:prstGeom>
          <a:solidFill>
            <a:srgbClr val="1B998B"/>
          </a:solidFill>
          <a:ln w="12700">
            <a:solidFill>
              <a:srgbClr val="1B998B"/>
            </a:solidFill>
            <a:prstDash val="solid"/>
          </a:ln>
        </p:spPr>
      </p:sp>
      <p:pic>
        <p:nvPicPr>
          <p:cNvPr id="35" name="Image 6" descr="preencoded.png"/>
          <p:cNvPicPr>
            <a:picLocks noChangeAspect="1"/>
          </p:cNvPicPr>
          <p:nvPr/>
        </p:nvPicPr>
        <p:blipFill>
          <a:blip r:embed="rId9"/>
          <a:stretch>
            <a:fillRect/>
          </a:stretch>
        </p:blipFill>
        <p:spPr>
          <a:xfrm>
            <a:off x="8709660" y="4960620"/>
            <a:ext cx="228600" cy="228600"/>
          </a:xfrm>
          <a:prstGeom prst="rect">
            <a:avLst/>
          </a:prstGeom>
        </p:spPr>
      </p:pic>
      <p:sp>
        <p:nvSpPr>
          <p:cNvPr id="36" name="Text 27"/>
          <p:cNvSpPr txBox="1"/>
          <p:nvPr/>
        </p:nvSpPr>
        <p:spPr>
          <a:xfrm>
            <a:off x="9189720" y="4846320"/>
            <a:ext cx="2240280" cy="457200"/>
          </a:xfrm>
          <a:prstGeom prst="rect">
            <a:avLst/>
          </a:prstGeom>
          <a:noFill/>
          <a:ln/>
        </p:spPr>
        <p:txBody>
          <a:bodyPr wrap="square" lIns="0" tIns="0" rIns="0" bIns="0" rtlCol="0" anchor="ctr"/>
          <a:lstStyle/>
          <a:p>
            <a:pPr marL="0" indent="0">
              <a:buNone/>
            </a:pPr>
            <a:r>
              <a:rPr lang="en-US" sz="1500" b="1" dirty="0">
                <a:solidFill>
                  <a:srgbClr val="0B2545"/>
                </a:solidFill>
                <a:latin typeface="Calibri" pitchFamily="34" charset="0"/>
                <a:ea typeface="Calibri" pitchFamily="34" charset="-122"/>
                <a:cs typeface="Calibri" pitchFamily="34" charset="-120"/>
              </a:rPr>
              <a:t>Validation</a:t>
            </a:r>
            <a:endParaRPr lang="en-US" sz="1500" dirty="0"/>
          </a:p>
        </p:txBody>
      </p:sp>
      <p:sp>
        <p:nvSpPr>
          <p:cNvPr id="37" name="Text 28"/>
          <p:cNvSpPr txBox="1"/>
          <p:nvPr/>
        </p:nvSpPr>
        <p:spPr>
          <a:xfrm>
            <a:off x="8595360" y="5349240"/>
            <a:ext cx="2788920" cy="594360"/>
          </a:xfrm>
          <a:prstGeom prst="rect">
            <a:avLst/>
          </a:prstGeom>
          <a:noFill/>
          <a:ln/>
        </p:spPr>
        <p:txBody>
          <a:bodyPr wrap="square" lIns="0" tIns="0" rIns="0" bIns="0" rtlCol="0" anchor="t"/>
          <a:lstStyle/>
          <a:p>
            <a:pPr marL="0" indent="0">
              <a:buNone/>
            </a:pPr>
            <a:r>
              <a:rPr lang="en-US" sz="1250" dirty="0">
                <a:solidFill>
                  <a:srgbClr val="1E293B"/>
                </a:solidFill>
                <a:latin typeface="Calibri" pitchFamily="34" charset="0"/>
                <a:ea typeface="Calibri" pitchFamily="34" charset="-122"/>
                <a:cs typeface="Calibri" pitchFamily="34" charset="-120"/>
              </a:rPr>
              <a:t>Contrôles automatiques avant chaque chargement</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155680" y="6400800"/>
            <a:ext cx="548640" cy="274320"/>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8</a:t>
            </a:r>
            <a:endParaRPr lang="en-US" sz="1000" dirty="0"/>
          </a:p>
        </p:txBody>
      </p:sp>
      <p:sp>
        <p:nvSpPr>
          <p:cNvPr id="3" name="Text 1"/>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Étape clé : la transformation des données</a:t>
            </a:r>
            <a:endParaRPr lang="en-US" sz="3200" dirty="0"/>
          </a:p>
        </p:txBody>
      </p:sp>
      <p:sp>
        <p:nvSpPr>
          <p:cNvPr id="4" name="Text 2"/>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500" i="1" dirty="0">
                <a:solidFill>
                  <a:srgbClr val="5B6B7F"/>
                </a:solidFill>
                <a:latin typeface="Calibri" pitchFamily="34" charset="0"/>
                <a:ea typeface="Calibri" pitchFamily="34" charset="-122"/>
                <a:cs typeface="Calibri" pitchFamily="34" charset="-120"/>
              </a:rPr>
              <a:t>Passer de données dispersées à une structure organisée</a:t>
            </a:r>
            <a:endParaRPr lang="en-US" sz="1500" dirty="0"/>
          </a:p>
        </p:txBody>
      </p:sp>
      <p:sp>
        <p:nvSpPr>
          <p:cNvPr id="5" name="Text 3"/>
          <p:cNvSpPr txBox="1"/>
          <p:nvPr/>
        </p:nvSpPr>
        <p:spPr>
          <a:xfrm>
            <a:off x="548640" y="1737360"/>
            <a:ext cx="5394960" cy="4206240"/>
          </a:xfrm>
          <a:prstGeom prst="rect">
            <a:avLst/>
          </a:prstGeom>
          <a:noFill/>
          <a:ln/>
        </p:spPr>
        <p:txBody>
          <a:bodyPr wrap="square" rtlCol="0" anchor="t"/>
          <a:lstStyle/>
          <a:p>
            <a:pPr marL="342900" indent="-342900">
              <a:spcAft>
                <a:spcPts val="1600"/>
              </a:spcAft>
              <a:buSzPct val="100000"/>
              <a:buChar char="•"/>
            </a:pPr>
            <a:r>
              <a:rPr lang="en-US" sz="1800" dirty="0">
                <a:solidFill>
                  <a:srgbClr val="1E293B"/>
                </a:solidFill>
                <a:latin typeface="Calibri" pitchFamily="34" charset="0"/>
                <a:ea typeface="Calibri" pitchFamily="34" charset="-122"/>
                <a:cs typeface="Calibri" pitchFamily="34" charset="-120"/>
              </a:rPr>
              <a:t>Jointures : relier commandes, clients et produits</a:t>
            </a:r>
            <a:endParaRPr lang="en-US" sz="1800" dirty="0"/>
          </a:p>
          <a:p>
            <a:pPr marL="342900" indent="-342900">
              <a:spcAft>
                <a:spcPts val="1600"/>
              </a:spcAft>
              <a:buSzPct val="100000"/>
              <a:buChar char="•"/>
            </a:pPr>
            <a:r>
              <a:rPr lang="en-US" sz="1800" dirty="0">
                <a:solidFill>
                  <a:srgbClr val="1E293B"/>
                </a:solidFill>
                <a:latin typeface="Calibri" pitchFamily="34" charset="0"/>
                <a:ea typeface="Calibri" pitchFamily="34" charset="-122"/>
                <a:cs typeface="Calibri" pitchFamily="34" charset="-120"/>
              </a:rPr>
              <a:t>Agrégations : totaux par jour, par mois, par région</a:t>
            </a:r>
            <a:endParaRPr lang="en-US" sz="1800" dirty="0"/>
          </a:p>
          <a:p>
            <a:pPr marL="342900" indent="-342900">
              <a:spcAft>
                <a:spcPts val="1600"/>
              </a:spcAft>
              <a:buSzPct val="100000"/>
              <a:buChar char="•"/>
            </a:pPr>
            <a:r>
              <a:rPr lang="en-US" sz="1800" dirty="0">
                <a:solidFill>
                  <a:srgbClr val="1E293B"/>
                </a:solidFill>
                <a:latin typeface="Calibri" pitchFamily="34" charset="0"/>
                <a:ea typeface="Calibri" pitchFamily="34" charset="-122"/>
                <a:cs typeface="Calibri" pitchFamily="34" charset="-120"/>
              </a:rPr>
              <a:t>Calculs : marge, TVA, montant converti en devise de référence</a:t>
            </a:r>
            <a:endParaRPr lang="en-US" sz="1800" dirty="0"/>
          </a:p>
          <a:p>
            <a:pPr marL="342900" indent="-342900">
              <a:spcAft>
                <a:spcPts val="1600"/>
              </a:spcAft>
              <a:buSzPct val="100000"/>
              <a:buChar char="•"/>
            </a:pPr>
            <a:r>
              <a:rPr lang="en-US" sz="1800" dirty="0">
                <a:solidFill>
                  <a:srgbClr val="1E293B"/>
                </a:solidFill>
                <a:latin typeface="Calibri" pitchFamily="34" charset="0"/>
                <a:ea typeface="Calibri" pitchFamily="34" charset="-122"/>
                <a:cs typeface="Calibri" pitchFamily="34" charset="-120"/>
              </a:rPr>
              <a:t>Conversion de types : texte vers date, nombre, booléen</a:t>
            </a:r>
            <a:endParaRPr lang="en-US" sz="1800" dirty="0"/>
          </a:p>
          <a:p>
            <a:pPr marL="342900" indent="-342900">
              <a:spcAft>
                <a:spcPts val="1600"/>
              </a:spcAft>
              <a:buSzPct val="100000"/>
              <a:buChar char="•"/>
            </a:pPr>
            <a:r>
              <a:rPr lang="en-US" sz="1800" dirty="0">
                <a:solidFill>
                  <a:srgbClr val="1E293B"/>
                </a:solidFill>
                <a:latin typeface="Calibri" pitchFamily="34" charset="0"/>
                <a:ea typeface="Calibri" pitchFamily="34" charset="-122"/>
                <a:cs typeface="Calibri" pitchFamily="34" charset="-120"/>
              </a:rPr>
              <a:t>Dénormalisation : préparer des tables simples à interroger</a:t>
            </a:r>
            <a:endParaRPr lang="en-US" sz="1800" dirty="0"/>
          </a:p>
          <a:p>
            <a:pPr marL="342900" indent="-342900">
              <a:spcAft>
                <a:spcPts val="1600"/>
              </a:spcAft>
              <a:buSzPct val="100000"/>
              <a:buChar char="•"/>
            </a:pPr>
            <a:r>
              <a:rPr lang="en-US" sz="1800" dirty="0">
                <a:solidFill>
                  <a:srgbClr val="1E293B"/>
                </a:solidFill>
                <a:latin typeface="Calibri" pitchFamily="34" charset="0"/>
                <a:ea typeface="Calibri" pitchFamily="34" charset="-122"/>
                <a:cs typeface="Calibri" pitchFamily="34" charset="-120"/>
              </a:rPr>
              <a:t>Historisation : garder les anciennes valeurs d'un client</a:t>
            </a:r>
            <a:endParaRPr lang="en-US" sz="1800" dirty="0"/>
          </a:p>
        </p:txBody>
      </p:sp>
      <p:sp>
        <p:nvSpPr>
          <p:cNvPr id="6" name="Shape 4"/>
          <p:cNvSpPr/>
          <p:nvPr/>
        </p:nvSpPr>
        <p:spPr>
          <a:xfrm>
            <a:off x="6309360" y="1645920"/>
            <a:ext cx="5303520" cy="3291840"/>
          </a:xfrm>
          <a:prstGeom prst="roundRect">
            <a:avLst>
              <a:gd name="adj" fmla="val 3333"/>
            </a:avLst>
          </a:prstGeom>
          <a:solidFill>
            <a:srgbClr val="FFFFFF"/>
          </a:solidFill>
          <a:ln w="9525">
            <a:solidFill>
              <a:srgbClr val="E2E8F0"/>
            </a:solidFill>
            <a:prstDash val="solid"/>
          </a:ln>
          <a:effectLst>
            <a:outerShdw blurRad="101600" dist="25400" dir="5400000" algn="bl" rotWithShape="0">
              <a:srgbClr val="000000">
                <a:alpha val="15000"/>
              </a:srgbClr>
            </a:outerShdw>
          </a:effectLst>
        </p:spPr>
      </p:sp>
      <p:pic>
        <p:nvPicPr>
          <p:cNvPr id="7" name="Image 0" descr="/home/claude/deck/img/transfo.png"/>
          <p:cNvPicPr>
            <a:picLocks noChangeAspect="1"/>
          </p:cNvPicPr>
          <p:nvPr/>
        </p:nvPicPr>
        <p:blipFill>
          <a:blip r:embed="rId3"/>
          <a:stretch>
            <a:fillRect/>
          </a:stretch>
        </p:blipFill>
        <p:spPr>
          <a:xfrm>
            <a:off x="6419088" y="1864683"/>
            <a:ext cx="5084064" cy="2854314"/>
          </a:xfrm>
          <a:prstGeom prst="rect">
            <a:avLst/>
          </a:prstGeom>
        </p:spPr>
      </p:pic>
      <p:sp>
        <p:nvSpPr>
          <p:cNvPr id="8" name="Text 5"/>
          <p:cNvSpPr txBox="1"/>
          <p:nvPr/>
        </p:nvSpPr>
        <p:spPr>
          <a:xfrm>
            <a:off x="6309360" y="5120640"/>
            <a:ext cx="5303520" cy="457200"/>
          </a:xfrm>
          <a:prstGeom prst="rect">
            <a:avLst/>
          </a:prstGeom>
          <a:noFill/>
          <a:ln/>
        </p:spPr>
        <p:txBody>
          <a:bodyPr wrap="square" lIns="0" tIns="0" rIns="0" bIns="0" rtlCol="0" anchor="ctr"/>
          <a:lstStyle/>
          <a:p>
            <a:pPr marL="0" indent="0">
              <a:buNone/>
            </a:pPr>
            <a:r>
              <a:rPr lang="en-US" sz="1300" i="1" dirty="0">
                <a:solidFill>
                  <a:srgbClr val="5B6B7F"/>
                </a:solidFill>
                <a:latin typeface="Calibri" pitchFamily="34" charset="0"/>
                <a:ea typeface="Calibri" pitchFamily="34" charset="-122"/>
                <a:cs typeface="Calibri" pitchFamily="34" charset="-120"/>
              </a:rPr>
              <a:t>Des blocs épars deviennent une structure cohérente, prête pour l'analyse.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155680" y="6400800"/>
            <a:ext cx="548640" cy="274320"/>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9</a:t>
            </a:r>
            <a:endParaRPr lang="en-US" sz="1000" dirty="0"/>
          </a:p>
        </p:txBody>
      </p:sp>
      <p:sp>
        <p:nvSpPr>
          <p:cNvPr id="3" name="Text 1"/>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Architecture d'un data warehouse</a:t>
            </a:r>
            <a:endParaRPr lang="en-US" sz="3200" dirty="0"/>
          </a:p>
        </p:txBody>
      </p:sp>
      <p:sp>
        <p:nvSpPr>
          <p:cNvPr id="4" name="Shape 2"/>
          <p:cNvSpPr/>
          <p:nvPr/>
        </p:nvSpPr>
        <p:spPr>
          <a:xfrm>
            <a:off x="2377440" y="1188720"/>
            <a:ext cx="7406640" cy="3429000"/>
          </a:xfrm>
          <a:prstGeom prst="roundRect">
            <a:avLst>
              <a:gd name="adj" fmla="val 3200"/>
            </a:avLst>
          </a:prstGeom>
          <a:solidFill>
            <a:srgbClr val="FFFFFF"/>
          </a:solidFill>
          <a:ln w="9525">
            <a:solidFill>
              <a:srgbClr val="E2E8F0"/>
            </a:solidFill>
            <a:prstDash val="solid"/>
          </a:ln>
          <a:effectLst>
            <a:outerShdw blurRad="101600" dist="25400" dir="5400000" algn="bl" rotWithShape="0">
              <a:srgbClr val="000000">
                <a:alpha val="15000"/>
              </a:srgbClr>
            </a:outerShdw>
          </a:effectLst>
        </p:spPr>
      </p:sp>
      <p:pic>
        <p:nvPicPr>
          <p:cNvPr id="5" name="Image 0" descr="/home/claude/deck/img/dwh_arch.png"/>
          <p:cNvPicPr>
            <a:picLocks noChangeAspect="1"/>
          </p:cNvPicPr>
          <p:nvPr/>
        </p:nvPicPr>
        <p:blipFill>
          <a:blip r:embed="rId3"/>
          <a:stretch>
            <a:fillRect/>
          </a:stretch>
        </p:blipFill>
        <p:spPr>
          <a:xfrm>
            <a:off x="2835554" y="1298448"/>
            <a:ext cx="6490411" cy="3209544"/>
          </a:xfrm>
          <a:prstGeom prst="rect">
            <a:avLst/>
          </a:prstGeom>
        </p:spPr>
      </p:pic>
      <p:sp>
        <p:nvSpPr>
          <p:cNvPr id="6" name="Shape 3"/>
          <p:cNvSpPr/>
          <p:nvPr/>
        </p:nvSpPr>
        <p:spPr>
          <a:xfrm>
            <a:off x="548640" y="4846320"/>
            <a:ext cx="3566160" cy="1463040"/>
          </a:xfrm>
          <a:prstGeom prst="roundRect">
            <a:avLst>
              <a:gd name="adj" fmla="val 6250"/>
            </a:avLst>
          </a:prstGeom>
          <a:solidFill>
            <a:srgbClr val="F1F6F8"/>
          </a:solidFill>
          <a:ln w="12700">
            <a:solidFill>
              <a:srgbClr val="F1F6F8"/>
            </a:solidFill>
            <a:prstDash val="solid"/>
          </a:ln>
        </p:spPr>
      </p:sp>
      <p:sp>
        <p:nvSpPr>
          <p:cNvPr id="7" name="Text 4"/>
          <p:cNvSpPr txBox="1"/>
          <p:nvPr/>
        </p:nvSpPr>
        <p:spPr>
          <a:xfrm>
            <a:off x="777240" y="4937760"/>
            <a:ext cx="3108960" cy="411480"/>
          </a:xfrm>
          <a:prstGeom prst="rect">
            <a:avLst/>
          </a:prstGeom>
          <a:noFill/>
          <a:ln/>
        </p:spPr>
        <p:txBody>
          <a:bodyPr wrap="square" lIns="0" tIns="0" rIns="0" bIns="0" rtlCol="0" anchor="ctr"/>
          <a:lstStyle/>
          <a:p>
            <a:pPr marL="0" indent="0">
              <a:buNone/>
            </a:pPr>
            <a:r>
              <a:rPr lang="en-US" sz="1600" b="1" dirty="0">
                <a:solidFill>
                  <a:srgbClr val="1B998B"/>
                </a:solidFill>
                <a:latin typeface="Calibri" pitchFamily="34" charset="0"/>
                <a:ea typeface="Calibri" pitchFamily="34" charset="-122"/>
                <a:cs typeface="Calibri" pitchFamily="34" charset="-120"/>
              </a:rPr>
              <a:t>Zone de staging</a:t>
            </a:r>
            <a:endParaRPr lang="en-US" sz="1600" dirty="0"/>
          </a:p>
        </p:txBody>
      </p:sp>
      <p:sp>
        <p:nvSpPr>
          <p:cNvPr id="8" name="Text 5"/>
          <p:cNvSpPr txBox="1"/>
          <p:nvPr/>
        </p:nvSpPr>
        <p:spPr>
          <a:xfrm>
            <a:off x="777240" y="5349240"/>
            <a:ext cx="3154680" cy="868680"/>
          </a:xfrm>
          <a:prstGeom prst="rect">
            <a:avLst/>
          </a:prstGeom>
          <a:noFill/>
          <a:ln/>
        </p:spPr>
        <p:txBody>
          <a:bodyPr wrap="square" lIns="0" tIns="0" rIns="0" bIns="0" rtlCol="0" anchor="t"/>
          <a:lstStyle/>
          <a:p>
            <a:pPr marL="0" indent="0">
              <a:buNone/>
            </a:pPr>
            <a:r>
              <a:rPr lang="en-US" sz="1300" dirty="0">
                <a:solidFill>
                  <a:srgbClr val="1E293B"/>
                </a:solidFill>
                <a:latin typeface="Calibri" pitchFamily="34" charset="0"/>
                <a:ea typeface="Calibri" pitchFamily="34" charset="-122"/>
                <a:cs typeface="Calibri" pitchFamily="34" charset="-120"/>
              </a:rPr>
              <a:t>Copie temporaire des données extraites, avant transformation. Elle protège les sources.</a:t>
            </a:r>
            <a:endParaRPr lang="en-US" sz="1300" dirty="0"/>
          </a:p>
        </p:txBody>
      </p:sp>
      <p:sp>
        <p:nvSpPr>
          <p:cNvPr id="9" name="Shape 6"/>
          <p:cNvSpPr/>
          <p:nvPr/>
        </p:nvSpPr>
        <p:spPr>
          <a:xfrm>
            <a:off x="4297680" y="4846320"/>
            <a:ext cx="3566160" cy="1463040"/>
          </a:xfrm>
          <a:prstGeom prst="roundRect">
            <a:avLst>
              <a:gd name="adj" fmla="val 6250"/>
            </a:avLst>
          </a:prstGeom>
          <a:solidFill>
            <a:srgbClr val="F1F6F8"/>
          </a:solidFill>
          <a:ln w="12700">
            <a:solidFill>
              <a:srgbClr val="F1F6F8"/>
            </a:solidFill>
            <a:prstDash val="solid"/>
          </a:ln>
        </p:spPr>
      </p:sp>
      <p:sp>
        <p:nvSpPr>
          <p:cNvPr id="10" name="Text 7"/>
          <p:cNvSpPr txBox="1"/>
          <p:nvPr/>
        </p:nvSpPr>
        <p:spPr>
          <a:xfrm>
            <a:off x="4526280" y="4937760"/>
            <a:ext cx="3108960" cy="411480"/>
          </a:xfrm>
          <a:prstGeom prst="rect">
            <a:avLst/>
          </a:prstGeom>
          <a:noFill/>
          <a:ln/>
        </p:spPr>
        <p:txBody>
          <a:bodyPr wrap="square" lIns="0" tIns="0" rIns="0" bIns="0" rtlCol="0" anchor="ctr"/>
          <a:lstStyle/>
          <a:p>
            <a:pPr marL="0" indent="0">
              <a:buNone/>
            </a:pPr>
            <a:r>
              <a:rPr lang="en-US" sz="1600" b="1" dirty="0">
                <a:solidFill>
                  <a:srgbClr val="1B998B"/>
                </a:solidFill>
                <a:latin typeface="Calibri" pitchFamily="34" charset="0"/>
                <a:ea typeface="Calibri" pitchFamily="34" charset="-122"/>
                <a:cs typeface="Calibri" pitchFamily="34" charset="-120"/>
              </a:rPr>
              <a:t>Entrepôt (DWH)</a:t>
            </a:r>
            <a:endParaRPr lang="en-US" sz="1600" dirty="0"/>
          </a:p>
        </p:txBody>
      </p:sp>
      <p:sp>
        <p:nvSpPr>
          <p:cNvPr id="11" name="Text 8"/>
          <p:cNvSpPr txBox="1"/>
          <p:nvPr/>
        </p:nvSpPr>
        <p:spPr>
          <a:xfrm>
            <a:off x="4526280" y="5349240"/>
            <a:ext cx="3154680" cy="868680"/>
          </a:xfrm>
          <a:prstGeom prst="rect">
            <a:avLst/>
          </a:prstGeom>
          <a:noFill/>
          <a:ln/>
        </p:spPr>
        <p:txBody>
          <a:bodyPr wrap="square" lIns="0" tIns="0" rIns="0" bIns="0" rtlCol="0" anchor="t"/>
          <a:lstStyle/>
          <a:p>
            <a:pPr marL="0" indent="0">
              <a:buNone/>
            </a:pPr>
            <a:r>
              <a:rPr lang="en-US" sz="1300" dirty="0">
                <a:solidFill>
                  <a:srgbClr val="1E293B"/>
                </a:solidFill>
                <a:latin typeface="Calibri" pitchFamily="34" charset="0"/>
                <a:ea typeface="Calibri" pitchFamily="34" charset="-122"/>
                <a:cs typeface="Calibri" pitchFamily="34" charset="-120"/>
              </a:rPr>
              <a:t>Données intégrées, historisées et modélisées, la source de vérité de l'entreprise.</a:t>
            </a:r>
            <a:endParaRPr lang="en-US" sz="1300" dirty="0"/>
          </a:p>
        </p:txBody>
      </p:sp>
      <p:sp>
        <p:nvSpPr>
          <p:cNvPr id="12" name="Shape 9"/>
          <p:cNvSpPr/>
          <p:nvPr/>
        </p:nvSpPr>
        <p:spPr>
          <a:xfrm>
            <a:off x="8046720" y="4846320"/>
            <a:ext cx="3566160" cy="1463040"/>
          </a:xfrm>
          <a:prstGeom prst="roundRect">
            <a:avLst>
              <a:gd name="adj" fmla="val 6250"/>
            </a:avLst>
          </a:prstGeom>
          <a:solidFill>
            <a:srgbClr val="F1F6F8"/>
          </a:solidFill>
          <a:ln w="12700">
            <a:solidFill>
              <a:srgbClr val="F1F6F8"/>
            </a:solidFill>
            <a:prstDash val="solid"/>
          </a:ln>
        </p:spPr>
      </p:sp>
      <p:sp>
        <p:nvSpPr>
          <p:cNvPr id="13" name="Text 10"/>
          <p:cNvSpPr txBox="1"/>
          <p:nvPr/>
        </p:nvSpPr>
        <p:spPr>
          <a:xfrm>
            <a:off x="8275320" y="4937760"/>
            <a:ext cx="3108960" cy="411480"/>
          </a:xfrm>
          <a:prstGeom prst="rect">
            <a:avLst/>
          </a:prstGeom>
          <a:noFill/>
          <a:ln/>
        </p:spPr>
        <p:txBody>
          <a:bodyPr wrap="square" lIns="0" tIns="0" rIns="0" bIns="0" rtlCol="0" anchor="ctr"/>
          <a:lstStyle/>
          <a:p>
            <a:pPr marL="0" indent="0">
              <a:buNone/>
            </a:pPr>
            <a:r>
              <a:rPr lang="en-US" sz="1600" b="1" dirty="0">
                <a:solidFill>
                  <a:srgbClr val="1B998B"/>
                </a:solidFill>
                <a:latin typeface="Calibri" pitchFamily="34" charset="0"/>
                <a:ea typeface="Calibri" pitchFamily="34" charset="-122"/>
                <a:cs typeface="Calibri" pitchFamily="34" charset="-120"/>
              </a:rPr>
              <a:t>Analytics</a:t>
            </a:r>
            <a:endParaRPr lang="en-US" sz="1600" dirty="0"/>
          </a:p>
        </p:txBody>
      </p:sp>
      <p:sp>
        <p:nvSpPr>
          <p:cNvPr id="14" name="Text 11"/>
          <p:cNvSpPr txBox="1"/>
          <p:nvPr/>
        </p:nvSpPr>
        <p:spPr>
          <a:xfrm>
            <a:off x="8275320" y="5349240"/>
            <a:ext cx="3154680" cy="868680"/>
          </a:xfrm>
          <a:prstGeom prst="rect">
            <a:avLst/>
          </a:prstGeom>
          <a:noFill/>
          <a:ln/>
        </p:spPr>
        <p:txBody>
          <a:bodyPr wrap="square" lIns="0" tIns="0" rIns="0" bIns="0" rtlCol="0" anchor="t"/>
          <a:lstStyle/>
          <a:p>
            <a:pPr marL="0" indent="0">
              <a:buNone/>
            </a:pPr>
            <a:r>
              <a:rPr lang="en-US" sz="1300" dirty="0">
                <a:solidFill>
                  <a:srgbClr val="1E293B"/>
                </a:solidFill>
                <a:latin typeface="Calibri" pitchFamily="34" charset="0"/>
                <a:ea typeface="Calibri" pitchFamily="34" charset="-122"/>
                <a:cs typeface="Calibri" pitchFamily="34" charset="-120"/>
              </a:rPr>
              <a:t>Data marts, tableaux de bord et rapports pour les équipes métier.</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155680" y="6400800"/>
            <a:ext cx="548640" cy="274320"/>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10</a:t>
            </a:r>
            <a:endParaRPr lang="en-US" sz="1000" dirty="0"/>
          </a:p>
        </p:txBody>
      </p:sp>
      <p:sp>
        <p:nvSpPr>
          <p:cNvPr id="3" name="Text 1"/>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Modélisation : le schéma en étoile</a:t>
            </a:r>
            <a:endParaRPr lang="en-US" sz="3200" dirty="0"/>
          </a:p>
        </p:txBody>
      </p:sp>
      <p:sp>
        <p:nvSpPr>
          <p:cNvPr id="4" name="Text 2"/>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500" i="1" dirty="0">
                <a:solidFill>
                  <a:srgbClr val="5B6B7F"/>
                </a:solidFill>
                <a:latin typeface="Calibri" pitchFamily="34" charset="0"/>
                <a:ea typeface="Calibri" pitchFamily="34" charset="-122"/>
                <a:cs typeface="Calibri" pitchFamily="34" charset="-120"/>
              </a:rPr>
              <a:t>Proposé par Ralph Kimball, standard de la BI</a:t>
            </a:r>
            <a:endParaRPr lang="en-US" sz="1500" dirty="0"/>
          </a:p>
        </p:txBody>
      </p:sp>
      <p:sp>
        <p:nvSpPr>
          <p:cNvPr id="5" name="Shape 3"/>
          <p:cNvSpPr/>
          <p:nvPr/>
        </p:nvSpPr>
        <p:spPr>
          <a:xfrm>
            <a:off x="1737360" y="2194560"/>
            <a:ext cx="1828800" cy="1600200"/>
          </a:xfrm>
          <a:prstGeom prst="line">
            <a:avLst/>
          </a:prstGeom>
          <a:noFill/>
          <a:ln w="19050">
            <a:solidFill>
              <a:srgbClr val="94A3B8"/>
            </a:solidFill>
            <a:prstDash val="solid"/>
          </a:ln>
        </p:spPr>
      </p:sp>
      <p:sp>
        <p:nvSpPr>
          <p:cNvPr id="6" name="Shape 4"/>
          <p:cNvSpPr/>
          <p:nvPr/>
        </p:nvSpPr>
        <p:spPr>
          <a:xfrm flipV="1">
            <a:off x="3566160" y="2194560"/>
            <a:ext cx="1828800" cy="1600200"/>
          </a:xfrm>
          <a:prstGeom prst="line">
            <a:avLst/>
          </a:prstGeom>
          <a:noFill/>
          <a:ln w="19050">
            <a:solidFill>
              <a:srgbClr val="94A3B8"/>
            </a:solidFill>
            <a:prstDash val="solid"/>
          </a:ln>
        </p:spPr>
      </p:sp>
      <p:sp>
        <p:nvSpPr>
          <p:cNvPr id="7" name="Shape 5"/>
          <p:cNvSpPr/>
          <p:nvPr/>
        </p:nvSpPr>
        <p:spPr>
          <a:xfrm flipV="1">
            <a:off x="1737360" y="3794760"/>
            <a:ext cx="1828800" cy="1874520"/>
          </a:xfrm>
          <a:prstGeom prst="line">
            <a:avLst/>
          </a:prstGeom>
          <a:noFill/>
          <a:ln w="19050">
            <a:solidFill>
              <a:srgbClr val="94A3B8"/>
            </a:solidFill>
            <a:prstDash val="solid"/>
          </a:ln>
        </p:spPr>
      </p:sp>
      <p:sp>
        <p:nvSpPr>
          <p:cNvPr id="8" name="Shape 6"/>
          <p:cNvSpPr/>
          <p:nvPr/>
        </p:nvSpPr>
        <p:spPr>
          <a:xfrm>
            <a:off x="3566160" y="3794760"/>
            <a:ext cx="1828800" cy="1874520"/>
          </a:xfrm>
          <a:prstGeom prst="line">
            <a:avLst/>
          </a:prstGeom>
          <a:noFill/>
          <a:ln w="19050">
            <a:solidFill>
              <a:srgbClr val="94A3B8"/>
            </a:solidFill>
            <a:prstDash val="solid"/>
          </a:ln>
        </p:spPr>
      </p:sp>
      <p:sp>
        <p:nvSpPr>
          <p:cNvPr id="9" name="Shape 7"/>
          <p:cNvSpPr/>
          <p:nvPr/>
        </p:nvSpPr>
        <p:spPr>
          <a:xfrm>
            <a:off x="868680" y="1920240"/>
            <a:ext cx="1737360" cy="548640"/>
          </a:xfrm>
          <a:prstGeom prst="roundRect">
            <a:avLst>
              <a:gd name="adj" fmla="val 13333"/>
            </a:avLst>
          </a:prstGeom>
          <a:solidFill>
            <a:srgbClr val="DCEBF0"/>
          </a:solidFill>
          <a:ln w="12700">
            <a:solidFill>
              <a:srgbClr val="1B998B"/>
            </a:solidFill>
            <a:prstDash val="solid"/>
          </a:ln>
        </p:spPr>
      </p:sp>
      <p:sp>
        <p:nvSpPr>
          <p:cNvPr id="10" name="Text 8"/>
          <p:cNvSpPr txBox="1"/>
          <p:nvPr/>
        </p:nvSpPr>
        <p:spPr>
          <a:xfrm>
            <a:off x="868680" y="1920240"/>
            <a:ext cx="1737360" cy="548640"/>
          </a:xfrm>
          <a:prstGeom prst="rect">
            <a:avLst/>
          </a:prstGeom>
          <a:noFill/>
          <a:ln/>
        </p:spPr>
        <p:txBody>
          <a:bodyPr wrap="square" lIns="0" tIns="0" rIns="0" bIns="0" rtlCol="0" anchor="ctr"/>
          <a:lstStyle/>
          <a:p>
            <a:pPr marL="0" indent="0" algn="ctr">
              <a:buNone/>
            </a:pPr>
            <a:r>
              <a:rPr lang="en-US" sz="1300" b="1" dirty="0">
                <a:solidFill>
                  <a:srgbClr val="0B2545"/>
                </a:solidFill>
                <a:latin typeface="Calibri" pitchFamily="34" charset="0"/>
                <a:ea typeface="Calibri" pitchFamily="34" charset="-122"/>
                <a:cs typeface="Calibri" pitchFamily="34" charset="-120"/>
              </a:rPr>
              <a:t>dim_client</a:t>
            </a:r>
            <a:endParaRPr lang="en-US" sz="1300" dirty="0"/>
          </a:p>
        </p:txBody>
      </p:sp>
      <p:sp>
        <p:nvSpPr>
          <p:cNvPr id="11" name="Shape 9"/>
          <p:cNvSpPr/>
          <p:nvPr/>
        </p:nvSpPr>
        <p:spPr>
          <a:xfrm>
            <a:off x="4526280" y="1920240"/>
            <a:ext cx="1737360" cy="548640"/>
          </a:xfrm>
          <a:prstGeom prst="roundRect">
            <a:avLst>
              <a:gd name="adj" fmla="val 13333"/>
            </a:avLst>
          </a:prstGeom>
          <a:solidFill>
            <a:srgbClr val="DCEBF0"/>
          </a:solidFill>
          <a:ln w="12700">
            <a:solidFill>
              <a:srgbClr val="1B998B"/>
            </a:solidFill>
            <a:prstDash val="solid"/>
          </a:ln>
        </p:spPr>
      </p:sp>
      <p:sp>
        <p:nvSpPr>
          <p:cNvPr id="12" name="Text 10"/>
          <p:cNvSpPr txBox="1"/>
          <p:nvPr/>
        </p:nvSpPr>
        <p:spPr>
          <a:xfrm>
            <a:off x="4526280" y="1920240"/>
            <a:ext cx="1737360" cy="548640"/>
          </a:xfrm>
          <a:prstGeom prst="rect">
            <a:avLst/>
          </a:prstGeom>
          <a:noFill/>
          <a:ln/>
        </p:spPr>
        <p:txBody>
          <a:bodyPr wrap="square" lIns="0" tIns="0" rIns="0" bIns="0" rtlCol="0" anchor="ctr"/>
          <a:lstStyle/>
          <a:p>
            <a:pPr marL="0" indent="0" algn="ctr">
              <a:buNone/>
            </a:pPr>
            <a:r>
              <a:rPr lang="en-US" sz="1300" b="1" dirty="0">
                <a:solidFill>
                  <a:srgbClr val="0B2545"/>
                </a:solidFill>
                <a:latin typeface="Calibri" pitchFamily="34" charset="0"/>
                <a:ea typeface="Calibri" pitchFamily="34" charset="-122"/>
                <a:cs typeface="Calibri" pitchFamily="34" charset="-120"/>
              </a:rPr>
              <a:t>dim_produit</a:t>
            </a:r>
            <a:endParaRPr lang="en-US" sz="1300" dirty="0"/>
          </a:p>
        </p:txBody>
      </p:sp>
      <p:sp>
        <p:nvSpPr>
          <p:cNvPr id="13" name="Shape 11"/>
          <p:cNvSpPr/>
          <p:nvPr/>
        </p:nvSpPr>
        <p:spPr>
          <a:xfrm>
            <a:off x="868680" y="5394960"/>
            <a:ext cx="1737360" cy="548640"/>
          </a:xfrm>
          <a:prstGeom prst="roundRect">
            <a:avLst>
              <a:gd name="adj" fmla="val 13333"/>
            </a:avLst>
          </a:prstGeom>
          <a:solidFill>
            <a:srgbClr val="DCEBF0"/>
          </a:solidFill>
          <a:ln w="12700">
            <a:solidFill>
              <a:srgbClr val="1B998B"/>
            </a:solidFill>
            <a:prstDash val="solid"/>
          </a:ln>
        </p:spPr>
      </p:sp>
      <p:sp>
        <p:nvSpPr>
          <p:cNvPr id="14" name="Text 12"/>
          <p:cNvSpPr txBox="1"/>
          <p:nvPr/>
        </p:nvSpPr>
        <p:spPr>
          <a:xfrm>
            <a:off x="868680" y="5394960"/>
            <a:ext cx="1737360" cy="548640"/>
          </a:xfrm>
          <a:prstGeom prst="rect">
            <a:avLst/>
          </a:prstGeom>
          <a:noFill/>
          <a:ln/>
        </p:spPr>
        <p:txBody>
          <a:bodyPr wrap="square" lIns="0" tIns="0" rIns="0" bIns="0" rtlCol="0" anchor="ctr"/>
          <a:lstStyle/>
          <a:p>
            <a:pPr marL="0" indent="0" algn="ctr">
              <a:buNone/>
            </a:pPr>
            <a:r>
              <a:rPr lang="en-US" sz="1300" b="1" dirty="0">
                <a:solidFill>
                  <a:srgbClr val="0B2545"/>
                </a:solidFill>
                <a:latin typeface="Calibri" pitchFamily="34" charset="0"/>
                <a:ea typeface="Calibri" pitchFamily="34" charset="-122"/>
                <a:cs typeface="Calibri" pitchFamily="34" charset="-120"/>
              </a:rPr>
              <a:t>dim_date</a:t>
            </a:r>
            <a:endParaRPr lang="en-US" sz="1300" dirty="0"/>
          </a:p>
        </p:txBody>
      </p:sp>
      <p:sp>
        <p:nvSpPr>
          <p:cNvPr id="15" name="Shape 13"/>
          <p:cNvSpPr/>
          <p:nvPr/>
        </p:nvSpPr>
        <p:spPr>
          <a:xfrm>
            <a:off x="4526280" y="5394960"/>
            <a:ext cx="1737360" cy="548640"/>
          </a:xfrm>
          <a:prstGeom prst="roundRect">
            <a:avLst>
              <a:gd name="adj" fmla="val 13333"/>
            </a:avLst>
          </a:prstGeom>
          <a:solidFill>
            <a:srgbClr val="DCEBF0"/>
          </a:solidFill>
          <a:ln w="12700">
            <a:solidFill>
              <a:srgbClr val="1B998B"/>
            </a:solidFill>
            <a:prstDash val="solid"/>
          </a:ln>
        </p:spPr>
      </p:sp>
      <p:sp>
        <p:nvSpPr>
          <p:cNvPr id="16" name="Text 14"/>
          <p:cNvSpPr txBox="1"/>
          <p:nvPr/>
        </p:nvSpPr>
        <p:spPr>
          <a:xfrm>
            <a:off x="4526280" y="5394960"/>
            <a:ext cx="1737360" cy="548640"/>
          </a:xfrm>
          <a:prstGeom prst="rect">
            <a:avLst/>
          </a:prstGeom>
          <a:noFill/>
          <a:ln/>
        </p:spPr>
        <p:txBody>
          <a:bodyPr wrap="square" lIns="0" tIns="0" rIns="0" bIns="0" rtlCol="0" anchor="ctr"/>
          <a:lstStyle/>
          <a:p>
            <a:pPr marL="0" indent="0" algn="ctr">
              <a:buNone/>
            </a:pPr>
            <a:r>
              <a:rPr lang="en-US" sz="1300" b="1" dirty="0">
                <a:solidFill>
                  <a:srgbClr val="0B2545"/>
                </a:solidFill>
                <a:latin typeface="Calibri" pitchFamily="34" charset="0"/>
                <a:ea typeface="Calibri" pitchFamily="34" charset="-122"/>
                <a:cs typeface="Calibri" pitchFamily="34" charset="-120"/>
              </a:rPr>
              <a:t>dim_magasin</a:t>
            </a:r>
            <a:endParaRPr lang="en-US" sz="1300" dirty="0"/>
          </a:p>
        </p:txBody>
      </p:sp>
      <p:sp>
        <p:nvSpPr>
          <p:cNvPr id="17" name="Shape 15"/>
          <p:cNvSpPr/>
          <p:nvPr/>
        </p:nvSpPr>
        <p:spPr>
          <a:xfrm>
            <a:off x="2423160" y="3246120"/>
            <a:ext cx="2286000" cy="1097280"/>
          </a:xfrm>
          <a:prstGeom prst="roundRect">
            <a:avLst>
              <a:gd name="adj" fmla="val 8333"/>
            </a:avLst>
          </a:prstGeom>
          <a:solidFill>
            <a:srgbClr val="0B2545"/>
          </a:solidFill>
          <a:ln w="12700">
            <a:solidFill>
              <a:srgbClr val="0B2545"/>
            </a:solidFill>
            <a:prstDash val="solid"/>
          </a:ln>
        </p:spPr>
      </p:sp>
      <p:sp>
        <p:nvSpPr>
          <p:cNvPr id="18" name="Text 16"/>
          <p:cNvSpPr txBox="1"/>
          <p:nvPr/>
        </p:nvSpPr>
        <p:spPr>
          <a:xfrm>
            <a:off x="2423160" y="3246120"/>
            <a:ext cx="2286000" cy="10972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fact_ventes</a:t>
            </a:r>
            <a:endParaRPr lang="en-US" sz="1600" dirty="0"/>
          </a:p>
          <a:p>
            <a:pPr marL="0" indent="0" algn="ctr">
              <a:buNone/>
            </a:pPr>
            <a:r>
              <a:rPr lang="en-US" sz="1200" dirty="0">
                <a:solidFill>
                  <a:srgbClr val="FFFFFF"/>
                </a:solidFill>
                <a:latin typeface="Calibri" pitchFamily="34" charset="0"/>
                <a:ea typeface="Calibri" pitchFamily="34" charset="-122"/>
                <a:cs typeface="Calibri" pitchFamily="34" charset="-120"/>
              </a:rPr>
              <a:t>quantité, montant HT</a:t>
            </a:r>
            <a:endParaRPr lang="en-US" sz="1600" dirty="0"/>
          </a:p>
        </p:txBody>
      </p:sp>
      <p:sp>
        <p:nvSpPr>
          <p:cNvPr id="19" name="Shape 17"/>
          <p:cNvSpPr/>
          <p:nvPr/>
        </p:nvSpPr>
        <p:spPr>
          <a:xfrm>
            <a:off x="6766560" y="1645920"/>
            <a:ext cx="4846320" cy="1234440"/>
          </a:xfrm>
          <a:prstGeom prst="roundRect">
            <a:avLst>
              <a:gd name="adj" fmla="val 7407"/>
            </a:avLst>
          </a:prstGeom>
          <a:solidFill>
            <a:srgbClr val="F1F6F8"/>
          </a:solidFill>
          <a:ln w="12700">
            <a:solidFill>
              <a:srgbClr val="F1F6F8"/>
            </a:solidFill>
            <a:prstDash val="solid"/>
          </a:ln>
        </p:spPr>
      </p:sp>
      <p:sp>
        <p:nvSpPr>
          <p:cNvPr id="20" name="Text 18"/>
          <p:cNvSpPr txBox="1"/>
          <p:nvPr/>
        </p:nvSpPr>
        <p:spPr>
          <a:xfrm>
            <a:off x="6995160" y="1783080"/>
            <a:ext cx="4480560" cy="365760"/>
          </a:xfrm>
          <a:prstGeom prst="rect">
            <a:avLst/>
          </a:prstGeom>
          <a:noFill/>
          <a:ln/>
        </p:spPr>
        <p:txBody>
          <a:bodyPr wrap="square" lIns="0" tIns="0" rIns="0" bIns="0" rtlCol="0" anchor="ctr"/>
          <a:lstStyle/>
          <a:p>
            <a:pPr marL="0" indent="0">
              <a:buNone/>
            </a:pPr>
            <a:r>
              <a:rPr lang="en-US" sz="1600" b="1" dirty="0">
                <a:solidFill>
                  <a:srgbClr val="1B998B"/>
                </a:solidFill>
                <a:latin typeface="Calibri" pitchFamily="34" charset="0"/>
                <a:ea typeface="Calibri" pitchFamily="34" charset="-122"/>
                <a:cs typeface="Calibri" pitchFamily="34" charset="-120"/>
              </a:rPr>
              <a:t>Table de faits</a:t>
            </a:r>
            <a:endParaRPr lang="en-US" sz="1600" dirty="0"/>
          </a:p>
        </p:txBody>
      </p:sp>
      <p:sp>
        <p:nvSpPr>
          <p:cNvPr id="21" name="Text 19"/>
          <p:cNvSpPr txBox="1"/>
          <p:nvPr/>
        </p:nvSpPr>
        <p:spPr>
          <a:xfrm>
            <a:off x="6995160" y="2148840"/>
            <a:ext cx="4480560" cy="640080"/>
          </a:xfrm>
          <a:prstGeom prst="rect">
            <a:avLst/>
          </a:prstGeom>
          <a:noFill/>
          <a:ln/>
        </p:spPr>
        <p:txBody>
          <a:bodyPr wrap="square" lIns="0" tIns="0" rIns="0" bIns="0" rtlCol="0" anchor="t"/>
          <a:lstStyle/>
          <a:p>
            <a:pPr marL="0" indent="0">
              <a:buNone/>
            </a:pPr>
            <a:r>
              <a:rPr lang="en-US" sz="1350" dirty="0">
                <a:solidFill>
                  <a:srgbClr val="1E293B"/>
                </a:solidFill>
                <a:latin typeface="Calibri" pitchFamily="34" charset="0"/>
                <a:ea typeface="Calibri" pitchFamily="34" charset="-122"/>
                <a:cs typeface="Calibri" pitchFamily="34" charset="-120"/>
              </a:rPr>
              <a:t>Les événements mesurables : une ligne par vente, avec des clés et des mesures numériques.</a:t>
            </a:r>
            <a:endParaRPr lang="en-US" sz="1350" dirty="0"/>
          </a:p>
        </p:txBody>
      </p:sp>
      <p:sp>
        <p:nvSpPr>
          <p:cNvPr id="22" name="Shape 20"/>
          <p:cNvSpPr/>
          <p:nvPr/>
        </p:nvSpPr>
        <p:spPr>
          <a:xfrm>
            <a:off x="6766560" y="3063240"/>
            <a:ext cx="4846320" cy="1234440"/>
          </a:xfrm>
          <a:prstGeom prst="roundRect">
            <a:avLst>
              <a:gd name="adj" fmla="val 7407"/>
            </a:avLst>
          </a:prstGeom>
          <a:solidFill>
            <a:srgbClr val="F1F6F8"/>
          </a:solidFill>
          <a:ln w="12700">
            <a:solidFill>
              <a:srgbClr val="F1F6F8"/>
            </a:solidFill>
            <a:prstDash val="solid"/>
          </a:ln>
        </p:spPr>
      </p:sp>
      <p:sp>
        <p:nvSpPr>
          <p:cNvPr id="23" name="Text 21"/>
          <p:cNvSpPr txBox="1"/>
          <p:nvPr/>
        </p:nvSpPr>
        <p:spPr>
          <a:xfrm>
            <a:off x="6995160" y="3200400"/>
            <a:ext cx="4480560" cy="365760"/>
          </a:xfrm>
          <a:prstGeom prst="rect">
            <a:avLst/>
          </a:prstGeom>
          <a:noFill/>
          <a:ln/>
        </p:spPr>
        <p:txBody>
          <a:bodyPr wrap="square" lIns="0" tIns="0" rIns="0" bIns="0" rtlCol="0" anchor="ctr"/>
          <a:lstStyle/>
          <a:p>
            <a:pPr marL="0" indent="0">
              <a:buNone/>
            </a:pPr>
            <a:r>
              <a:rPr lang="en-US" sz="1600" b="1" dirty="0">
                <a:solidFill>
                  <a:srgbClr val="1B998B"/>
                </a:solidFill>
                <a:latin typeface="Calibri" pitchFamily="34" charset="0"/>
                <a:ea typeface="Calibri" pitchFamily="34" charset="-122"/>
                <a:cs typeface="Calibri" pitchFamily="34" charset="-120"/>
              </a:rPr>
              <a:t>Tables de dimensions</a:t>
            </a:r>
            <a:endParaRPr lang="en-US" sz="1600" dirty="0"/>
          </a:p>
        </p:txBody>
      </p:sp>
      <p:sp>
        <p:nvSpPr>
          <p:cNvPr id="24" name="Text 22"/>
          <p:cNvSpPr txBox="1"/>
          <p:nvPr/>
        </p:nvSpPr>
        <p:spPr>
          <a:xfrm>
            <a:off x="6995160" y="3566160"/>
            <a:ext cx="4480560" cy="640080"/>
          </a:xfrm>
          <a:prstGeom prst="rect">
            <a:avLst/>
          </a:prstGeom>
          <a:noFill/>
          <a:ln/>
        </p:spPr>
        <p:txBody>
          <a:bodyPr wrap="square" lIns="0" tIns="0" rIns="0" bIns="0" rtlCol="0" anchor="t"/>
          <a:lstStyle/>
          <a:p>
            <a:pPr marL="0" indent="0">
              <a:buNone/>
            </a:pPr>
            <a:r>
              <a:rPr lang="en-US" sz="1350" dirty="0">
                <a:solidFill>
                  <a:srgbClr val="1E293B"/>
                </a:solidFill>
                <a:latin typeface="Calibri" pitchFamily="34" charset="0"/>
                <a:ea typeface="Calibri" pitchFamily="34" charset="-122"/>
                <a:cs typeface="Calibri" pitchFamily="34" charset="-120"/>
              </a:rPr>
              <a:t>Le contexte : qui, quoi, quand, où. Elles servent à filtrer et regrouper.</a:t>
            </a:r>
            <a:endParaRPr lang="en-US" sz="1350" dirty="0"/>
          </a:p>
        </p:txBody>
      </p:sp>
      <p:sp>
        <p:nvSpPr>
          <p:cNvPr id="25" name="Shape 23"/>
          <p:cNvSpPr/>
          <p:nvPr/>
        </p:nvSpPr>
        <p:spPr>
          <a:xfrm>
            <a:off x="6766560" y="4480560"/>
            <a:ext cx="4846320" cy="1234440"/>
          </a:xfrm>
          <a:prstGeom prst="roundRect">
            <a:avLst>
              <a:gd name="adj" fmla="val 7407"/>
            </a:avLst>
          </a:prstGeom>
          <a:solidFill>
            <a:srgbClr val="F1F6F8"/>
          </a:solidFill>
          <a:ln w="12700">
            <a:solidFill>
              <a:srgbClr val="F1F6F8"/>
            </a:solidFill>
            <a:prstDash val="solid"/>
          </a:ln>
        </p:spPr>
      </p:sp>
      <p:sp>
        <p:nvSpPr>
          <p:cNvPr id="26" name="Text 24"/>
          <p:cNvSpPr txBox="1"/>
          <p:nvPr/>
        </p:nvSpPr>
        <p:spPr>
          <a:xfrm>
            <a:off x="6995160" y="4617720"/>
            <a:ext cx="4480560" cy="365760"/>
          </a:xfrm>
          <a:prstGeom prst="rect">
            <a:avLst/>
          </a:prstGeom>
          <a:noFill/>
          <a:ln/>
        </p:spPr>
        <p:txBody>
          <a:bodyPr wrap="square" lIns="0" tIns="0" rIns="0" bIns="0" rtlCol="0" anchor="ctr"/>
          <a:lstStyle/>
          <a:p>
            <a:pPr marL="0" indent="0">
              <a:buNone/>
            </a:pPr>
            <a:r>
              <a:rPr lang="en-US" sz="1600" b="1" dirty="0">
                <a:solidFill>
                  <a:srgbClr val="1B998B"/>
                </a:solidFill>
                <a:latin typeface="Calibri" pitchFamily="34" charset="0"/>
                <a:ea typeface="Calibri" pitchFamily="34" charset="-122"/>
                <a:cs typeface="Calibri" pitchFamily="34" charset="-120"/>
              </a:rPr>
              <a:t>Granularité</a:t>
            </a:r>
            <a:endParaRPr lang="en-US" sz="1600" dirty="0"/>
          </a:p>
        </p:txBody>
      </p:sp>
      <p:sp>
        <p:nvSpPr>
          <p:cNvPr id="27" name="Text 25"/>
          <p:cNvSpPr txBox="1"/>
          <p:nvPr/>
        </p:nvSpPr>
        <p:spPr>
          <a:xfrm>
            <a:off x="6995160" y="4983480"/>
            <a:ext cx="4480560" cy="640080"/>
          </a:xfrm>
          <a:prstGeom prst="rect">
            <a:avLst/>
          </a:prstGeom>
          <a:noFill/>
          <a:ln/>
        </p:spPr>
        <p:txBody>
          <a:bodyPr wrap="square" lIns="0" tIns="0" rIns="0" bIns="0" rtlCol="0" anchor="t"/>
          <a:lstStyle/>
          <a:p>
            <a:pPr marL="0" indent="0">
              <a:buNone/>
            </a:pPr>
            <a:r>
              <a:rPr lang="en-US" sz="1350" dirty="0">
                <a:solidFill>
                  <a:srgbClr val="1E293B"/>
                </a:solidFill>
                <a:latin typeface="Calibri" pitchFamily="34" charset="0"/>
                <a:ea typeface="Calibri" pitchFamily="34" charset="-122"/>
                <a:cs typeface="Calibri" pitchFamily="34" charset="-120"/>
              </a:rPr>
              <a:t>Le niveau de détail d'une ligne de faits : à définir en premier.</a:t>
            </a:r>
            <a:endParaRPr lang="en-US" sz="135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155680" y="6400800"/>
            <a:ext cx="548640" cy="274320"/>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11</a:t>
            </a:r>
            <a:endParaRPr lang="en-US" sz="1000" dirty="0"/>
          </a:p>
        </p:txBody>
      </p:sp>
      <p:sp>
        <p:nvSpPr>
          <p:cNvPr id="3" name="Text 1"/>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Usages, forces et limites du data warehouse</a:t>
            </a:r>
            <a:endParaRPr lang="en-US" sz="3200" dirty="0"/>
          </a:p>
        </p:txBody>
      </p:sp>
      <p:sp>
        <p:nvSpPr>
          <p:cNvPr id="4" name="Shape 2"/>
          <p:cNvSpPr/>
          <p:nvPr/>
        </p:nvSpPr>
        <p:spPr>
          <a:xfrm>
            <a:off x="2194560" y="1188720"/>
            <a:ext cx="7772400" cy="3017520"/>
          </a:xfrm>
          <a:prstGeom prst="roundRect">
            <a:avLst>
              <a:gd name="adj" fmla="val 3636"/>
            </a:avLst>
          </a:prstGeom>
          <a:solidFill>
            <a:srgbClr val="FFFFFF"/>
          </a:solidFill>
          <a:ln w="9525">
            <a:solidFill>
              <a:srgbClr val="E2E8F0"/>
            </a:solidFill>
            <a:prstDash val="solid"/>
          </a:ln>
          <a:effectLst>
            <a:outerShdw blurRad="101600" dist="25400" dir="5400000" algn="bl" rotWithShape="0">
              <a:srgbClr val="000000">
                <a:alpha val="15000"/>
              </a:srgbClr>
            </a:outerShdw>
          </a:effectLst>
        </p:spPr>
      </p:sp>
      <p:pic>
        <p:nvPicPr>
          <p:cNvPr id="5" name="Image 0" descr="/home/claude/deck/img/struc.png"/>
          <p:cNvPicPr>
            <a:picLocks noChangeAspect="1"/>
          </p:cNvPicPr>
          <p:nvPr/>
        </p:nvPicPr>
        <p:blipFill>
          <a:blip r:embed="rId3"/>
          <a:stretch>
            <a:fillRect/>
          </a:stretch>
        </p:blipFill>
        <p:spPr>
          <a:xfrm>
            <a:off x="2535439" y="1298448"/>
            <a:ext cx="7090643" cy="2798064"/>
          </a:xfrm>
          <a:prstGeom prst="rect">
            <a:avLst/>
          </a:prstGeom>
        </p:spPr>
      </p:pic>
      <p:sp>
        <p:nvSpPr>
          <p:cNvPr id="6" name="Shape 3"/>
          <p:cNvSpPr/>
          <p:nvPr/>
        </p:nvSpPr>
        <p:spPr>
          <a:xfrm>
            <a:off x="548640" y="4434840"/>
            <a:ext cx="5349240" cy="1874520"/>
          </a:xfrm>
          <a:prstGeom prst="roundRect">
            <a:avLst>
              <a:gd name="adj" fmla="val 4878"/>
            </a:avLst>
          </a:prstGeom>
          <a:solidFill>
            <a:srgbClr val="F1F6F8"/>
          </a:solidFill>
          <a:ln w="12700">
            <a:solidFill>
              <a:srgbClr val="F1F6F8"/>
            </a:solidFill>
            <a:prstDash val="solid"/>
          </a:ln>
        </p:spPr>
      </p:sp>
      <p:sp>
        <p:nvSpPr>
          <p:cNvPr id="7" name="Text 4"/>
          <p:cNvSpPr txBox="1"/>
          <p:nvPr/>
        </p:nvSpPr>
        <p:spPr>
          <a:xfrm>
            <a:off x="822960" y="4526280"/>
            <a:ext cx="4846320" cy="411480"/>
          </a:xfrm>
          <a:prstGeom prst="rect">
            <a:avLst/>
          </a:prstGeom>
          <a:noFill/>
          <a:ln/>
        </p:spPr>
        <p:txBody>
          <a:bodyPr wrap="square" lIns="0" tIns="0" rIns="0" bIns="0" rtlCol="0" anchor="ctr"/>
          <a:lstStyle/>
          <a:p>
            <a:pPr marL="0" indent="0">
              <a:buNone/>
            </a:pPr>
            <a:r>
              <a:rPr lang="en-US" sz="1800" b="1" dirty="0">
                <a:solidFill>
                  <a:srgbClr val="1B998B"/>
                </a:solidFill>
                <a:latin typeface="Cambria" pitchFamily="34" charset="0"/>
                <a:ea typeface="Cambria" pitchFamily="34" charset="-122"/>
                <a:cs typeface="Cambria" pitchFamily="34" charset="-120"/>
              </a:rPr>
              <a:t>Forces</a:t>
            </a:r>
            <a:endParaRPr lang="en-US" sz="1800" dirty="0"/>
          </a:p>
        </p:txBody>
      </p:sp>
      <p:sp>
        <p:nvSpPr>
          <p:cNvPr id="8" name="Text 5"/>
          <p:cNvSpPr txBox="1"/>
          <p:nvPr/>
        </p:nvSpPr>
        <p:spPr>
          <a:xfrm>
            <a:off x="822960" y="4937760"/>
            <a:ext cx="4892040" cy="1325880"/>
          </a:xfrm>
          <a:prstGeom prst="rect">
            <a:avLst/>
          </a:prstGeom>
          <a:noFill/>
          <a:ln/>
        </p:spPr>
        <p:txBody>
          <a:bodyPr wrap="square" rtlCol="0" anchor="t"/>
          <a:lstStyle/>
          <a:p>
            <a:pPr marL="342900" indent="-342900">
              <a:spcAft>
                <a:spcPts val="400"/>
              </a:spcAft>
              <a:buSzPct val="100000"/>
              <a:buChar char="•"/>
            </a:pPr>
            <a:r>
              <a:rPr lang="en-US" sz="1550" dirty="0">
                <a:solidFill>
                  <a:srgbClr val="1E293B"/>
                </a:solidFill>
                <a:latin typeface="Calibri" pitchFamily="34" charset="0"/>
                <a:ea typeface="Calibri" pitchFamily="34" charset="-122"/>
                <a:cs typeface="Calibri" pitchFamily="34" charset="-120"/>
              </a:rPr>
              <a:t>Données fiables, cohérentes et gouvernées</a:t>
            </a:r>
            <a:endParaRPr lang="en-US" sz="1550" dirty="0"/>
          </a:p>
          <a:p>
            <a:pPr marL="342900" indent="-342900">
              <a:spcAft>
                <a:spcPts val="400"/>
              </a:spcAft>
              <a:buSzPct val="100000"/>
              <a:buChar char="•"/>
            </a:pPr>
            <a:r>
              <a:rPr lang="en-US" sz="1550" dirty="0">
                <a:solidFill>
                  <a:srgbClr val="1E293B"/>
                </a:solidFill>
                <a:latin typeface="Calibri" pitchFamily="34" charset="0"/>
                <a:ea typeface="Calibri" pitchFamily="34" charset="-122"/>
                <a:cs typeface="Calibri" pitchFamily="34" charset="-120"/>
              </a:rPr>
              <a:t>SQL très performant pour la BI et le reporting</a:t>
            </a:r>
            <a:endParaRPr lang="en-US" sz="1550" dirty="0"/>
          </a:p>
          <a:p>
            <a:pPr marL="342900" indent="-342900">
              <a:spcAft>
                <a:spcPts val="400"/>
              </a:spcAft>
              <a:buSzPct val="100000"/>
              <a:buChar char="•"/>
            </a:pPr>
            <a:r>
              <a:rPr lang="en-US" sz="1550" dirty="0">
                <a:solidFill>
                  <a:srgbClr val="1E293B"/>
                </a:solidFill>
                <a:latin typeface="Calibri" pitchFamily="34" charset="0"/>
                <a:ea typeface="Calibri" pitchFamily="34" charset="-122"/>
                <a:cs typeface="Calibri" pitchFamily="34" charset="-120"/>
              </a:rPr>
              <a:t>Outils et pratiques matures</a:t>
            </a:r>
            <a:endParaRPr lang="en-US" sz="1550" dirty="0"/>
          </a:p>
        </p:txBody>
      </p:sp>
      <p:sp>
        <p:nvSpPr>
          <p:cNvPr id="9" name="Shape 6"/>
          <p:cNvSpPr/>
          <p:nvPr/>
        </p:nvSpPr>
        <p:spPr>
          <a:xfrm>
            <a:off x="6263640" y="4434840"/>
            <a:ext cx="5349240" cy="1874520"/>
          </a:xfrm>
          <a:prstGeom prst="roundRect">
            <a:avLst>
              <a:gd name="adj" fmla="val 4878"/>
            </a:avLst>
          </a:prstGeom>
          <a:solidFill>
            <a:srgbClr val="F1F6F8"/>
          </a:solidFill>
          <a:ln w="12700">
            <a:solidFill>
              <a:srgbClr val="F1F6F8"/>
            </a:solidFill>
            <a:prstDash val="solid"/>
          </a:ln>
        </p:spPr>
      </p:sp>
      <p:sp>
        <p:nvSpPr>
          <p:cNvPr id="10" name="Text 7"/>
          <p:cNvSpPr txBox="1"/>
          <p:nvPr/>
        </p:nvSpPr>
        <p:spPr>
          <a:xfrm>
            <a:off x="6537960" y="4526280"/>
            <a:ext cx="4846320" cy="411480"/>
          </a:xfrm>
          <a:prstGeom prst="rect">
            <a:avLst/>
          </a:prstGeom>
          <a:noFill/>
          <a:ln/>
        </p:spPr>
        <p:txBody>
          <a:bodyPr wrap="square" lIns="0" tIns="0" rIns="0" bIns="0" rtlCol="0" anchor="ctr"/>
          <a:lstStyle/>
          <a:p>
            <a:pPr marL="0" indent="0">
              <a:buNone/>
            </a:pPr>
            <a:r>
              <a:rPr lang="en-US" sz="1800" b="1" dirty="0">
                <a:solidFill>
                  <a:srgbClr val="B7791F"/>
                </a:solidFill>
                <a:latin typeface="Cambria" pitchFamily="34" charset="0"/>
                <a:ea typeface="Cambria" pitchFamily="34" charset="-122"/>
                <a:cs typeface="Cambria" pitchFamily="34" charset="-120"/>
              </a:rPr>
              <a:t>Limites</a:t>
            </a:r>
            <a:endParaRPr lang="en-US" sz="1800" dirty="0"/>
          </a:p>
        </p:txBody>
      </p:sp>
      <p:sp>
        <p:nvSpPr>
          <p:cNvPr id="11" name="Text 8"/>
          <p:cNvSpPr txBox="1"/>
          <p:nvPr/>
        </p:nvSpPr>
        <p:spPr>
          <a:xfrm>
            <a:off x="6537960" y="4937760"/>
            <a:ext cx="4892040" cy="1325880"/>
          </a:xfrm>
          <a:prstGeom prst="rect">
            <a:avLst/>
          </a:prstGeom>
          <a:noFill/>
          <a:ln/>
        </p:spPr>
        <p:txBody>
          <a:bodyPr wrap="square" rtlCol="0" anchor="t"/>
          <a:lstStyle/>
          <a:p>
            <a:pPr marL="342900" indent="-342900">
              <a:spcAft>
                <a:spcPts val="400"/>
              </a:spcAft>
              <a:buSzPct val="100000"/>
              <a:buChar char="•"/>
            </a:pPr>
            <a:r>
              <a:rPr lang="en-US" sz="1550" dirty="0">
                <a:solidFill>
                  <a:srgbClr val="1E293B"/>
                </a:solidFill>
                <a:latin typeface="Calibri" pitchFamily="34" charset="0"/>
                <a:ea typeface="Calibri" pitchFamily="34" charset="-122"/>
                <a:cs typeface="Calibri" pitchFamily="34" charset="-120"/>
              </a:rPr>
              <a:t>Coût élevé du stockage et des licences</a:t>
            </a:r>
            <a:endParaRPr lang="en-US" sz="1550" dirty="0"/>
          </a:p>
          <a:p>
            <a:pPr marL="342900" indent="-342900">
              <a:spcAft>
                <a:spcPts val="400"/>
              </a:spcAft>
              <a:buSzPct val="100000"/>
              <a:buChar char="•"/>
            </a:pPr>
            <a:r>
              <a:rPr lang="en-US" sz="1550" dirty="0">
                <a:solidFill>
                  <a:srgbClr val="1E293B"/>
                </a:solidFill>
                <a:latin typeface="Calibri" pitchFamily="34" charset="0"/>
                <a:ea typeface="Calibri" pitchFamily="34" charset="-122"/>
                <a:cs typeface="Calibri" pitchFamily="34" charset="-120"/>
              </a:rPr>
              <a:t>Données structurées uniquement, schéma rigide</a:t>
            </a:r>
            <a:endParaRPr lang="en-US" sz="1550" dirty="0"/>
          </a:p>
          <a:p>
            <a:pPr marL="342900" indent="-342900">
              <a:spcAft>
                <a:spcPts val="400"/>
              </a:spcAft>
              <a:buSzPct val="100000"/>
              <a:buChar char="•"/>
            </a:pPr>
            <a:r>
              <a:rPr lang="en-US" sz="1550" dirty="0">
                <a:solidFill>
                  <a:srgbClr val="1E293B"/>
                </a:solidFill>
                <a:latin typeface="Calibri" pitchFamily="34" charset="0"/>
                <a:ea typeface="Calibri" pitchFamily="34" charset="-122"/>
                <a:cs typeface="Calibri" pitchFamily="34" charset="-120"/>
              </a:rPr>
              <a:t>Peu adapté au machine learning et aux gros volumes bruts</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2545"/>
        </a:solidFill>
        <a:effectLst/>
      </p:bgPr>
    </p:bg>
    <p:spTree>
      <p:nvGrpSpPr>
        <p:cNvPr id="1" name=""/>
        <p:cNvGrpSpPr/>
        <p:nvPr/>
      </p:nvGrpSpPr>
      <p:grpSpPr>
        <a:xfrm>
          <a:off x="0" y="0"/>
          <a:ext cx="0" cy="0"/>
          <a:chOff x="0" y="0"/>
          <a:chExt cx="0" cy="0"/>
        </a:xfrm>
      </p:grpSpPr>
      <p:sp>
        <p:nvSpPr>
          <p:cNvPr id="2" name="Text 0"/>
          <p:cNvSpPr txBox="1"/>
          <p:nvPr/>
        </p:nvSpPr>
        <p:spPr>
          <a:xfrm>
            <a:off x="640080" y="1737360"/>
            <a:ext cx="2743200" cy="1280160"/>
          </a:xfrm>
          <a:prstGeom prst="rect">
            <a:avLst/>
          </a:prstGeom>
          <a:noFill/>
          <a:ln/>
        </p:spPr>
        <p:txBody>
          <a:bodyPr wrap="square" lIns="0" tIns="0" rIns="0" bIns="0" rtlCol="0" anchor="ctr"/>
          <a:lstStyle/>
          <a:p>
            <a:pPr marL="0" indent="0">
              <a:buNone/>
            </a:pPr>
            <a:r>
              <a:rPr lang="en-US" sz="8000" b="1" dirty="0">
                <a:solidFill>
                  <a:srgbClr val="F2A541"/>
                </a:solidFill>
                <a:latin typeface="Cambria" pitchFamily="34" charset="0"/>
                <a:ea typeface="Cambria" pitchFamily="34" charset="-122"/>
                <a:cs typeface="Cambria" pitchFamily="34" charset="-120"/>
              </a:rPr>
              <a:t>02</a:t>
            </a:r>
            <a:endParaRPr lang="en-US" sz="8000" dirty="0"/>
          </a:p>
        </p:txBody>
      </p:sp>
      <p:sp>
        <p:nvSpPr>
          <p:cNvPr id="3" name="Text 1"/>
          <p:cNvSpPr txBox="1"/>
          <p:nvPr/>
        </p:nvSpPr>
        <p:spPr>
          <a:xfrm>
            <a:off x="640080" y="3108960"/>
            <a:ext cx="10058400" cy="9144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Le Data Lake</a:t>
            </a:r>
            <a:endParaRPr lang="en-US" sz="4400" dirty="0"/>
          </a:p>
        </p:txBody>
      </p:sp>
      <p:sp>
        <p:nvSpPr>
          <p:cNvPr id="4" name="Text 2"/>
          <p:cNvSpPr txBox="1"/>
          <p:nvPr/>
        </p:nvSpPr>
        <p:spPr>
          <a:xfrm>
            <a:off x="640080" y="4069080"/>
            <a:ext cx="10058400" cy="548640"/>
          </a:xfrm>
          <a:prstGeom prst="rect">
            <a:avLst/>
          </a:prstGeom>
          <a:noFill/>
          <a:ln/>
        </p:spPr>
        <p:txBody>
          <a:bodyPr wrap="square" lIns="0" tIns="0" rIns="0" bIns="0" rtlCol="0" anchor="ctr"/>
          <a:lstStyle/>
          <a:p>
            <a:pPr marL="0" indent="0">
              <a:buNone/>
            </a:pPr>
            <a:r>
              <a:rPr lang="en-US" sz="2000" dirty="0">
                <a:solidFill>
                  <a:srgbClr val="DCEBF0"/>
                </a:solidFill>
                <a:latin typeface="Calibri" pitchFamily="34" charset="0"/>
                <a:ea typeface="Calibri" pitchFamily="34" charset="-122"/>
                <a:cs typeface="Calibri" pitchFamily="34" charset="-120"/>
              </a:rPr>
              <a:t>Stocker toutes les données, brutes, à faible coût</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155680" y="6400800"/>
            <a:ext cx="548640" cy="274320"/>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13</a:t>
            </a:r>
            <a:endParaRPr lang="en-US" sz="1000" dirty="0"/>
          </a:p>
        </p:txBody>
      </p:sp>
      <p:sp>
        <p:nvSpPr>
          <p:cNvPr id="3" name="Text 1"/>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Qu'est-ce qu'un data lake ?</a:t>
            </a:r>
            <a:endParaRPr lang="en-US" sz="3200" dirty="0"/>
          </a:p>
        </p:txBody>
      </p:sp>
      <p:sp>
        <p:nvSpPr>
          <p:cNvPr id="4" name="Text 2"/>
          <p:cNvSpPr txBox="1"/>
          <p:nvPr/>
        </p:nvSpPr>
        <p:spPr>
          <a:xfrm>
            <a:off x="548640" y="1234440"/>
            <a:ext cx="4846320" cy="1188720"/>
          </a:xfrm>
          <a:prstGeom prst="rect">
            <a:avLst/>
          </a:prstGeom>
          <a:noFill/>
          <a:ln/>
        </p:spPr>
        <p:txBody>
          <a:bodyPr wrap="square" lIns="0" tIns="0" rIns="0" bIns="0" rtlCol="0" anchor="t"/>
          <a:lstStyle/>
          <a:p>
            <a:pPr marL="0" indent="0">
              <a:buNone/>
            </a:pPr>
            <a:r>
              <a:rPr lang="en-US" sz="1600" dirty="0">
                <a:solidFill>
                  <a:srgbClr val="1E293B"/>
                </a:solidFill>
                <a:latin typeface="Calibri" pitchFamily="34" charset="0"/>
                <a:ea typeface="Calibri" pitchFamily="34" charset="-122"/>
                <a:cs typeface="Calibri" pitchFamily="34" charset="-120"/>
              </a:rPr>
              <a:t>Un espace de stockage qui conserve toutes les données de l'entreprise dans leur format d'origine, structurées ou non, à grande échelle et à faible coût.</a:t>
            </a:r>
            <a:endParaRPr lang="en-US" sz="1600" dirty="0"/>
          </a:p>
        </p:txBody>
      </p:sp>
      <p:sp>
        <p:nvSpPr>
          <p:cNvPr id="5" name="Shape 3"/>
          <p:cNvSpPr/>
          <p:nvPr/>
        </p:nvSpPr>
        <p:spPr>
          <a:xfrm>
            <a:off x="548640" y="2651760"/>
            <a:ext cx="502920" cy="502920"/>
          </a:xfrm>
          <a:prstGeom prst="ellipse">
            <a:avLst/>
          </a:prstGeom>
          <a:solidFill>
            <a:srgbClr val="1B998B"/>
          </a:solidFill>
          <a:ln w="12700">
            <a:solidFill>
              <a:srgbClr val="1B998B"/>
            </a:solidFill>
            <a:prstDash val="solid"/>
          </a:ln>
        </p:spPr>
      </p:sp>
      <p:pic>
        <p:nvPicPr>
          <p:cNvPr id="6" name="Image 0" descr="preencoded.png"/>
          <p:cNvPicPr>
            <a:picLocks noChangeAspect="1"/>
          </p:cNvPicPr>
          <p:nvPr/>
        </p:nvPicPr>
        <p:blipFill>
          <a:blip r:embed="rId3"/>
          <a:stretch>
            <a:fillRect/>
          </a:stretch>
        </p:blipFill>
        <p:spPr>
          <a:xfrm>
            <a:off x="674370" y="2777490"/>
            <a:ext cx="251460" cy="251460"/>
          </a:xfrm>
          <a:prstGeom prst="rect">
            <a:avLst/>
          </a:prstGeom>
        </p:spPr>
      </p:pic>
      <p:sp>
        <p:nvSpPr>
          <p:cNvPr id="7" name="Text 4"/>
          <p:cNvSpPr txBox="1"/>
          <p:nvPr/>
        </p:nvSpPr>
        <p:spPr>
          <a:xfrm>
            <a:off x="1234440" y="2606040"/>
            <a:ext cx="4206240" cy="347472"/>
          </a:xfrm>
          <a:prstGeom prst="rect">
            <a:avLst/>
          </a:prstGeom>
          <a:noFill/>
          <a:ln/>
        </p:spPr>
        <p:txBody>
          <a:bodyPr wrap="square" lIns="0" tIns="0" rIns="0" bIns="0" rtlCol="0" anchor="ctr"/>
          <a:lstStyle/>
          <a:p>
            <a:pPr marL="0" indent="0">
              <a:buNone/>
            </a:pPr>
            <a:r>
              <a:rPr lang="en-US" sz="1600" b="1" dirty="0">
                <a:solidFill>
                  <a:srgbClr val="0B2545"/>
                </a:solidFill>
                <a:latin typeface="Calibri" pitchFamily="34" charset="0"/>
                <a:ea typeface="Calibri" pitchFamily="34" charset="-122"/>
                <a:cs typeface="Calibri" pitchFamily="34" charset="-120"/>
              </a:rPr>
              <a:t>Schema-on-read</a:t>
            </a:r>
            <a:endParaRPr lang="en-US" sz="1600" dirty="0"/>
          </a:p>
        </p:txBody>
      </p:sp>
      <p:sp>
        <p:nvSpPr>
          <p:cNvPr id="8" name="Text 5"/>
          <p:cNvSpPr txBox="1"/>
          <p:nvPr/>
        </p:nvSpPr>
        <p:spPr>
          <a:xfrm>
            <a:off x="1234440" y="2953512"/>
            <a:ext cx="4206240" cy="411480"/>
          </a:xfrm>
          <a:prstGeom prst="rect">
            <a:avLst/>
          </a:prstGeom>
          <a:noFill/>
          <a:ln/>
        </p:spPr>
        <p:txBody>
          <a:bodyPr wrap="square" lIns="0" tIns="0" rIns="0" bIns="0" rtlCol="0" anchor="ctr"/>
          <a:lstStyle/>
          <a:p>
            <a:pPr marL="0" indent="0">
              <a:buNone/>
            </a:pPr>
            <a:r>
              <a:rPr lang="en-US" sz="1350" dirty="0">
                <a:solidFill>
                  <a:srgbClr val="5B6B7F"/>
                </a:solidFill>
                <a:latin typeface="Calibri" pitchFamily="34" charset="0"/>
                <a:ea typeface="Calibri" pitchFamily="34" charset="-122"/>
                <a:cs typeface="Calibri" pitchFamily="34" charset="-120"/>
              </a:rPr>
              <a:t>La structure est appliquée à la lecture, pas à l'écriture</a:t>
            </a:r>
            <a:endParaRPr lang="en-US" sz="1350" dirty="0"/>
          </a:p>
        </p:txBody>
      </p:sp>
      <p:sp>
        <p:nvSpPr>
          <p:cNvPr id="9" name="Shape 6"/>
          <p:cNvSpPr/>
          <p:nvPr/>
        </p:nvSpPr>
        <p:spPr>
          <a:xfrm>
            <a:off x="548640" y="3566160"/>
            <a:ext cx="502920" cy="502920"/>
          </a:xfrm>
          <a:prstGeom prst="ellipse">
            <a:avLst/>
          </a:prstGeom>
          <a:solidFill>
            <a:srgbClr val="1B998B"/>
          </a:solidFill>
          <a:ln w="12700">
            <a:solidFill>
              <a:srgbClr val="1B998B"/>
            </a:solidFill>
            <a:prstDash val="solid"/>
          </a:ln>
        </p:spPr>
      </p:sp>
      <p:pic>
        <p:nvPicPr>
          <p:cNvPr id="10" name="Image 1" descr="preencoded.png"/>
          <p:cNvPicPr>
            <a:picLocks noChangeAspect="1"/>
          </p:cNvPicPr>
          <p:nvPr/>
        </p:nvPicPr>
        <p:blipFill>
          <a:blip r:embed="rId4"/>
          <a:stretch>
            <a:fillRect/>
          </a:stretch>
        </p:blipFill>
        <p:spPr>
          <a:xfrm>
            <a:off x="674370" y="3691890"/>
            <a:ext cx="251460" cy="251460"/>
          </a:xfrm>
          <a:prstGeom prst="rect">
            <a:avLst/>
          </a:prstGeom>
        </p:spPr>
      </p:pic>
      <p:sp>
        <p:nvSpPr>
          <p:cNvPr id="11" name="Text 7"/>
          <p:cNvSpPr txBox="1"/>
          <p:nvPr/>
        </p:nvSpPr>
        <p:spPr>
          <a:xfrm>
            <a:off x="1234440" y="3520440"/>
            <a:ext cx="4206240" cy="347472"/>
          </a:xfrm>
          <a:prstGeom prst="rect">
            <a:avLst/>
          </a:prstGeom>
          <a:noFill/>
          <a:ln/>
        </p:spPr>
        <p:txBody>
          <a:bodyPr wrap="square" lIns="0" tIns="0" rIns="0" bIns="0" rtlCol="0" anchor="ctr"/>
          <a:lstStyle/>
          <a:p>
            <a:pPr marL="0" indent="0">
              <a:buNone/>
            </a:pPr>
            <a:r>
              <a:rPr lang="en-US" sz="1600" b="1" dirty="0">
                <a:solidFill>
                  <a:srgbClr val="0B2545"/>
                </a:solidFill>
                <a:latin typeface="Calibri" pitchFamily="34" charset="0"/>
                <a:ea typeface="Calibri" pitchFamily="34" charset="-122"/>
                <a:cs typeface="Calibri" pitchFamily="34" charset="-120"/>
              </a:rPr>
              <a:t>Stockage objet</a:t>
            </a:r>
            <a:endParaRPr lang="en-US" sz="1600" dirty="0"/>
          </a:p>
        </p:txBody>
      </p:sp>
      <p:sp>
        <p:nvSpPr>
          <p:cNvPr id="12" name="Text 8"/>
          <p:cNvSpPr txBox="1"/>
          <p:nvPr/>
        </p:nvSpPr>
        <p:spPr>
          <a:xfrm>
            <a:off x="1234440" y="3867912"/>
            <a:ext cx="4206240" cy="411480"/>
          </a:xfrm>
          <a:prstGeom prst="rect">
            <a:avLst/>
          </a:prstGeom>
          <a:noFill/>
          <a:ln/>
        </p:spPr>
        <p:txBody>
          <a:bodyPr wrap="square" lIns="0" tIns="0" rIns="0" bIns="0" rtlCol="0" anchor="ctr"/>
          <a:lstStyle/>
          <a:p>
            <a:pPr marL="0" indent="0">
              <a:buNone/>
            </a:pPr>
            <a:r>
              <a:rPr lang="en-US" sz="1350" dirty="0">
                <a:solidFill>
                  <a:srgbClr val="5B6B7F"/>
                </a:solidFill>
                <a:latin typeface="Calibri" pitchFamily="34" charset="0"/>
                <a:ea typeface="Calibri" pitchFamily="34" charset="-122"/>
                <a:cs typeface="Calibri" pitchFamily="34" charset="-120"/>
              </a:rPr>
              <a:t>Amazon S3, Azure Data Lake, Google Cloud Storage, MinIO</a:t>
            </a:r>
            <a:endParaRPr lang="en-US" sz="1350" dirty="0"/>
          </a:p>
        </p:txBody>
      </p:sp>
      <p:sp>
        <p:nvSpPr>
          <p:cNvPr id="13" name="Shape 9"/>
          <p:cNvSpPr/>
          <p:nvPr/>
        </p:nvSpPr>
        <p:spPr>
          <a:xfrm>
            <a:off x="548640" y="4480560"/>
            <a:ext cx="502920" cy="502920"/>
          </a:xfrm>
          <a:prstGeom prst="ellipse">
            <a:avLst/>
          </a:prstGeom>
          <a:solidFill>
            <a:srgbClr val="1B998B"/>
          </a:solidFill>
          <a:ln w="12700">
            <a:solidFill>
              <a:srgbClr val="1B998B"/>
            </a:solidFill>
            <a:prstDash val="solid"/>
          </a:ln>
        </p:spPr>
      </p:sp>
      <p:pic>
        <p:nvPicPr>
          <p:cNvPr id="14" name="Image 2" descr="preencoded.png"/>
          <p:cNvPicPr>
            <a:picLocks noChangeAspect="1"/>
          </p:cNvPicPr>
          <p:nvPr/>
        </p:nvPicPr>
        <p:blipFill>
          <a:blip r:embed="rId5"/>
          <a:stretch>
            <a:fillRect/>
          </a:stretch>
        </p:blipFill>
        <p:spPr>
          <a:xfrm>
            <a:off x="674370" y="4606290"/>
            <a:ext cx="251460" cy="251460"/>
          </a:xfrm>
          <a:prstGeom prst="rect">
            <a:avLst/>
          </a:prstGeom>
        </p:spPr>
      </p:pic>
      <p:sp>
        <p:nvSpPr>
          <p:cNvPr id="15" name="Text 10"/>
          <p:cNvSpPr txBox="1"/>
          <p:nvPr/>
        </p:nvSpPr>
        <p:spPr>
          <a:xfrm>
            <a:off x="1234440" y="4434840"/>
            <a:ext cx="4206240" cy="347472"/>
          </a:xfrm>
          <a:prstGeom prst="rect">
            <a:avLst/>
          </a:prstGeom>
          <a:noFill/>
          <a:ln/>
        </p:spPr>
        <p:txBody>
          <a:bodyPr wrap="square" lIns="0" tIns="0" rIns="0" bIns="0" rtlCol="0" anchor="ctr"/>
          <a:lstStyle/>
          <a:p>
            <a:pPr marL="0" indent="0">
              <a:buNone/>
            </a:pPr>
            <a:r>
              <a:rPr lang="en-US" sz="1600" b="1" dirty="0">
                <a:solidFill>
                  <a:srgbClr val="0B2545"/>
                </a:solidFill>
                <a:latin typeface="Calibri" pitchFamily="34" charset="0"/>
                <a:ea typeface="Calibri" pitchFamily="34" charset="-122"/>
                <a:cs typeface="Calibri" pitchFamily="34" charset="-120"/>
              </a:rPr>
              <a:t>Tous les formats</a:t>
            </a:r>
            <a:endParaRPr lang="en-US" sz="1600" dirty="0"/>
          </a:p>
        </p:txBody>
      </p:sp>
      <p:sp>
        <p:nvSpPr>
          <p:cNvPr id="16" name="Text 11"/>
          <p:cNvSpPr txBox="1"/>
          <p:nvPr/>
        </p:nvSpPr>
        <p:spPr>
          <a:xfrm>
            <a:off x="1234440" y="4782312"/>
            <a:ext cx="4206240" cy="411480"/>
          </a:xfrm>
          <a:prstGeom prst="rect">
            <a:avLst/>
          </a:prstGeom>
          <a:noFill/>
          <a:ln/>
        </p:spPr>
        <p:txBody>
          <a:bodyPr wrap="square" lIns="0" tIns="0" rIns="0" bIns="0" rtlCol="0" anchor="ctr"/>
          <a:lstStyle/>
          <a:p>
            <a:pPr marL="0" indent="0">
              <a:buNone/>
            </a:pPr>
            <a:r>
              <a:rPr lang="en-US" sz="1350" dirty="0">
                <a:solidFill>
                  <a:srgbClr val="5B6B7F"/>
                </a:solidFill>
                <a:latin typeface="Calibri" pitchFamily="34" charset="0"/>
                <a:ea typeface="Calibri" pitchFamily="34" charset="-122"/>
                <a:cs typeface="Calibri" pitchFamily="34" charset="-120"/>
              </a:rPr>
              <a:t>CSV, JSON, Parquet, images, vidéos, logs, documents</a:t>
            </a:r>
            <a:endParaRPr lang="en-US" sz="1350" dirty="0"/>
          </a:p>
        </p:txBody>
      </p:sp>
      <p:sp>
        <p:nvSpPr>
          <p:cNvPr id="17" name="Shape 12"/>
          <p:cNvSpPr/>
          <p:nvPr/>
        </p:nvSpPr>
        <p:spPr>
          <a:xfrm>
            <a:off x="548640" y="5394960"/>
            <a:ext cx="502920" cy="502920"/>
          </a:xfrm>
          <a:prstGeom prst="ellipse">
            <a:avLst/>
          </a:prstGeom>
          <a:solidFill>
            <a:srgbClr val="1B998B"/>
          </a:solidFill>
          <a:ln w="12700">
            <a:solidFill>
              <a:srgbClr val="1B998B"/>
            </a:solidFill>
            <a:prstDash val="solid"/>
          </a:ln>
        </p:spPr>
      </p:sp>
      <p:pic>
        <p:nvPicPr>
          <p:cNvPr id="18" name="Image 3" descr="preencoded.png"/>
          <p:cNvPicPr>
            <a:picLocks noChangeAspect="1"/>
          </p:cNvPicPr>
          <p:nvPr/>
        </p:nvPicPr>
        <p:blipFill>
          <a:blip r:embed="rId6"/>
          <a:stretch>
            <a:fillRect/>
          </a:stretch>
        </p:blipFill>
        <p:spPr>
          <a:xfrm>
            <a:off x="674370" y="5520690"/>
            <a:ext cx="251460" cy="251460"/>
          </a:xfrm>
          <a:prstGeom prst="rect">
            <a:avLst/>
          </a:prstGeom>
        </p:spPr>
      </p:pic>
      <p:sp>
        <p:nvSpPr>
          <p:cNvPr id="19" name="Text 13"/>
          <p:cNvSpPr txBox="1"/>
          <p:nvPr/>
        </p:nvSpPr>
        <p:spPr>
          <a:xfrm>
            <a:off x="1234440" y="5349240"/>
            <a:ext cx="4206240" cy="347472"/>
          </a:xfrm>
          <a:prstGeom prst="rect">
            <a:avLst/>
          </a:prstGeom>
          <a:noFill/>
          <a:ln/>
        </p:spPr>
        <p:txBody>
          <a:bodyPr wrap="square" lIns="0" tIns="0" rIns="0" bIns="0" rtlCol="0" anchor="ctr"/>
          <a:lstStyle/>
          <a:p>
            <a:pPr marL="0" indent="0">
              <a:buNone/>
            </a:pPr>
            <a:r>
              <a:rPr lang="en-US" sz="1600" b="1" dirty="0">
                <a:solidFill>
                  <a:srgbClr val="0B2545"/>
                </a:solidFill>
                <a:latin typeface="Calibri" pitchFamily="34" charset="0"/>
                <a:ea typeface="Calibri" pitchFamily="34" charset="-122"/>
                <a:cs typeface="Calibri" pitchFamily="34" charset="-120"/>
              </a:rPr>
              <a:t>Coût faible</a:t>
            </a:r>
            <a:endParaRPr lang="en-US" sz="1600" dirty="0"/>
          </a:p>
        </p:txBody>
      </p:sp>
      <p:sp>
        <p:nvSpPr>
          <p:cNvPr id="20" name="Text 14"/>
          <p:cNvSpPr txBox="1"/>
          <p:nvPr/>
        </p:nvSpPr>
        <p:spPr>
          <a:xfrm>
            <a:off x="1234440" y="5696712"/>
            <a:ext cx="4206240" cy="411480"/>
          </a:xfrm>
          <a:prstGeom prst="rect">
            <a:avLst/>
          </a:prstGeom>
          <a:noFill/>
          <a:ln/>
        </p:spPr>
        <p:txBody>
          <a:bodyPr wrap="square" lIns="0" tIns="0" rIns="0" bIns="0" rtlCol="0" anchor="ctr"/>
          <a:lstStyle/>
          <a:p>
            <a:pPr marL="0" indent="0">
              <a:buNone/>
            </a:pPr>
            <a:r>
              <a:rPr lang="en-US" sz="1350" dirty="0">
                <a:solidFill>
                  <a:srgbClr val="5B6B7F"/>
                </a:solidFill>
                <a:latin typeface="Calibri" pitchFamily="34" charset="0"/>
                <a:ea typeface="Calibri" pitchFamily="34" charset="-122"/>
                <a:cs typeface="Calibri" pitchFamily="34" charset="-120"/>
              </a:rPr>
              <a:t>Stockage bon marché, extensible presque sans limite</a:t>
            </a:r>
            <a:endParaRPr lang="en-US" sz="1350" dirty="0"/>
          </a:p>
        </p:txBody>
      </p:sp>
      <p:sp>
        <p:nvSpPr>
          <p:cNvPr id="21" name="Shape 15"/>
          <p:cNvSpPr/>
          <p:nvPr/>
        </p:nvSpPr>
        <p:spPr>
          <a:xfrm>
            <a:off x="5760720" y="1280160"/>
            <a:ext cx="5852160" cy="4526280"/>
          </a:xfrm>
          <a:prstGeom prst="roundRect">
            <a:avLst>
              <a:gd name="adj" fmla="val 2424"/>
            </a:avLst>
          </a:prstGeom>
          <a:solidFill>
            <a:srgbClr val="FFFFFF"/>
          </a:solidFill>
          <a:ln w="9525">
            <a:solidFill>
              <a:srgbClr val="E2E8F0"/>
            </a:solidFill>
            <a:prstDash val="solid"/>
          </a:ln>
          <a:effectLst>
            <a:outerShdw blurRad="101600" dist="25400" dir="5400000" algn="bl" rotWithShape="0">
              <a:srgbClr val="000000">
                <a:alpha val="15000"/>
              </a:srgbClr>
            </a:outerShdw>
          </a:effectLst>
        </p:spPr>
      </p:sp>
      <p:pic>
        <p:nvPicPr>
          <p:cNvPr id="22" name="Image 4" descr="/home/claude/deck/img/lake.png"/>
          <p:cNvPicPr>
            <a:picLocks noChangeAspect="1"/>
          </p:cNvPicPr>
          <p:nvPr/>
        </p:nvPicPr>
        <p:blipFill>
          <a:blip r:embed="rId7"/>
          <a:stretch>
            <a:fillRect/>
          </a:stretch>
        </p:blipFill>
        <p:spPr>
          <a:xfrm>
            <a:off x="5870448" y="1760439"/>
            <a:ext cx="5632704" cy="356572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155680" y="6400800"/>
            <a:ext cx="548640" cy="274320"/>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14</a:t>
            </a:r>
            <a:endParaRPr lang="en-US" sz="1000" dirty="0"/>
          </a:p>
        </p:txBody>
      </p:sp>
      <p:sp>
        <p:nvSpPr>
          <p:cNvPr id="3" name="Text 1"/>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Trois types de données</a:t>
            </a:r>
            <a:endParaRPr lang="en-US" sz="3200" dirty="0"/>
          </a:p>
        </p:txBody>
      </p:sp>
      <p:sp>
        <p:nvSpPr>
          <p:cNvPr id="4" name="Text 2"/>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500" i="1" dirty="0">
                <a:solidFill>
                  <a:srgbClr val="5B6B7F"/>
                </a:solidFill>
                <a:latin typeface="Calibri" pitchFamily="34" charset="0"/>
                <a:ea typeface="Calibri" pitchFamily="34" charset="-122"/>
                <a:cs typeface="Calibri" pitchFamily="34" charset="-120"/>
              </a:rPr>
              <a:t>Le data lake accepte les trois ; le data warehouse surtout le premier</a:t>
            </a:r>
            <a:endParaRPr lang="en-US" sz="1500" dirty="0"/>
          </a:p>
        </p:txBody>
      </p:sp>
      <p:sp>
        <p:nvSpPr>
          <p:cNvPr id="5" name="Shape 3"/>
          <p:cNvSpPr/>
          <p:nvPr/>
        </p:nvSpPr>
        <p:spPr>
          <a:xfrm>
            <a:off x="548640" y="1691640"/>
            <a:ext cx="3566160" cy="4206240"/>
          </a:xfrm>
          <a:prstGeom prst="roundRect">
            <a:avLst>
              <a:gd name="adj" fmla="val 2564"/>
            </a:avLst>
          </a:prstGeom>
          <a:solidFill>
            <a:srgbClr val="F1F6F8"/>
          </a:solidFill>
          <a:ln w="12700">
            <a:solidFill>
              <a:srgbClr val="F1F6F8"/>
            </a:solidFill>
            <a:prstDash val="solid"/>
          </a:ln>
        </p:spPr>
      </p:sp>
      <p:sp>
        <p:nvSpPr>
          <p:cNvPr id="6" name="Shape 4"/>
          <p:cNvSpPr/>
          <p:nvPr/>
        </p:nvSpPr>
        <p:spPr>
          <a:xfrm>
            <a:off x="1920240" y="1965960"/>
            <a:ext cx="822960" cy="822960"/>
          </a:xfrm>
          <a:prstGeom prst="ellipse">
            <a:avLst/>
          </a:prstGeom>
          <a:solidFill>
            <a:srgbClr val="1B998B"/>
          </a:solidFill>
          <a:ln w="12700">
            <a:solidFill>
              <a:srgbClr val="1B998B"/>
            </a:solidFill>
            <a:prstDash val="solid"/>
          </a:ln>
        </p:spPr>
      </p:sp>
      <p:pic>
        <p:nvPicPr>
          <p:cNvPr id="7" name="Image 0" descr="preencoded.png"/>
          <p:cNvPicPr>
            <a:picLocks noChangeAspect="1"/>
          </p:cNvPicPr>
          <p:nvPr/>
        </p:nvPicPr>
        <p:blipFill>
          <a:blip r:embed="rId3"/>
          <a:stretch>
            <a:fillRect/>
          </a:stretch>
        </p:blipFill>
        <p:spPr>
          <a:xfrm>
            <a:off x="2125980" y="2171700"/>
            <a:ext cx="411480" cy="411480"/>
          </a:xfrm>
          <a:prstGeom prst="rect">
            <a:avLst/>
          </a:prstGeom>
        </p:spPr>
      </p:pic>
      <p:sp>
        <p:nvSpPr>
          <p:cNvPr id="8" name="Text 5"/>
          <p:cNvSpPr txBox="1"/>
          <p:nvPr/>
        </p:nvSpPr>
        <p:spPr>
          <a:xfrm>
            <a:off x="731520" y="2926080"/>
            <a:ext cx="3200400" cy="457200"/>
          </a:xfrm>
          <a:prstGeom prst="rect">
            <a:avLst/>
          </a:prstGeom>
          <a:noFill/>
          <a:ln/>
        </p:spPr>
        <p:txBody>
          <a:bodyPr wrap="square" lIns="0" tIns="0" rIns="0" bIns="0" rtlCol="0" anchor="ctr"/>
          <a:lstStyle/>
          <a:p>
            <a:pPr marL="0" indent="0" algn="ctr">
              <a:buNone/>
            </a:pPr>
            <a:r>
              <a:rPr lang="en-US" sz="2000" b="1" dirty="0">
                <a:solidFill>
                  <a:srgbClr val="0B2545"/>
                </a:solidFill>
                <a:latin typeface="Cambria" pitchFamily="34" charset="0"/>
                <a:ea typeface="Cambria" pitchFamily="34" charset="-122"/>
                <a:cs typeface="Cambria" pitchFamily="34" charset="-120"/>
              </a:rPr>
              <a:t>Structurées</a:t>
            </a:r>
            <a:endParaRPr lang="en-US" sz="2000" dirty="0"/>
          </a:p>
        </p:txBody>
      </p:sp>
      <p:sp>
        <p:nvSpPr>
          <p:cNvPr id="9" name="Text 6"/>
          <p:cNvSpPr txBox="1"/>
          <p:nvPr/>
        </p:nvSpPr>
        <p:spPr>
          <a:xfrm>
            <a:off x="822960" y="3474720"/>
            <a:ext cx="3017520" cy="685800"/>
          </a:xfrm>
          <a:prstGeom prst="rect">
            <a:avLst/>
          </a:prstGeom>
          <a:noFill/>
          <a:ln/>
        </p:spPr>
        <p:txBody>
          <a:bodyPr wrap="square" lIns="0" tIns="0" rIns="0" bIns="0" rtlCol="0" anchor="t"/>
          <a:lstStyle/>
          <a:p>
            <a:pPr marL="0" indent="0">
              <a:buNone/>
            </a:pPr>
            <a:r>
              <a:rPr lang="en-US" sz="1550" dirty="0">
                <a:solidFill>
                  <a:srgbClr val="1E293B"/>
                </a:solidFill>
                <a:latin typeface="Calibri" pitchFamily="34" charset="0"/>
                <a:ea typeface="Calibri" pitchFamily="34" charset="-122"/>
                <a:cs typeface="Calibri" pitchFamily="34" charset="-120"/>
              </a:rPr>
              <a:t>Lignes et colonnes avec un schéma fixe.</a:t>
            </a:r>
            <a:endParaRPr lang="en-US" sz="1550" dirty="0"/>
          </a:p>
        </p:txBody>
      </p:sp>
      <p:sp>
        <p:nvSpPr>
          <p:cNvPr id="10" name="Text 7"/>
          <p:cNvSpPr txBox="1"/>
          <p:nvPr/>
        </p:nvSpPr>
        <p:spPr>
          <a:xfrm>
            <a:off x="822960" y="4251960"/>
            <a:ext cx="3017520" cy="822960"/>
          </a:xfrm>
          <a:prstGeom prst="rect">
            <a:avLst/>
          </a:prstGeom>
          <a:noFill/>
          <a:ln/>
        </p:spPr>
        <p:txBody>
          <a:bodyPr wrap="square" lIns="0" tIns="0" rIns="0" bIns="0" rtlCol="0" anchor="t"/>
          <a:lstStyle/>
          <a:p>
            <a:pPr marL="0" indent="0">
              <a:buNone/>
            </a:pPr>
            <a:r>
              <a:rPr lang="en-US" sz="1500" b="1" dirty="0">
                <a:solidFill>
                  <a:srgbClr val="1E293B"/>
                </a:solidFill>
                <a:latin typeface="Calibri" pitchFamily="34" charset="0"/>
                <a:ea typeface="Calibri" pitchFamily="34" charset="-122"/>
                <a:cs typeface="Calibri" pitchFamily="34" charset="-120"/>
              </a:rPr>
              <a:t>Exemples : </a:t>
            </a:r>
            <a:r>
              <a:rPr lang="en-US" sz="1500" dirty="0">
                <a:solidFill>
                  <a:srgbClr val="1E293B"/>
                </a:solidFill>
                <a:latin typeface="Calibri" pitchFamily="34" charset="0"/>
                <a:ea typeface="Calibri" pitchFamily="34" charset="-122"/>
                <a:cs typeface="Calibri" pitchFamily="34" charset="-120"/>
              </a:rPr>
              <a:t>Tables SQL, exports CSV, factures ERP</a:t>
            </a:r>
            <a:endParaRPr lang="en-US" sz="1500" dirty="0"/>
          </a:p>
        </p:txBody>
      </p:sp>
      <p:sp>
        <p:nvSpPr>
          <p:cNvPr id="11" name="Text 8"/>
          <p:cNvSpPr txBox="1"/>
          <p:nvPr/>
        </p:nvSpPr>
        <p:spPr>
          <a:xfrm>
            <a:off x="822960" y="5257800"/>
            <a:ext cx="3017520" cy="411480"/>
          </a:xfrm>
          <a:prstGeom prst="rect">
            <a:avLst/>
          </a:prstGeom>
          <a:noFill/>
          <a:ln/>
        </p:spPr>
        <p:txBody>
          <a:bodyPr wrap="square" lIns="0" tIns="0" rIns="0" bIns="0" rtlCol="0" anchor="ctr"/>
          <a:lstStyle/>
          <a:p>
            <a:pPr marL="0" indent="0">
              <a:buNone/>
            </a:pPr>
            <a:r>
              <a:rPr lang="en-US" sz="1400" i="1" dirty="0">
                <a:solidFill>
                  <a:srgbClr val="1B998B"/>
                </a:solidFill>
                <a:latin typeface="Calibri" pitchFamily="34" charset="0"/>
                <a:ea typeface="Calibri" pitchFamily="34" charset="-122"/>
                <a:cs typeface="Calibri" pitchFamily="34" charset="-120"/>
              </a:rPr>
              <a:t>Environ 20 % des données</a:t>
            </a:r>
            <a:endParaRPr lang="en-US" sz="1400" dirty="0"/>
          </a:p>
        </p:txBody>
      </p:sp>
      <p:sp>
        <p:nvSpPr>
          <p:cNvPr id="12" name="Shape 9"/>
          <p:cNvSpPr/>
          <p:nvPr/>
        </p:nvSpPr>
        <p:spPr>
          <a:xfrm>
            <a:off x="4297680" y="1691640"/>
            <a:ext cx="3566160" cy="4206240"/>
          </a:xfrm>
          <a:prstGeom prst="roundRect">
            <a:avLst>
              <a:gd name="adj" fmla="val 2564"/>
            </a:avLst>
          </a:prstGeom>
          <a:solidFill>
            <a:srgbClr val="F1F6F8"/>
          </a:solidFill>
          <a:ln w="12700">
            <a:solidFill>
              <a:srgbClr val="F1F6F8"/>
            </a:solidFill>
            <a:prstDash val="solid"/>
          </a:ln>
        </p:spPr>
      </p:sp>
      <p:sp>
        <p:nvSpPr>
          <p:cNvPr id="13" name="Shape 10"/>
          <p:cNvSpPr/>
          <p:nvPr/>
        </p:nvSpPr>
        <p:spPr>
          <a:xfrm>
            <a:off x="5669280" y="1965960"/>
            <a:ext cx="822960" cy="822960"/>
          </a:xfrm>
          <a:prstGeom prst="ellipse">
            <a:avLst/>
          </a:prstGeom>
          <a:solidFill>
            <a:srgbClr val="F2A541"/>
          </a:solidFill>
          <a:ln w="12700">
            <a:solidFill>
              <a:srgbClr val="F2A541"/>
            </a:solidFill>
            <a:prstDash val="solid"/>
          </a:ln>
        </p:spPr>
      </p:sp>
      <p:pic>
        <p:nvPicPr>
          <p:cNvPr id="14" name="Image 1" descr="preencoded.png"/>
          <p:cNvPicPr>
            <a:picLocks noChangeAspect="1"/>
          </p:cNvPicPr>
          <p:nvPr/>
        </p:nvPicPr>
        <p:blipFill>
          <a:blip r:embed="rId4"/>
          <a:stretch>
            <a:fillRect/>
          </a:stretch>
        </p:blipFill>
        <p:spPr>
          <a:xfrm>
            <a:off x="5875020" y="2171700"/>
            <a:ext cx="411480" cy="411480"/>
          </a:xfrm>
          <a:prstGeom prst="rect">
            <a:avLst/>
          </a:prstGeom>
        </p:spPr>
      </p:pic>
      <p:sp>
        <p:nvSpPr>
          <p:cNvPr id="15" name="Text 11"/>
          <p:cNvSpPr txBox="1"/>
          <p:nvPr/>
        </p:nvSpPr>
        <p:spPr>
          <a:xfrm>
            <a:off x="4480560" y="2926080"/>
            <a:ext cx="3200400" cy="457200"/>
          </a:xfrm>
          <a:prstGeom prst="rect">
            <a:avLst/>
          </a:prstGeom>
          <a:noFill/>
          <a:ln/>
        </p:spPr>
        <p:txBody>
          <a:bodyPr wrap="square" lIns="0" tIns="0" rIns="0" bIns="0" rtlCol="0" anchor="ctr"/>
          <a:lstStyle/>
          <a:p>
            <a:pPr marL="0" indent="0" algn="ctr">
              <a:buNone/>
            </a:pPr>
            <a:r>
              <a:rPr lang="en-US" sz="2000" b="1" dirty="0">
                <a:solidFill>
                  <a:srgbClr val="0B2545"/>
                </a:solidFill>
                <a:latin typeface="Cambria" pitchFamily="34" charset="0"/>
                <a:ea typeface="Cambria" pitchFamily="34" charset="-122"/>
                <a:cs typeface="Cambria" pitchFamily="34" charset="-120"/>
              </a:rPr>
              <a:t>Semi-structurées</a:t>
            </a:r>
            <a:endParaRPr lang="en-US" sz="2000" dirty="0"/>
          </a:p>
        </p:txBody>
      </p:sp>
      <p:sp>
        <p:nvSpPr>
          <p:cNvPr id="16" name="Text 12"/>
          <p:cNvSpPr txBox="1"/>
          <p:nvPr/>
        </p:nvSpPr>
        <p:spPr>
          <a:xfrm>
            <a:off x="4572000" y="3474720"/>
            <a:ext cx="3017520" cy="685800"/>
          </a:xfrm>
          <a:prstGeom prst="rect">
            <a:avLst/>
          </a:prstGeom>
          <a:noFill/>
          <a:ln/>
        </p:spPr>
        <p:txBody>
          <a:bodyPr wrap="square" lIns="0" tIns="0" rIns="0" bIns="0" rtlCol="0" anchor="t"/>
          <a:lstStyle/>
          <a:p>
            <a:pPr marL="0" indent="0">
              <a:buNone/>
            </a:pPr>
            <a:r>
              <a:rPr lang="en-US" sz="1550" dirty="0">
                <a:solidFill>
                  <a:srgbClr val="1E293B"/>
                </a:solidFill>
                <a:latin typeface="Calibri" pitchFamily="34" charset="0"/>
                <a:ea typeface="Calibri" pitchFamily="34" charset="-122"/>
                <a:cs typeface="Calibri" pitchFamily="34" charset="-120"/>
              </a:rPr>
              <a:t>Une structure souple, avec des balises ou des clés.</a:t>
            </a:r>
            <a:endParaRPr lang="en-US" sz="1550" dirty="0"/>
          </a:p>
        </p:txBody>
      </p:sp>
      <p:sp>
        <p:nvSpPr>
          <p:cNvPr id="17" name="Text 13"/>
          <p:cNvSpPr txBox="1"/>
          <p:nvPr/>
        </p:nvSpPr>
        <p:spPr>
          <a:xfrm>
            <a:off x="4572000" y="4251960"/>
            <a:ext cx="3017520" cy="822960"/>
          </a:xfrm>
          <a:prstGeom prst="rect">
            <a:avLst/>
          </a:prstGeom>
          <a:noFill/>
          <a:ln/>
        </p:spPr>
        <p:txBody>
          <a:bodyPr wrap="square" lIns="0" tIns="0" rIns="0" bIns="0" rtlCol="0" anchor="t"/>
          <a:lstStyle/>
          <a:p>
            <a:pPr marL="0" indent="0">
              <a:buNone/>
            </a:pPr>
            <a:r>
              <a:rPr lang="en-US" sz="1500" b="1" dirty="0">
                <a:solidFill>
                  <a:srgbClr val="1E293B"/>
                </a:solidFill>
                <a:latin typeface="Calibri" pitchFamily="34" charset="0"/>
                <a:ea typeface="Calibri" pitchFamily="34" charset="-122"/>
                <a:cs typeface="Calibri" pitchFamily="34" charset="-120"/>
              </a:rPr>
              <a:t>Exemples : </a:t>
            </a:r>
            <a:r>
              <a:rPr lang="en-US" sz="1500" dirty="0">
                <a:solidFill>
                  <a:srgbClr val="1E293B"/>
                </a:solidFill>
                <a:latin typeface="Calibri" pitchFamily="34" charset="0"/>
                <a:ea typeface="Calibri" pitchFamily="34" charset="-122"/>
                <a:cs typeface="Calibri" pitchFamily="34" charset="-120"/>
              </a:rPr>
              <a:t>JSON d'API, XML, logs, e-mails</a:t>
            </a:r>
            <a:endParaRPr lang="en-US" sz="1500" dirty="0"/>
          </a:p>
        </p:txBody>
      </p:sp>
      <p:sp>
        <p:nvSpPr>
          <p:cNvPr id="18" name="Text 14"/>
          <p:cNvSpPr txBox="1"/>
          <p:nvPr/>
        </p:nvSpPr>
        <p:spPr>
          <a:xfrm>
            <a:off x="4572000" y="5257800"/>
            <a:ext cx="3017520" cy="411480"/>
          </a:xfrm>
          <a:prstGeom prst="rect">
            <a:avLst/>
          </a:prstGeom>
          <a:noFill/>
          <a:ln/>
        </p:spPr>
        <p:txBody>
          <a:bodyPr wrap="square" lIns="0" tIns="0" rIns="0" bIns="0" rtlCol="0" anchor="ctr"/>
          <a:lstStyle/>
          <a:p>
            <a:pPr marL="0" indent="0">
              <a:buNone/>
            </a:pPr>
            <a:r>
              <a:rPr lang="en-US" sz="1400" i="1" dirty="0">
                <a:solidFill>
                  <a:srgbClr val="1B998B"/>
                </a:solidFill>
                <a:latin typeface="Calibri" pitchFamily="34" charset="0"/>
                <a:ea typeface="Calibri" pitchFamily="34" charset="-122"/>
                <a:cs typeface="Calibri" pitchFamily="34" charset="-120"/>
              </a:rPr>
              <a:t>Format des échanges web</a:t>
            </a:r>
            <a:endParaRPr lang="en-US" sz="1400" dirty="0"/>
          </a:p>
        </p:txBody>
      </p:sp>
      <p:sp>
        <p:nvSpPr>
          <p:cNvPr id="19" name="Shape 15"/>
          <p:cNvSpPr/>
          <p:nvPr/>
        </p:nvSpPr>
        <p:spPr>
          <a:xfrm>
            <a:off x="8046720" y="1691640"/>
            <a:ext cx="3566160" cy="4206240"/>
          </a:xfrm>
          <a:prstGeom prst="roundRect">
            <a:avLst>
              <a:gd name="adj" fmla="val 2564"/>
            </a:avLst>
          </a:prstGeom>
          <a:solidFill>
            <a:srgbClr val="F1F6F8"/>
          </a:solidFill>
          <a:ln w="12700">
            <a:solidFill>
              <a:srgbClr val="F1F6F8"/>
            </a:solidFill>
            <a:prstDash val="solid"/>
          </a:ln>
        </p:spPr>
      </p:sp>
      <p:sp>
        <p:nvSpPr>
          <p:cNvPr id="20" name="Shape 16"/>
          <p:cNvSpPr/>
          <p:nvPr/>
        </p:nvSpPr>
        <p:spPr>
          <a:xfrm>
            <a:off x="9418320" y="1965960"/>
            <a:ext cx="822960" cy="822960"/>
          </a:xfrm>
          <a:prstGeom prst="ellipse">
            <a:avLst/>
          </a:prstGeom>
          <a:solidFill>
            <a:srgbClr val="0B2545"/>
          </a:solidFill>
          <a:ln w="12700">
            <a:solidFill>
              <a:srgbClr val="0B2545"/>
            </a:solidFill>
            <a:prstDash val="solid"/>
          </a:ln>
        </p:spPr>
      </p:sp>
      <p:pic>
        <p:nvPicPr>
          <p:cNvPr id="21" name="Image 2" descr="preencoded.png"/>
          <p:cNvPicPr>
            <a:picLocks noChangeAspect="1"/>
          </p:cNvPicPr>
          <p:nvPr/>
        </p:nvPicPr>
        <p:blipFill>
          <a:blip r:embed="rId5"/>
          <a:stretch>
            <a:fillRect/>
          </a:stretch>
        </p:blipFill>
        <p:spPr>
          <a:xfrm>
            <a:off x="9624060" y="2171700"/>
            <a:ext cx="411480" cy="411480"/>
          </a:xfrm>
          <a:prstGeom prst="rect">
            <a:avLst/>
          </a:prstGeom>
        </p:spPr>
      </p:pic>
      <p:sp>
        <p:nvSpPr>
          <p:cNvPr id="22" name="Text 17"/>
          <p:cNvSpPr txBox="1"/>
          <p:nvPr/>
        </p:nvSpPr>
        <p:spPr>
          <a:xfrm>
            <a:off x="8229600" y="2926080"/>
            <a:ext cx="3200400" cy="457200"/>
          </a:xfrm>
          <a:prstGeom prst="rect">
            <a:avLst/>
          </a:prstGeom>
          <a:noFill/>
          <a:ln/>
        </p:spPr>
        <p:txBody>
          <a:bodyPr wrap="square" lIns="0" tIns="0" rIns="0" bIns="0" rtlCol="0" anchor="ctr"/>
          <a:lstStyle/>
          <a:p>
            <a:pPr marL="0" indent="0" algn="ctr">
              <a:buNone/>
            </a:pPr>
            <a:r>
              <a:rPr lang="en-US" sz="2000" b="1" dirty="0">
                <a:solidFill>
                  <a:srgbClr val="0B2545"/>
                </a:solidFill>
                <a:latin typeface="Cambria" pitchFamily="34" charset="0"/>
                <a:ea typeface="Cambria" pitchFamily="34" charset="-122"/>
                <a:cs typeface="Cambria" pitchFamily="34" charset="-120"/>
              </a:rPr>
              <a:t>Non structurées</a:t>
            </a:r>
            <a:endParaRPr lang="en-US" sz="2000" dirty="0"/>
          </a:p>
        </p:txBody>
      </p:sp>
      <p:sp>
        <p:nvSpPr>
          <p:cNvPr id="23" name="Text 18"/>
          <p:cNvSpPr txBox="1"/>
          <p:nvPr/>
        </p:nvSpPr>
        <p:spPr>
          <a:xfrm>
            <a:off x="8321040" y="3474720"/>
            <a:ext cx="3017520" cy="685800"/>
          </a:xfrm>
          <a:prstGeom prst="rect">
            <a:avLst/>
          </a:prstGeom>
          <a:noFill/>
          <a:ln/>
        </p:spPr>
        <p:txBody>
          <a:bodyPr wrap="square" lIns="0" tIns="0" rIns="0" bIns="0" rtlCol="0" anchor="t"/>
          <a:lstStyle/>
          <a:p>
            <a:pPr marL="0" indent="0">
              <a:buNone/>
            </a:pPr>
            <a:r>
              <a:rPr lang="en-US" sz="1550" dirty="0">
                <a:solidFill>
                  <a:srgbClr val="1E293B"/>
                </a:solidFill>
                <a:latin typeface="Calibri" pitchFamily="34" charset="0"/>
                <a:ea typeface="Calibri" pitchFamily="34" charset="-122"/>
                <a:cs typeface="Calibri" pitchFamily="34" charset="-120"/>
              </a:rPr>
              <a:t>Pas de structure exploitable directement.</a:t>
            </a:r>
            <a:endParaRPr lang="en-US" sz="1550" dirty="0"/>
          </a:p>
        </p:txBody>
      </p:sp>
      <p:sp>
        <p:nvSpPr>
          <p:cNvPr id="24" name="Text 19"/>
          <p:cNvSpPr txBox="1"/>
          <p:nvPr/>
        </p:nvSpPr>
        <p:spPr>
          <a:xfrm>
            <a:off x="8321040" y="4251960"/>
            <a:ext cx="3017520" cy="822960"/>
          </a:xfrm>
          <a:prstGeom prst="rect">
            <a:avLst/>
          </a:prstGeom>
          <a:noFill/>
          <a:ln/>
        </p:spPr>
        <p:txBody>
          <a:bodyPr wrap="square" lIns="0" tIns="0" rIns="0" bIns="0" rtlCol="0" anchor="t"/>
          <a:lstStyle/>
          <a:p>
            <a:pPr marL="0" indent="0">
              <a:buNone/>
            </a:pPr>
            <a:r>
              <a:rPr lang="en-US" sz="1500" b="1" dirty="0">
                <a:solidFill>
                  <a:srgbClr val="1E293B"/>
                </a:solidFill>
                <a:latin typeface="Calibri" pitchFamily="34" charset="0"/>
                <a:ea typeface="Calibri" pitchFamily="34" charset="-122"/>
                <a:cs typeface="Calibri" pitchFamily="34" charset="-120"/>
              </a:rPr>
              <a:t>Exemples : </a:t>
            </a:r>
            <a:r>
              <a:rPr lang="en-US" sz="1500" dirty="0">
                <a:solidFill>
                  <a:srgbClr val="1E293B"/>
                </a:solidFill>
                <a:latin typeface="Calibri" pitchFamily="34" charset="0"/>
                <a:ea typeface="Calibri" pitchFamily="34" charset="-122"/>
                <a:cs typeface="Calibri" pitchFamily="34" charset="-120"/>
              </a:rPr>
              <a:t>Images, vidéos, audio, PDF, textes libres</a:t>
            </a:r>
            <a:endParaRPr lang="en-US" sz="1500" dirty="0"/>
          </a:p>
        </p:txBody>
      </p:sp>
      <p:sp>
        <p:nvSpPr>
          <p:cNvPr id="25" name="Text 20"/>
          <p:cNvSpPr txBox="1"/>
          <p:nvPr/>
        </p:nvSpPr>
        <p:spPr>
          <a:xfrm>
            <a:off x="8321040" y="5257800"/>
            <a:ext cx="3017520" cy="411480"/>
          </a:xfrm>
          <a:prstGeom prst="rect">
            <a:avLst/>
          </a:prstGeom>
          <a:noFill/>
          <a:ln/>
        </p:spPr>
        <p:txBody>
          <a:bodyPr wrap="square" lIns="0" tIns="0" rIns="0" bIns="0" rtlCol="0" anchor="ctr"/>
          <a:lstStyle/>
          <a:p>
            <a:pPr marL="0" indent="0">
              <a:buNone/>
            </a:pPr>
            <a:r>
              <a:rPr lang="en-US" sz="1400" i="1" dirty="0">
                <a:solidFill>
                  <a:srgbClr val="1B998B"/>
                </a:solidFill>
                <a:latin typeface="Calibri" pitchFamily="34" charset="0"/>
                <a:ea typeface="Calibri" pitchFamily="34" charset="-122"/>
                <a:cs typeface="Calibri" pitchFamily="34" charset="-120"/>
              </a:rPr>
              <a:t>Environ 80 % des données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155680" y="6400800"/>
            <a:ext cx="548640" cy="274320"/>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15</a:t>
            </a:r>
            <a:endParaRPr lang="en-US" sz="1000" dirty="0"/>
          </a:p>
        </p:txBody>
      </p:sp>
      <p:sp>
        <p:nvSpPr>
          <p:cNvPr id="3" name="Text 1"/>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Data warehouse ou data lake ?</a:t>
            </a:r>
            <a:endParaRPr lang="en-US" sz="3200" dirty="0"/>
          </a:p>
        </p:txBody>
      </p:sp>
      <p:sp>
        <p:nvSpPr>
          <p:cNvPr id="4" name="Shape 2"/>
          <p:cNvSpPr/>
          <p:nvPr/>
        </p:nvSpPr>
        <p:spPr>
          <a:xfrm>
            <a:off x="3566160" y="1143000"/>
            <a:ext cx="5029200" cy="2240280"/>
          </a:xfrm>
          <a:prstGeom prst="roundRect">
            <a:avLst>
              <a:gd name="adj" fmla="val 4898"/>
            </a:avLst>
          </a:prstGeom>
          <a:solidFill>
            <a:srgbClr val="FFFFFF"/>
          </a:solidFill>
          <a:ln w="9525">
            <a:solidFill>
              <a:srgbClr val="E2E8F0"/>
            </a:solidFill>
            <a:prstDash val="solid"/>
          </a:ln>
          <a:effectLst>
            <a:outerShdw blurRad="101600" dist="25400" dir="5400000" algn="bl" rotWithShape="0">
              <a:srgbClr val="000000">
                <a:alpha val="15000"/>
              </a:srgbClr>
            </a:outerShdw>
          </a:effectLst>
        </p:spPr>
      </p:sp>
      <p:pic>
        <p:nvPicPr>
          <p:cNvPr id="5" name="Image 0" descr="/home/claude/deck/img/vs.png"/>
          <p:cNvPicPr>
            <a:picLocks noChangeAspect="1"/>
          </p:cNvPicPr>
          <p:nvPr/>
        </p:nvPicPr>
        <p:blipFill>
          <a:blip r:embed="rId3"/>
          <a:stretch>
            <a:fillRect/>
          </a:stretch>
        </p:blipFill>
        <p:spPr>
          <a:xfrm>
            <a:off x="3790304" y="1252728"/>
            <a:ext cx="4580913" cy="2020824"/>
          </a:xfrm>
          <a:prstGeom prst="rect">
            <a:avLst/>
          </a:prstGeom>
        </p:spPr>
      </p:pic>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3611880"/>
          <a:ext cx="11064240" cy="2688336"/>
        </p:xfrm>
        <a:graphic>
          <a:graphicData uri="http://schemas.openxmlformats.org/drawingml/2006/table">
            <a:tbl>
              <a:tblPr/>
              <a:tblGrid>
                <a:gridCol w="2834640"/>
                <a:gridCol w="4114800"/>
                <a:gridCol w="4114800"/>
              </a:tblGrid>
              <a:tr h="38404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Critère</a:t>
                      </a:r>
                      <a:endParaRPr lang="en-US" sz="135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0B2545"/>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Data warehouse</a:t>
                      </a:r>
                      <a:endParaRPr lang="en-US" sz="135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0B2545"/>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Data lake</a:t>
                      </a:r>
                      <a:endParaRPr lang="en-US" sz="135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0B2545"/>
                    </a:solidFill>
                  </a:tcPr>
                </a:tc>
              </a:tr>
              <a:tr h="384048">
                <a:tc>
                  <a:txBody>
                    <a:bodyPr/>
                    <a:lstStyle/>
                    <a:p>
                      <a:pPr marL="0" indent="0">
                        <a:buNone/>
                      </a:pPr>
                      <a:r>
                        <a:rPr lang="en-US" sz="1350" dirty="0">
                          <a:solidFill>
                            <a:srgbClr val="1E293B"/>
                          </a:solidFill>
                          <a:latin typeface="Calibri" pitchFamily="34" charset="0"/>
                          <a:ea typeface="Calibri" pitchFamily="34" charset="-122"/>
                          <a:cs typeface="Calibri" pitchFamily="34" charset="-120"/>
                        </a:rPr>
                        <a:t>Données</a:t>
                      </a:r>
                      <a:endParaRPr lang="en-US" sz="135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350" dirty="0">
                          <a:solidFill>
                            <a:srgbClr val="1E293B"/>
                          </a:solidFill>
                          <a:latin typeface="Calibri" pitchFamily="34" charset="0"/>
                          <a:ea typeface="Calibri" pitchFamily="34" charset="-122"/>
                          <a:cs typeface="Calibri" pitchFamily="34" charset="-120"/>
                        </a:rPr>
                        <a:t>Structurées, nettoyées</a:t>
                      </a:r>
                      <a:endParaRPr lang="en-US" sz="135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350" dirty="0">
                          <a:solidFill>
                            <a:srgbClr val="1E293B"/>
                          </a:solidFill>
                          <a:latin typeface="Calibri" pitchFamily="34" charset="0"/>
                          <a:ea typeface="Calibri" pitchFamily="34" charset="-122"/>
                          <a:cs typeface="Calibri" pitchFamily="34" charset="-120"/>
                        </a:rPr>
                        <a:t>Toutes, brutes</a:t>
                      </a:r>
                      <a:endParaRPr lang="en-US" sz="135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r>
              <a:tr h="384048">
                <a:tc>
                  <a:txBody>
                    <a:bodyPr/>
                    <a:lstStyle/>
                    <a:p>
                      <a:pPr marL="0" indent="0">
                        <a:buNone/>
                      </a:pPr>
                      <a:r>
                        <a:rPr lang="en-US" sz="1350" dirty="0">
                          <a:solidFill>
                            <a:srgbClr val="1E293B"/>
                          </a:solidFill>
                          <a:latin typeface="Calibri" pitchFamily="34" charset="0"/>
                          <a:ea typeface="Calibri" pitchFamily="34" charset="-122"/>
                          <a:cs typeface="Calibri" pitchFamily="34" charset="-120"/>
                        </a:rPr>
                        <a:t>Schéma</a:t>
                      </a:r>
                      <a:endParaRPr lang="en-US" sz="135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350" dirty="0">
                          <a:solidFill>
                            <a:srgbClr val="1E293B"/>
                          </a:solidFill>
                          <a:latin typeface="Calibri" pitchFamily="34" charset="0"/>
                          <a:ea typeface="Calibri" pitchFamily="34" charset="-122"/>
                          <a:cs typeface="Calibri" pitchFamily="34" charset="-120"/>
                        </a:rPr>
                        <a:t>Défini à l'écriture</a:t>
                      </a:r>
                      <a:endParaRPr lang="en-US" sz="135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350" dirty="0">
                          <a:solidFill>
                            <a:srgbClr val="1E293B"/>
                          </a:solidFill>
                          <a:latin typeface="Calibri" pitchFamily="34" charset="0"/>
                          <a:ea typeface="Calibri" pitchFamily="34" charset="-122"/>
                          <a:cs typeface="Calibri" pitchFamily="34" charset="-120"/>
                        </a:rPr>
                        <a:t>Appliqué à la lecture</a:t>
                      </a:r>
                      <a:endParaRPr lang="en-US" sz="135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r>
              <a:tr h="384048">
                <a:tc>
                  <a:txBody>
                    <a:bodyPr/>
                    <a:lstStyle/>
                    <a:p>
                      <a:pPr marL="0" indent="0">
                        <a:buNone/>
                      </a:pPr>
                      <a:r>
                        <a:rPr lang="en-US" sz="1350" dirty="0">
                          <a:solidFill>
                            <a:srgbClr val="1E293B"/>
                          </a:solidFill>
                          <a:latin typeface="Calibri" pitchFamily="34" charset="0"/>
                          <a:ea typeface="Calibri" pitchFamily="34" charset="-122"/>
                          <a:cs typeface="Calibri" pitchFamily="34" charset="-120"/>
                        </a:rPr>
                        <a:t>Coût de stockage</a:t>
                      </a:r>
                      <a:endParaRPr lang="en-US" sz="135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350" dirty="0">
                          <a:solidFill>
                            <a:srgbClr val="1E293B"/>
                          </a:solidFill>
                          <a:latin typeface="Calibri" pitchFamily="34" charset="0"/>
                          <a:ea typeface="Calibri" pitchFamily="34" charset="-122"/>
                          <a:cs typeface="Calibri" pitchFamily="34" charset="-120"/>
                        </a:rPr>
                        <a:t>Élevé</a:t>
                      </a:r>
                      <a:endParaRPr lang="en-US" sz="135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350" dirty="0">
                          <a:solidFill>
                            <a:srgbClr val="1E293B"/>
                          </a:solidFill>
                          <a:latin typeface="Calibri" pitchFamily="34" charset="0"/>
                          <a:ea typeface="Calibri" pitchFamily="34" charset="-122"/>
                          <a:cs typeface="Calibri" pitchFamily="34" charset="-120"/>
                        </a:rPr>
                        <a:t>Faible</a:t>
                      </a:r>
                      <a:endParaRPr lang="en-US" sz="135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r>
              <a:tr h="384048">
                <a:tc>
                  <a:txBody>
                    <a:bodyPr/>
                    <a:lstStyle/>
                    <a:p>
                      <a:pPr marL="0" indent="0">
                        <a:buNone/>
                      </a:pPr>
                      <a:r>
                        <a:rPr lang="en-US" sz="1350" dirty="0">
                          <a:solidFill>
                            <a:srgbClr val="1E293B"/>
                          </a:solidFill>
                          <a:latin typeface="Calibri" pitchFamily="34" charset="0"/>
                          <a:ea typeface="Calibri" pitchFamily="34" charset="-122"/>
                          <a:cs typeface="Calibri" pitchFamily="34" charset="-120"/>
                        </a:rPr>
                        <a:t>Utilisateurs</a:t>
                      </a:r>
                      <a:endParaRPr lang="en-US" sz="135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350" dirty="0">
                          <a:solidFill>
                            <a:srgbClr val="1E293B"/>
                          </a:solidFill>
                          <a:latin typeface="Calibri" pitchFamily="34" charset="0"/>
                          <a:ea typeface="Calibri" pitchFamily="34" charset="-122"/>
                          <a:cs typeface="Calibri" pitchFamily="34" charset="-120"/>
                        </a:rPr>
                        <a:t>Analystes métier, BI</a:t>
                      </a:r>
                      <a:endParaRPr lang="en-US" sz="135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350" dirty="0">
                          <a:solidFill>
                            <a:srgbClr val="1E293B"/>
                          </a:solidFill>
                          <a:latin typeface="Calibri" pitchFamily="34" charset="0"/>
                          <a:ea typeface="Calibri" pitchFamily="34" charset="-122"/>
                          <a:cs typeface="Calibri" pitchFamily="34" charset="-120"/>
                        </a:rPr>
                        <a:t>Data engineers, data scientists</a:t>
                      </a:r>
                      <a:endParaRPr lang="en-US" sz="135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r>
              <a:tr h="384048">
                <a:tc>
                  <a:txBody>
                    <a:bodyPr/>
                    <a:lstStyle/>
                    <a:p>
                      <a:pPr marL="0" indent="0">
                        <a:buNone/>
                      </a:pPr>
                      <a:r>
                        <a:rPr lang="en-US" sz="1350" dirty="0">
                          <a:solidFill>
                            <a:srgbClr val="1E293B"/>
                          </a:solidFill>
                          <a:latin typeface="Calibri" pitchFamily="34" charset="0"/>
                          <a:ea typeface="Calibri" pitchFamily="34" charset="-122"/>
                          <a:cs typeface="Calibri" pitchFamily="34" charset="-120"/>
                        </a:rPr>
                        <a:t>Fiabilité</a:t>
                      </a:r>
                      <a:endParaRPr lang="en-US" sz="135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350" dirty="0">
                          <a:solidFill>
                            <a:srgbClr val="1E293B"/>
                          </a:solidFill>
                          <a:latin typeface="Calibri" pitchFamily="34" charset="0"/>
                          <a:ea typeface="Calibri" pitchFamily="34" charset="-122"/>
                          <a:cs typeface="Calibri" pitchFamily="34" charset="-120"/>
                        </a:rPr>
                        <a:t>Forte, transactions ACID</a:t>
                      </a:r>
                      <a:endParaRPr lang="en-US" sz="135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350" dirty="0">
                          <a:solidFill>
                            <a:srgbClr val="1E293B"/>
                          </a:solidFill>
                          <a:latin typeface="Calibri" pitchFamily="34" charset="0"/>
                          <a:ea typeface="Calibri" pitchFamily="34" charset="-122"/>
                          <a:cs typeface="Calibri" pitchFamily="34" charset="-120"/>
                        </a:rPr>
                        <a:t>Faible sans gouvernance</a:t>
                      </a:r>
                      <a:endParaRPr lang="en-US" sz="135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r>
              <a:tr h="384048">
                <a:tc>
                  <a:txBody>
                    <a:bodyPr/>
                    <a:lstStyle/>
                    <a:p>
                      <a:pPr marL="0" indent="0">
                        <a:buNone/>
                      </a:pPr>
                      <a:r>
                        <a:rPr lang="en-US" sz="1350" dirty="0">
                          <a:solidFill>
                            <a:srgbClr val="1E293B"/>
                          </a:solidFill>
                          <a:latin typeface="Calibri" pitchFamily="34" charset="0"/>
                          <a:ea typeface="Calibri" pitchFamily="34" charset="-122"/>
                          <a:cs typeface="Calibri" pitchFamily="34" charset="-120"/>
                        </a:rPr>
                        <a:t>Usage principal</a:t>
                      </a:r>
                      <a:endParaRPr lang="en-US" sz="135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350" dirty="0">
                          <a:solidFill>
                            <a:srgbClr val="1E293B"/>
                          </a:solidFill>
                          <a:latin typeface="Calibri" pitchFamily="34" charset="0"/>
                          <a:ea typeface="Calibri" pitchFamily="34" charset="-122"/>
                          <a:cs typeface="Calibri" pitchFamily="34" charset="-120"/>
                        </a:rPr>
                        <a:t>Reporting, tableaux de bord</a:t>
                      </a:r>
                      <a:endParaRPr lang="en-US" sz="135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350" dirty="0">
                          <a:solidFill>
                            <a:srgbClr val="1E293B"/>
                          </a:solidFill>
                          <a:latin typeface="Calibri" pitchFamily="34" charset="0"/>
                          <a:ea typeface="Calibri" pitchFamily="34" charset="-122"/>
                          <a:cs typeface="Calibri" pitchFamily="34" charset="-120"/>
                        </a:rPr>
                        <a:t>Exploration, machine learning</a:t>
                      </a:r>
                      <a:endParaRPr lang="en-US" sz="135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155680" y="6400800"/>
            <a:ext cx="548640" cy="274320"/>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16</a:t>
            </a:r>
            <a:endParaRPr lang="en-US" sz="1000" dirty="0"/>
          </a:p>
        </p:txBody>
      </p:sp>
      <p:sp>
        <p:nvSpPr>
          <p:cNvPr id="3" name="Text 1"/>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L'architecture à deux niveaux</a:t>
            </a:r>
            <a:endParaRPr lang="en-US" sz="3200" dirty="0"/>
          </a:p>
        </p:txBody>
      </p:sp>
      <p:sp>
        <p:nvSpPr>
          <p:cNvPr id="4" name="Text 2"/>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500" i="1" dirty="0">
                <a:solidFill>
                  <a:srgbClr val="5B6B7F"/>
                </a:solidFill>
                <a:latin typeface="Calibri" pitchFamily="34" charset="0"/>
                <a:ea typeface="Calibri" pitchFamily="34" charset="-122"/>
                <a:cs typeface="Calibri" pitchFamily="34" charset="-120"/>
              </a:rPr>
              <a:t>Un data lake pour tout stocker, des data warehouses pour la BI</a:t>
            </a:r>
            <a:endParaRPr lang="en-US" sz="1500" dirty="0"/>
          </a:p>
        </p:txBody>
      </p:sp>
      <p:sp>
        <p:nvSpPr>
          <p:cNvPr id="5" name="Shape 3"/>
          <p:cNvSpPr/>
          <p:nvPr/>
        </p:nvSpPr>
        <p:spPr>
          <a:xfrm>
            <a:off x="548640" y="1645920"/>
            <a:ext cx="6492240" cy="3246120"/>
          </a:xfrm>
          <a:prstGeom prst="roundRect">
            <a:avLst>
              <a:gd name="adj" fmla="val 3380"/>
            </a:avLst>
          </a:prstGeom>
          <a:solidFill>
            <a:srgbClr val="FFFFFF"/>
          </a:solidFill>
          <a:ln w="9525">
            <a:solidFill>
              <a:srgbClr val="E2E8F0"/>
            </a:solidFill>
            <a:prstDash val="solid"/>
          </a:ln>
          <a:effectLst>
            <a:outerShdw blurRad="101600" dist="25400" dir="5400000" algn="bl" rotWithShape="0">
              <a:srgbClr val="000000">
                <a:alpha val="15000"/>
              </a:srgbClr>
            </a:outerShdw>
          </a:effectLst>
        </p:spPr>
      </p:sp>
      <p:pic>
        <p:nvPicPr>
          <p:cNvPr id="6" name="Image 0" descr="/home/claude/deck/img/twotier.png"/>
          <p:cNvPicPr>
            <a:picLocks noChangeAspect="1"/>
          </p:cNvPicPr>
          <p:nvPr/>
        </p:nvPicPr>
        <p:blipFill>
          <a:blip r:embed="rId3"/>
          <a:stretch>
            <a:fillRect/>
          </a:stretch>
        </p:blipFill>
        <p:spPr>
          <a:xfrm>
            <a:off x="658368" y="1799252"/>
            <a:ext cx="6272784" cy="2939456"/>
          </a:xfrm>
          <a:prstGeom prst="rect">
            <a:avLst/>
          </a:prstGeom>
        </p:spPr>
      </p:pic>
      <p:sp>
        <p:nvSpPr>
          <p:cNvPr id="7" name="Text 4"/>
          <p:cNvSpPr txBox="1"/>
          <p:nvPr/>
        </p:nvSpPr>
        <p:spPr>
          <a:xfrm>
            <a:off x="548640" y="5074920"/>
            <a:ext cx="6492240" cy="731520"/>
          </a:xfrm>
          <a:prstGeom prst="rect">
            <a:avLst/>
          </a:prstGeom>
          <a:noFill/>
          <a:ln/>
        </p:spPr>
        <p:txBody>
          <a:bodyPr wrap="square" lIns="0" tIns="0" rIns="0" bIns="0" rtlCol="0" anchor="t"/>
          <a:lstStyle/>
          <a:p>
            <a:pPr marL="0" indent="0">
              <a:buNone/>
            </a:pPr>
            <a:r>
              <a:rPr lang="en-US" sz="1400" i="1" dirty="0">
                <a:solidFill>
                  <a:srgbClr val="5B6B7F"/>
                </a:solidFill>
                <a:latin typeface="Calibri" pitchFamily="34" charset="0"/>
                <a:ea typeface="Calibri" pitchFamily="34" charset="-122"/>
                <a:cs typeface="Calibri" pitchFamily="34" charset="-120"/>
              </a:rPr>
              <a:t>Les données passent d'abord par le lake, puis une partie est recopiée par ETL dans un ou plusieurs warehouses.</a:t>
            </a:r>
            <a:endParaRPr lang="en-US" sz="1400" dirty="0"/>
          </a:p>
        </p:txBody>
      </p:sp>
      <p:sp>
        <p:nvSpPr>
          <p:cNvPr id="8" name="Text 5"/>
          <p:cNvSpPr txBox="1"/>
          <p:nvPr/>
        </p:nvSpPr>
        <p:spPr>
          <a:xfrm>
            <a:off x="7406640" y="1645920"/>
            <a:ext cx="4206240" cy="411480"/>
          </a:xfrm>
          <a:prstGeom prst="rect">
            <a:avLst/>
          </a:prstGeom>
          <a:noFill/>
          <a:ln/>
        </p:spPr>
        <p:txBody>
          <a:bodyPr wrap="square" lIns="0" tIns="0" rIns="0" bIns="0" rtlCol="0" anchor="ctr"/>
          <a:lstStyle/>
          <a:p>
            <a:pPr marL="0" indent="0">
              <a:buNone/>
            </a:pPr>
            <a:r>
              <a:rPr lang="en-US" sz="2000" b="1" dirty="0">
                <a:solidFill>
                  <a:srgbClr val="0B2545"/>
                </a:solidFill>
                <a:latin typeface="Cambria" pitchFamily="34" charset="0"/>
                <a:ea typeface="Cambria" pitchFamily="34" charset="-122"/>
                <a:cs typeface="Cambria" pitchFamily="34" charset="-120"/>
              </a:rPr>
              <a:t>Les problèmes</a:t>
            </a:r>
            <a:endParaRPr lang="en-US" sz="2000" dirty="0"/>
          </a:p>
        </p:txBody>
      </p:sp>
      <p:sp>
        <p:nvSpPr>
          <p:cNvPr id="9" name="Shape 6"/>
          <p:cNvSpPr/>
          <p:nvPr/>
        </p:nvSpPr>
        <p:spPr>
          <a:xfrm>
            <a:off x="7406640" y="2286000"/>
            <a:ext cx="502920" cy="502920"/>
          </a:xfrm>
          <a:prstGeom prst="ellipse">
            <a:avLst/>
          </a:prstGeom>
          <a:solidFill>
            <a:srgbClr val="F2A541"/>
          </a:solidFill>
          <a:ln w="12700">
            <a:solidFill>
              <a:srgbClr val="F2A541"/>
            </a:solidFill>
            <a:prstDash val="solid"/>
          </a:ln>
        </p:spPr>
      </p:sp>
      <p:pic>
        <p:nvPicPr>
          <p:cNvPr id="10" name="Image 1" descr="preencoded.png"/>
          <p:cNvPicPr>
            <a:picLocks noChangeAspect="1"/>
          </p:cNvPicPr>
          <p:nvPr/>
        </p:nvPicPr>
        <p:blipFill>
          <a:blip r:embed="rId4"/>
          <a:stretch>
            <a:fillRect/>
          </a:stretch>
        </p:blipFill>
        <p:spPr>
          <a:xfrm>
            <a:off x="7532370" y="2411730"/>
            <a:ext cx="251460" cy="251460"/>
          </a:xfrm>
          <a:prstGeom prst="rect">
            <a:avLst/>
          </a:prstGeom>
        </p:spPr>
      </p:pic>
      <p:sp>
        <p:nvSpPr>
          <p:cNvPr id="11" name="Text 7"/>
          <p:cNvSpPr txBox="1"/>
          <p:nvPr/>
        </p:nvSpPr>
        <p:spPr>
          <a:xfrm>
            <a:off x="8092440" y="2240280"/>
            <a:ext cx="3520440" cy="347472"/>
          </a:xfrm>
          <a:prstGeom prst="rect">
            <a:avLst/>
          </a:prstGeom>
          <a:noFill/>
          <a:ln/>
        </p:spPr>
        <p:txBody>
          <a:bodyPr wrap="square" lIns="0" tIns="0" rIns="0" bIns="0" rtlCol="0" anchor="ctr"/>
          <a:lstStyle/>
          <a:p>
            <a:pPr marL="0" indent="0">
              <a:buNone/>
            </a:pPr>
            <a:r>
              <a:rPr lang="en-US" sz="1550" b="1" dirty="0">
                <a:solidFill>
                  <a:srgbClr val="0B2545"/>
                </a:solidFill>
                <a:latin typeface="Calibri" pitchFamily="34" charset="0"/>
                <a:ea typeface="Calibri" pitchFamily="34" charset="-122"/>
                <a:cs typeface="Calibri" pitchFamily="34" charset="-120"/>
              </a:rPr>
              <a:t>Données en double</a:t>
            </a:r>
            <a:endParaRPr lang="en-US" sz="1550" dirty="0"/>
          </a:p>
        </p:txBody>
      </p:sp>
      <p:sp>
        <p:nvSpPr>
          <p:cNvPr id="12" name="Text 8"/>
          <p:cNvSpPr txBox="1"/>
          <p:nvPr/>
        </p:nvSpPr>
        <p:spPr>
          <a:xfrm>
            <a:off x="8092440" y="2587752"/>
            <a:ext cx="3520440" cy="384048"/>
          </a:xfrm>
          <a:prstGeom prst="rect">
            <a:avLst/>
          </a:prstGeom>
          <a:noFill/>
          <a:ln/>
        </p:spPr>
        <p:txBody>
          <a:bodyPr wrap="square" lIns="0" tIns="0" rIns="0" bIns="0" rtlCol="0" anchor="ctr"/>
          <a:lstStyle/>
          <a:p>
            <a:pPr marL="0" indent="0">
              <a:buNone/>
            </a:pPr>
            <a:r>
              <a:rPr lang="en-US" sz="1350" dirty="0">
                <a:solidFill>
                  <a:srgbClr val="5B6B7F"/>
                </a:solidFill>
                <a:latin typeface="Calibri" pitchFamily="34" charset="0"/>
                <a:ea typeface="Calibri" pitchFamily="34" charset="-122"/>
                <a:cs typeface="Calibri" pitchFamily="34" charset="-120"/>
              </a:rPr>
              <a:t>Même donnée stockée deux fois</a:t>
            </a:r>
            <a:endParaRPr lang="en-US" sz="1350" dirty="0"/>
          </a:p>
        </p:txBody>
      </p:sp>
      <p:sp>
        <p:nvSpPr>
          <p:cNvPr id="13" name="Shape 9"/>
          <p:cNvSpPr/>
          <p:nvPr/>
        </p:nvSpPr>
        <p:spPr>
          <a:xfrm>
            <a:off x="7406640" y="3182112"/>
            <a:ext cx="502920" cy="502920"/>
          </a:xfrm>
          <a:prstGeom prst="ellipse">
            <a:avLst/>
          </a:prstGeom>
          <a:solidFill>
            <a:srgbClr val="F2A541"/>
          </a:solidFill>
          <a:ln w="12700">
            <a:solidFill>
              <a:srgbClr val="F2A541"/>
            </a:solidFill>
            <a:prstDash val="solid"/>
          </a:ln>
        </p:spPr>
      </p:sp>
      <p:pic>
        <p:nvPicPr>
          <p:cNvPr id="14" name="Image 2" descr="preencoded.png"/>
          <p:cNvPicPr>
            <a:picLocks noChangeAspect="1"/>
          </p:cNvPicPr>
          <p:nvPr/>
        </p:nvPicPr>
        <p:blipFill>
          <a:blip r:embed="rId5"/>
          <a:stretch>
            <a:fillRect/>
          </a:stretch>
        </p:blipFill>
        <p:spPr>
          <a:xfrm>
            <a:off x="7532370" y="3307842"/>
            <a:ext cx="251460" cy="251460"/>
          </a:xfrm>
          <a:prstGeom prst="rect">
            <a:avLst/>
          </a:prstGeom>
        </p:spPr>
      </p:pic>
      <p:sp>
        <p:nvSpPr>
          <p:cNvPr id="15" name="Text 10"/>
          <p:cNvSpPr txBox="1"/>
          <p:nvPr/>
        </p:nvSpPr>
        <p:spPr>
          <a:xfrm>
            <a:off x="8092440" y="3136392"/>
            <a:ext cx="3520440" cy="347472"/>
          </a:xfrm>
          <a:prstGeom prst="rect">
            <a:avLst/>
          </a:prstGeom>
          <a:noFill/>
          <a:ln/>
        </p:spPr>
        <p:txBody>
          <a:bodyPr wrap="square" lIns="0" tIns="0" rIns="0" bIns="0" rtlCol="0" anchor="ctr"/>
          <a:lstStyle/>
          <a:p>
            <a:pPr marL="0" indent="0">
              <a:buNone/>
            </a:pPr>
            <a:r>
              <a:rPr lang="en-US" sz="1550" b="1" dirty="0">
                <a:solidFill>
                  <a:srgbClr val="0B2545"/>
                </a:solidFill>
                <a:latin typeface="Calibri" pitchFamily="34" charset="0"/>
                <a:ea typeface="Calibri" pitchFamily="34" charset="-122"/>
                <a:cs typeface="Calibri" pitchFamily="34" charset="-120"/>
              </a:rPr>
              <a:t>Données en retard</a:t>
            </a:r>
            <a:endParaRPr lang="en-US" sz="1550" dirty="0"/>
          </a:p>
        </p:txBody>
      </p:sp>
      <p:sp>
        <p:nvSpPr>
          <p:cNvPr id="16" name="Text 11"/>
          <p:cNvSpPr txBox="1"/>
          <p:nvPr/>
        </p:nvSpPr>
        <p:spPr>
          <a:xfrm>
            <a:off x="8092440" y="3483864"/>
            <a:ext cx="3520440" cy="384048"/>
          </a:xfrm>
          <a:prstGeom prst="rect">
            <a:avLst/>
          </a:prstGeom>
          <a:noFill/>
          <a:ln/>
        </p:spPr>
        <p:txBody>
          <a:bodyPr wrap="square" lIns="0" tIns="0" rIns="0" bIns="0" rtlCol="0" anchor="ctr"/>
          <a:lstStyle/>
          <a:p>
            <a:pPr marL="0" indent="0">
              <a:buNone/>
            </a:pPr>
            <a:r>
              <a:rPr lang="en-US" sz="1350" dirty="0">
                <a:solidFill>
                  <a:srgbClr val="5B6B7F"/>
                </a:solidFill>
                <a:latin typeface="Calibri" pitchFamily="34" charset="0"/>
                <a:ea typeface="Calibri" pitchFamily="34" charset="-122"/>
                <a:cs typeface="Calibri" pitchFamily="34" charset="-120"/>
              </a:rPr>
              <a:t>Le warehouse attend l'ETL</a:t>
            </a:r>
            <a:endParaRPr lang="en-US" sz="1350" dirty="0"/>
          </a:p>
        </p:txBody>
      </p:sp>
      <p:sp>
        <p:nvSpPr>
          <p:cNvPr id="17" name="Shape 12"/>
          <p:cNvSpPr/>
          <p:nvPr/>
        </p:nvSpPr>
        <p:spPr>
          <a:xfrm>
            <a:off x="7406640" y="4078224"/>
            <a:ext cx="502920" cy="502920"/>
          </a:xfrm>
          <a:prstGeom prst="ellipse">
            <a:avLst/>
          </a:prstGeom>
          <a:solidFill>
            <a:srgbClr val="F2A541"/>
          </a:solidFill>
          <a:ln w="12700">
            <a:solidFill>
              <a:srgbClr val="F2A541"/>
            </a:solidFill>
            <a:prstDash val="solid"/>
          </a:ln>
        </p:spPr>
      </p:sp>
      <p:pic>
        <p:nvPicPr>
          <p:cNvPr id="18" name="Image 3" descr="preencoded.png"/>
          <p:cNvPicPr>
            <a:picLocks noChangeAspect="1"/>
          </p:cNvPicPr>
          <p:nvPr/>
        </p:nvPicPr>
        <p:blipFill>
          <a:blip r:embed="rId6"/>
          <a:stretch>
            <a:fillRect/>
          </a:stretch>
        </p:blipFill>
        <p:spPr>
          <a:xfrm>
            <a:off x="7532370" y="4203954"/>
            <a:ext cx="251460" cy="251460"/>
          </a:xfrm>
          <a:prstGeom prst="rect">
            <a:avLst/>
          </a:prstGeom>
        </p:spPr>
      </p:pic>
      <p:sp>
        <p:nvSpPr>
          <p:cNvPr id="19" name="Text 13"/>
          <p:cNvSpPr txBox="1"/>
          <p:nvPr/>
        </p:nvSpPr>
        <p:spPr>
          <a:xfrm>
            <a:off x="8092440" y="4032504"/>
            <a:ext cx="3520440" cy="347472"/>
          </a:xfrm>
          <a:prstGeom prst="rect">
            <a:avLst/>
          </a:prstGeom>
          <a:noFill/>
          <a:ln/>
        </p:spPr>
        <p:txBody>
          <a:bodyPr wrap="square" lIns="0" tIns="0" rIns="0" bIns="0" rtlCol="0" anchor="ctr"/>
          <a:lstStyle/>
          <a:p>
            <a:pPr marL="0" indent="0">
              <a:buNone/>
            </a:pPr>
            <a:r>
              <a:rPr lang="en-US" sz="1550" b="1" dirty="0">
                <a:solidFill>
                  <a:srgbClr val="0B2545"/>
                </a:solidFill>
                <a:latin typeface="Calibri" pitchFamily="34" charset="0"/>
                <a:ea typeface="Calibri" pitchFamily="34" charset="-122"/>
                <a:cs typeface="Calibri" pitchFamily="34" charset="-120"/>
              </a:rPr>
              <a:t>Coûts cumulés</a:t>
            </a:r>
            <a:endParaRPr lang="en-US" sz="1550" dirty="0"/>
          </a:p>
        </p:txBody>
      </p:sp>
      <p:sp>
        <p:nvSpPr>
          <p:cNvPr id="20" name="Text 14"/>
          <p:cNvSpPr txBox="1"/>
          <p:nvPr/>
        </p:nvSpPr>
        <p:spPr>
          <a:xfrm>
            <a:off x="8092440" y="4379976"/>
            <a:ext cx="3520440" cy="384048"/>
          </a:xfrm>
          <a:prstGeom prst="rect">
            <a:avLst/>
          </a:prstGeom>
          <a:noFill/>
          <a:ln/>
        </p:spPr>
        <p:txBody>
          <a:bodyPr wrap="square" lIns="0" tIns="0" rIns="0" bIns="0" rtlCol="0" anchor="ctr"/>
          <a:lstStyle/>
          <a:p>
            <a:pPr marL="0" indent="0">
              <a:buNone/>
            </a:pPr>
            <a:r>
              <a:rPr lang="en-US" sz="1350" dirty="0">
                <a:solidFill>
                  <a:srgbClr val="5B6B7F"/>
                </a:solidFill>
                <a:latin typeface="Calibri" pitchFamily="34" charset="0"/>
                <a:ea typeface="Calibri" pitchFamily="34" charset="-122"/>
                <a:cs typeface="Calibri" pitchFamily="34" charset="-120"/>
              </a:rPr>
              <a:t>Deux plateformes à payer et maintenir</a:t>
            </a:r>
            <a:endParaRPr lang="en-US" sz="1350" dirty="0"/>
          </a:p>
        </p:txBody>
      </p:sp>
      <p:sp>
        <p:nvSpPr>
          <p:cNvPr id="21" name="Shape 15"/>
          <p:cNvSpPr/>
          <p:nvPr/>
        </p:nvSpPr>
        <p:spPr>
          <a:xfrm>
            <a:off x="7406640" y="4974336"/>
            <a:ext cx="502920" cy="502920"/>
          </a:xfrm>
          <a:prstGeom prst="ellipse">
            <a:avLst/>
          </a:prstGeom>
          <a:solidFill>
            <a:srgbClr val="F2A541"/>
          </a:solidFill>
          <a:ln w="12700">
            <a:solidFill>
              <a:srgbClr val="F2A541"/>
            </a:solidFill>
            <a:prstDash val="solid"/>
          </a:ln>
        </p:spPr>
      </p:sp>
      <p:pic>
        <p:nvPicPr>
          <p:cNvPr id="22" name="Image 4" descr="preencoded.png"/>
          <p:cNvPicPr>
            <a:picLocks noChangeAspect="1"/>
          </p:cNvPicPr>
          <p:nvPr/>
        </p:nvPicPr>
        <p:blipFill>
          <a:blip r:embed="rId7"/>
          <a:stretch>
            <a:fillRect/>
          </a:stretch>
        </p:blipFill>
        <p:spPr>
          <a:xfrm>
            <a:off x="7532370" y="5100066"/>
            <a:ext cx="251460" cy="251460"/>
          </a:xfrm>
          <a:prstGeom prst="rect">
            <a:avLst/>
          </a:prstGeom>
        </p:spPr>
      </p:pic>
      <p:sp>
        <p:nvSpPr>
          <p:cNvPr id="23" name="Text 16"/>
          <p:cNvSpPr txBox="1"/>
          <p:nvPr/>
        </p:nvSpPr>
        <p:spPr>
          <a:xfrm>
            <a:off x="8092440" y="4928616"/>
            <a:ext cx="3520440" cy="347472"/>
          </a:xfrm>
          <a:prstGeom prst="rect">
            <a:avLst/>
          </a:prstGeom>
          <a:noFill/>
          <a:ln/>
        </p:spPr>
        <p:txBody>
          <a:bodyPr wrap="square" lIns="0" tIns="0" rIns="0" bIns="0" rtlCol="0" anchor="ctr"/>
          <a:lstStyle/>
          <a:p>
            <a:pPr marL="0" indent="0">
              <a:buNone/>
            </a:pPr>
            <a:r>
              <a:rPr lang="en-US" sz="1550" b="1" dirty="0">
                <a:solidFill>
                  <a:srgbClr val="0B2545"/>
                </a:solidFill>
                <a:latin typeface="Calibri" pitchFamily="34" charset="0"/>
                <a:ea typeface="Calibri" pitchFamily="34" charset="-122"/>
                <a:cs typeface="Calibri" pitchFamily="34" charset="-120"/>
              </a:rPr>
              <a:t>Data swamp</a:t>
            </a:r>
            <a:endParaRPr lang="en-US" sz="1550" dirty="0"/>
          </a:p>
        </p:txBody>
      </p:sp>
      <p:sp>
        <p:nvSpPr>
          <p:cNvPr id="24" name="Text 17"/>
          <p:cNvSpPr txBox="1"/>
          <p:nvPr/>
        </p:nvSpPr>
        <p:spPr>
          <a:xfrm>
            <a:off x="8092440" y="5276088"/>
            <a:ext cx="3520440" cy="384048"/>
          </a:xfrm>
          <a:prstGeom prst="rect">
            <a:avLst/>
          </a:prstGeom>
          <a:noFill/>
          <a:ln/>
        </p:spPr>
        <p:txBody>
          <a:bodyPr wrap="square" lIns="0" tIns="0" rIns="0" bIns="0" rtlCol="0" anchor="ctr"/>
          <a:lstStyle/>
          <a:p>
            <a:pPr marL="0" indent="0">
              <a:buNone/>
            </a:pPr>
            <a:r>
              <a:rPr lang="en-US" sz="1350" dirty="0">
                <a:solidFill>
                  <a:srgbClr val="5B6B7F"/>
                </a:solidFill>
                <a:latin typeface="Calibri" pitchFamily="34" charset="0"/>
                <a:ea typeface="Calibri" pitchFamily="34" charset="-122"/>
                <a:cs typeface="Calibri" pitchFamily="34" charset="-120"/>
              </a:rPr>
              <a:t>Lake sans contrôle ni qualité</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2545"/>
        </a:solidFill>
        <a:effectLst/>
      </p:bgPr>
    </p:bg>
    <p:spTree>
      <p:nvGrpSpPr>
        <p:cNvPr id="1" name=""/>
        <p:cNvGrpSpPr/>
        <p:nvPr/>
      </p:nvGrpSpPr>
      <p:grpSpPr>
        <a:xfrm>
          <a:off x="0" y="0"/>
          <a:ext cx="0" cy="0"/>
          <a:chOff x="0" y="0"/>
          <a:chExt cx="0" cy="0"/>
        </a:xfrm>
      </p:grpSpPr>
      <p:sp>
        <p:nvSpPr>
          <p:cNvPr id="2" name="Text 0"/>
          <p:cNvSpPr txBox="1"/>
          <p:nvPr/>
        </p:nvSpPr>
        <p:spPr>
          <a:xfrm>
            <a:off x="640080" y="1737360"/>
            <a:ext cx="2743200" cy="1280160"/>
          </a:xfrm>
          <a:prstGeom prst="rect">
            <a:avLst/>
          </a:prstGeom>
          <a:noFill/>
          <a:ln/>
        </p:spPr>
        <p:txBody>
          <a:bodyPr wrap="square" lIns="0" tIns="0" rIns="0" bIns="0" rtlCol="0" anchor="ctr"/>
          <a:lstStyle/>
          <a:p>
            <a:pPr marL="0" indent="0">
              <a:buNone/>
            </a:pPr>
            <a:r>
              <a:rPr lang="en-US" sz="8000" b="1" dirty="0">
                <a:solidFill>
                  <a:srgbClr val="F2A541"/>
                </a:solidFill>
                <a:latin typeface="Cambria" pitchFamily="34" charset="0"/>
                <a:ea typeface="Cambria" pitchFamily="34" charset="-122"/>
                <a:cs typeface="Cambria" pitchFamily="34" charset="-120"/>
              </a:rPr>
              <a:t>03</a:t>
            </a:r>
            <a:endParaRPr lang="en-US" sz="8000" dirty="0"/>
          </a:p>
        </p:txBody>
      </p:sp>
      <p:sp>
        <p:nvSpPr>
          <p:cNvPr id="3" name="Text 1"/>
          <p:cNvSpPr txBox="1"/>
          <p:nvPr/>
        </p:nvSpPr>
        <p:spPr>
          <a:xfrm>
            <a:off x="640080" y="3108960"/>
            <a:ext cx="10058400" cy="9144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Le Data Lakehouse</a:t>
            </a:r>
            <a:endParaRPr lang="en-US" sz="4400" dirty="0"/>
          </a:p>
        </p:txBody>
      </p:sp>
      <p:sp>
        <p:nvSpPr>
          <p:cNvPr id="4" name="Text 2"/>
          <p:cNvSpPr txBox="1"/>
          <p:nvPr/>
        </p:nvSpPr>
        <p:spPr>
          <a:xfrm>
            <a:off x="640080" y="4069080"/>
            <a:ext cx="10058400" cy="548640"/>
          </a:xfrm>
          <a:prstGeom prst="rect">
            <a:avLst/>
          </a:prstGeom>
          <a:noFill/>
          <a:ln/>
        </p:spPr>
        <p:txBody>
          <a:bodyPr wrap="square" lIns="0" tIns="0" rIns="0" bIns="0" rtlCol="0" anchor="ctr"/>
          <a:lstStyle/>
          <a:p>
            <a:pPr marL="0" indent="0">
              <a:buNone/>
            </a:pPr>
            <a:r>
              <a:rPr lang="en-US" sz="2000" dirty="0">
                <a:solidFill>
                  <a:srgbClr val="DCEBF0"/>
                </a:solidFill>
                <a:latin typeface="Calibri" pitchFamily="34" charset="0"/>
                <a:ea typeface="Calibri" pitchFamily="34" charset="-122"/>
                <a:cs typeface="Calibri" pitchFamily="34" charset="-120"/>
              </a:rPr>
              <a:t>La fiabilité du warehouse sur le stockage ouvert du lake</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155680" y="6400800"/>
            <a:ext cx="548640" cy="274320"/>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18</a:t>
            </a:r>
            <a:endParaRPr lang="en-US" sz="1000" dirty="0"/>
          </a:p>
        </p:txBody>
      </p:sp>
      <p:sp>
        <p:nvSpPr>
          <p:cNvPr id="3" name="Text 1"/>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Qu'est-ce qu'un data lakehouse ?</a:t>
            </a:r>
            <a:endParaRPr lang="en-US" sz="3200" dirty="0"/>
          </a:p>
        </p:txBody>
      </p:sp>
      <p:sp>
        <p:nvSpPr>
          <p:cNvPr id="4" name="Text 2"/>
          <p:cNvSpPr txBox="1"/>
          <p:nvPr/>
        </p:nvSpPr>
        <p:spPr>
          <a:xfrm>
            <a:off x="548640" y="1234440"/>
            <a:ext cx="5212080" cy="1371600"/>
          </a:xfrm>
          <a:prstGeom prst="rect">
            <a:avLst/>
          </a:prstGeom>
          <a:noFill/>
          <a:ln/>
        </p:spPr>
        <p:txBody>
          <a:bodyPr wrap="square" lIns="0" tIns="0" rIns="0" bIns="0" rtlCol="0" anchor="t"/>
          <a:lstStyle/>
          <a:p>
            <a:pPr marL="0" indent="0">
              <a:buNone/>
            </a:pPr>
            <a:r>
              <a:rPr lang="en-US" sz="1600" dirty="0">
                <a:solidFill>
                  <a:srgbClr val="1E293B"/>
                </a:solidFill>
                <a:latin typeface="Calibri" pitchFamily="34" charset="0"/>
                <a:ea typeface="Calibri" pitchFamily="34" charset="-122"/>
                <a:cs typeface="Calibri" pitchFamily="34" charset="-120"/>
              </a:rPr>
              <a:t>Une architecture unique qui ajoute les garanties d'un data warehouse (transactions, schéma, performance SQL) directement sur le stockage bon marché et ouvert d'un data lake.</a:t>
            </a:r>
            <a:endParaRPr lang="en-US" sz="1600" dirty="0"/>
          </a:p>
        </p:txBody>
      </p:sp>
      <p:sp>
        <p:nvSpPr>
          <p:cNvPr id="5" name="Shape 3"/>
          <p:cNvSpPr/>
          <p:nvPr/>
        </p:nvSpPr>
        <p:spPr>
          <a:xfrm>
            <a:off x="548640" y="2788920"/>
            <a:ext cx="5212080" cy="1188720"/>
          </a:xfrm>
          <a:prstGeom prst="roundRect">
            <a:avLst>
              <a:gd name="adj" fmla="val 7692"/>
            </a:avLst>
          </a:prstGeom>
          <a:solidFill>
            <a:srgbClr val="DCEBF0"/>
          </a:solidFill>
          <a:ln w="12700">
            <a:solidFill>
              <a:srgbClr val="DCEBF0"/>
            </a:solidFill>
            <a:prstDash val="solid"/>
          </a:ln>
        </p:spPr>
      </p:sp>
      <p:sp>
        <p:nvSpPr>
          <p:cNvPr id="6" name="Text 4"/>
          <p:cNvSpPr txBox="1"/>
          <p:nvPr/>
        </p:nvSpPr>
        <p:spPr>
          <a:xfrm>
            <a:off x="731520" y="2834640"/>
            <a:ext cx="4846320" cy="548640"/>
          </a:xfrm>
          <a:prstGeom prst="rect">
            <a:avLst/>
          </a:prstGeom>
          <a:noFill/>
          <a:ln/>
        </p:spPr>
        <p:txBody>
          <a:bodyPr wrap="square" lIns="0" tIns="0" rIns="0" bIns="0" rtlCol="0" anchor="ctr"/>
          <a:lstStyle/>
          <a:p>
            <a:pPr marL="0" indent="0" algn="ctr">
              <a:buNone/>
            </a:pPr>
            <a:r>
              <a:rPr lang="en-US" sz="1700" b="1" dirty="0">
                <a:solidFill>
                  <a:srgbClr val="1B998B"/>
                </a:solidFill>
                <a:latin typeface="Calibri" pitchFamily="34" charset="0"/>
                <a:ea typeface="Calibri" pitchFamily="34" charset="-122"/>
                <a:cs typeface="Calibri" pitchFamily="34" charset="-120"/>
              </a:rPr>
              <a:t>Stockage du lake</a:t>
            </a:r>
            <a:r>
              <a:rPr lang="en-US" sz="1700" dirty="0">
                <a:solidFill>
                  <a:srgbClr val="1E293B"/>
                </a:solidFill>
                <a:latin typeface="Calibri" pitchFamily="34" charset="0"/>
                <a:ea typeface="Calibri" pitchFamily="34" charset="-122"/>
                <a:cs typeface="Calibri" pitchFamily="34" charset="-120"/>
              </a:rPr>
              <a:t>  +  </a:t>
            </a:r>
            <a:r>
              <a:rPr lang="en-US" sz="1700" b="1" dirty="0">
                <a:solidFill>
                  <a:srgbClr val="0B2545"/>
                </a:solidFill>
                <a:latin typeface="Calibri" pitchFamily="34" charset="0"/>
                <a:ea typeface="Calibri" pitchFamily="34" charset="-122"/>
                <a:cs typeface="Calibri" pitchFamily="34" charset="-120"/>
              </a:rPr>
              <a:t>fiabilité du warehouse</a:t>
            </a:r>
            <a:endParaRPr lang="en-US" sz="1700" dirty="0"/>
          </a:p>
        </p:txBody>
      </p:sp>
      <p:sp>
        <p:nvSpPr>
          <p:cNvPr id="7" name="Text 5"/>
          <p:cNvSpPr txBox="1"/>
          <p:nvPr/>
        </p:nvSpPr>
        <p:spPr>
          <a:xfrm>
            <a:off x="731520" y="3337560"/>
            <a:ext cx="4846320" cy="502920"/>
          </a:xfrm>
          <a:prstGeom prst="rect">
            <a:avLst/>
          </a:prstGeom>
          <a:noFill/>
          <a:ln/>
        </p:spPr>
        <p:txBody>
          <a:bodyPr wrap="square" lIns="0" tIns="0" rIns="0" bIns="0" rtlCol="0" anchor="ctr"/>
          <a:lstStyle/>
          <a:p>
            <a:pPr marL="0" indent="0" algn="ctr">
              <a:buNone/>
            </a:pPr>
            <a:r>
              <a:rPr lang="en-US" sz="1800" b="1" dirty="0">
                <a:solidFill>
                  <a:srgbClr val="B7791F"/>
                </a:solidFill>
                <a:latin typeface="Cambria" pitchFamily="34" charset="0"/>
                <a:ea typeface="Cambria" pitchFamily="34" charset="-122"/>
                <a:cs typeface="Cambria" pitchFamily="34" charset="-120"/>
              </a:rPr>
              <a:t>=  une seule plateforme</a:t>
            </a:r>
            <a:endParaRPr lang="en-US" sz="1800" dirty="0"/>
          </a:p>
        </p:txBody>
      </p:sp>
      <p:sp>
        <p:nvSpPr>
          <p:cNvPr id="8" name="Text 6"/>
          <p:cNvSpPr txBox="1"/>
          <p:nvPr/>
        </p:nvSpPr>
        <p:spPr>
          <a:xfrm>
            <a:off x="548640" y="4206240"/>
            <a:ext cx="5212080" cy="1828800"/>
          </a:xfrm>
          <a:prstGeom prst="rect">
            <a:avLst/>
          </a:prstGeom>
          <a:noFill/>
          <a:ln/>
        </p:spPr>
        <p:txBody>
          <a:bodyPr wrap="square" rtlCol="0" anchor="t"/>
          <a:lstStyle/>
          <a:p>
            <a:pPr marL="342900" indent="-342900">
              <a:spcAft>
                <a:spcPts val="800"/>
              </a:spcAft>
              <a:buSzPct val="100000"/>
              <a:buChar char="•"/>
            </a:pPr>
            <a:r>
              <a:rPr lang="en-US" sz="1500" dirty="0">
                <a:solidFill>
                  <a:srgbClr val="1E293B"/>
                </a:solidFill>
                <a:latin typeface="Calibri" pitchFamily="34" charset="0"/>
                <a:ea typeface="Calibri" pitchFamily="34" charset="-122"/>
                <a:cs typeface="Calibri" pitchFamily="34" charset="-120"/>
              </a:rPr>
              <a:t>Une seule copie des données pour la BI et l'IA</a:t>
            </a:r>
            <a:endParaRPr lang="en-US" sz="1500" dirty="0"/>
          </a:p>
          <a:p>
            <a:pPr marL="342900" indent="-342900">
              <a:spcAft>
                <a:spcPts val="800"/>
              </a:spcAft>
              <a:buSzPct val="100000"/>
              <a:buChar char="•"/>
            </a:pPr>
            <a:r>
              <a:rPr lang="en-US" sz="1500" dirty="0">
                <a:solidFill>
                  <a:srgbClr val="1E293B"/>
                </a:solidFill>
                <a:latin typeface="Calibri" pitchFamily="34" charset="0"/>
                <a:ea typeface="Calibri" pitchFamily="34" charset="-122"/>
                <a:cs typeface="Calibri" pitchFamily="34" charset="-120"/>
              </a:rPr>
              <a:t>Formats ouverts : pas d'enfermement chez un fournisseur</a:t>
            </a:r>
            <a:endParaRPr lang="en-US" sz="1500" dirty="0"/>
          </a:p>
          <a:p>
            <a:pPr marL="342900" indent="-342900">
              <a:spcAft>
                <a:spcPts val="800"/>
              </a:spcAft>
              <a:buSzPct val="100000"/>
              <a:buChar char="•"/>
            </a:pPr>
            <a:r>
              <a:rPr lang="en-US" sz="1500" dirty="0">
                <a:solidFill>
                  <a:srgbClr val="1E293B"/>
                </a:solidFill>
                <a:latin typeface="Calibri" pitchFamily="34" charset="0"/>
                <a:ea typeface="Calibri" pitchFamily="34" charset="-122"/>
                <a:cs typeface="Calibri" pitchFamily="34" charset="-120"/>
              </a:rPr>
              <a:t>Batch et streaming sur les mêmes tables</a:t>
            </a:r>
            <a:endParaRPr lang="en-US" sz="1500" dirty="0"/>
          </a:p>
        </p:txBody>
      </p:sp>
      <p:sp>
        <p:nvSpPr>
          <p:cNvPr id="9" name="Shape 7"/>
          <p:cNvSpPr/>
          <p:nvPr/>
        </p:nvSpPr>
        <p:spPr>
          <a:xfrm>
            <a:off x="6126480" y="1371600"/>
            <a:ext cx="5486400" cy="3840480"/>
          </a:xfrm>
          <a:prstGeom prst="roundRect">
            <a:avLst>
              <a:gd name="adj" fmla="val 2857"/>
            </a:avLst>
          </a:prstGeom>
          <a:solidFill>
            <a:srgbClr val="FFFFFF"/>
          </a:solidFill>
          <a:ln w="9525">
            <a:solidFill>
              <a:srgbClr val="E2E8F0"/>
            </a:solidFill>
            <a:prstDash val="solid"/>
          </a:ln>
          <a:effectLst>
            <a:outerShdw blurRad="101600" dist="25400" dir="5400000" algn="bl" rotWithShape="0">
              <a:srgbClr val="000000">
                <a:alpha val="15000"/>
              </a:srgbClr>
            </a:outerShdw>
          </a:effectLst>
        </p:spPr>
      </p:sp>
      <p:pic>
        <p:nvPicPr>
          <p:cNvPr id="10" name="Image 0" descr="/home/claude/deck/img/hex.png"/>
          <p:cNvPicPr>
            <a:picLocks noChangeAspect="1"/>
          </p:cNvPicPr>
          <p:nvPr/>
        </p:nvPicPr>
        <p:blipFill>
          <a:blip r:embed="rId3"/>
          <a:stretch>
            <a:fillRect/>
          </a:stretch>
        </p:blipFill>
        <p:spPr>
          <a:xfrm>
            <a:off x="6236208" y="1835220"/>
            <a:ext cx="5266944" cy="291324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155680" y="6400800"/>
            <a:ext cx="548640" cy="274320"/>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19</a:t>
            </a:r>
            <a:endParaRPr lang="en-US" sz="1000" dirty="0"/>
          </a:p>
        </p:txBody>
      </p:sp>
      <p:sp>
        <p:nvSpPr>
          <p:cNvPr id="3" name="Text 1"/>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L'architecture en couches du lakehouse</a:t>
            </a:r>
            <a:endParaRPr lang="en-US" sz="3200" dirty="0"/>
          </a:p>
        </p:txBody>
      </p:sp>
      <p:sp>
        <p:nvSpPr>
          <p:cNvPr id="4" name="Shape 2"/>
          <p:cNvSpPr/>
          <p:nvPr/>
        </p:nvSpPr>
        <p:spPr>
          <a:xfrm>
            <a:off x="548640" y="1188720"/>
            <a:ext cx="6766560" cy="5074920"/>
          </a:xfrm>
          <a:prstGeom prst="roundRect">
            <a:avLst>
              <a:gd name="adj" fmla="val 2162"/>
            </a:avLst>
          </a:prstGeom>
          <a:solidFill>
            <a:srgbClr val="FFFFFF"/>
          </a:solidFill>
          <a:ln w="9525">
            <a:solidFill>
              <a:srgbClr val="E2E8F0"/>
            </a:solidFill>
            <a:prstDash val="solid"/>
          </a:ln>
          <a:effectLst>
            <a:outerShdw blurRad="101600" dist="25400" dir="5400000" algn="bl" rotWithShape="0">
              <a:srgbClr val="000000">
                <a:alpha val="15000"/>
              </a:srgbClr>
            </a:outerShdw>
          </a:effectLst>
        </p:spPr>
      </p:sp>
      <p:pic>
        <p:nvPicPr>
          <p:cNvPr id="5" name="Image 0" descr="/home/claude/deck/img/delta.png"/>
          <p:cNvPicPr>
            <a:picLocks noChangeAspect="1"/>
          </p:cNvPicPr>
          <p:nvPr/>
        </p:nvPicPr>
        <p:blipFill>
          <a:blip r:embed="rId3"/>
          <a:stretch>
            <a:fillRect/>
          </a:stretch>
        </p:blipFill>
        <p:spPr>
          <a:xfrm>
            <a:off x="658368" y="1558265"/>
            <a:ext cx="6547104" cy="4335830"/>
          </a:xfrm>
          <a:prstGeom prst="rect">
            <a:avLst/>
          </a:prstGeom>
        </p:spPr>
      </p:pic>
      <p:sp>
        <p:nvSpPr>
          <p:cNvPr id="6" name="Shape 3"/>
          <p:cNvSpPr/>
          <p:nvPr/>
        </p:nvSpPr>
        <p:spPr>
          <a:xfrm>
            <a:off x="7635240" y="1188720"/>
            <a:ext cx="3977640" cy="1143000"/>
          </a:xfrm>
          <a:prstGeom prst="roundRect">
            <a:avLst>
              <a:gd name="adj" fmla="val 8000"/>
            </a:avLst>
          </a:prstGeom>
          <a:solidFill>
            <a:srgbClr val="F1F6F8"/>
          </a:solidFill>
          <a:ln w="12700">
            <a:solidFill>
              <a:srgbClr val="F1F6F8"/>
            </a:solidFill>
            <a:prstDash val="solid"/>
          </a:ln>
        </p:spPr>
      </p:sp>
      <p:sp>
        <p:nvSpPr>
          <p:cNvPr id="7" name="Text 4"/>
          <p:cNvSpPr txBox="1"/>
          <p:nvPr/>
        </p:nvSpPr>
        <p:spPr>
          <a:xfrm>
            <a:off x="7818120" y="1280160"/>
            <a:ext cx="3657600" cy="347472"/>
          </a:xfrm>
          <a:prstGeom prst="rect">
            <a:avLst/>
          </a:prstGeom>
          <a:noFill/>
          <a:ln/>
        </p:spPr>
        <p:txBody>
          <a:bodyPr wrap="square" lIns="0" tIns="0" rIns="0" bIns="0" rtlCol="0" anchor="ctr"/>
          <a:lstStyle/>
          <a:p>
            <a:pPr marL="0" indent="0">
              <a:buNone/>
            </a:pPr>
            <a:r>
              <a:rPr lang="en-US" sz="1500" b="1" dirty="0">
                <a:solidFill>
                  <a:srgbClr val="1B998B"/>
                </a:solidFill>
                <a:latin typeface="Calibri" pitchFamily="34" charset="0"/>
                <a:ea typeface="Calibri" pitchFamily="34" charset="-122"/>
                <a:cs typeface="Calibri" pitchFamily="34" charset="-120"/>
              </a:rPr>
              <a:t>4. Usages</a:t>
            </a:r>
            <a:endParaRPr lang="en-US" sz="1500" dirty="0"/>
          </a:p>
        </p:txBody>
      </p:sp>
      <p:sp>
        <p:nvSpPr>
          <p:cNvPr id="8" name="Text 5"/>
          <p:cNvSpPr txBox="1"/>
          <p:nvPr/>
        </p:nvSpPr>
        <p:spPr>
          <a:xfrm>
            <a:off x="7818120" y="1627632"/>
            <a:ext cx="3657600" cy="658368"/>
          </a:xfrm>
          <a:prstGeom prst="rect">
            <a:avLst/>
          </a:prstGeom>
          <a:noFill/>
          <a:ln/>
        </p:spPr>
        <p:txBody>
          <a:bodyPr wrap="square" lIns="0" tIns="0" rIns="0" bIns="0" rtlCol="0" anchor="t"/>
          <a:lstStyle/>
          <a:p>
            <a:pPr marL="0" indent="0">
              <a:buNone/>
            </a:pPr>
            <a:r>
              <a:rPr lang="en-US" sz="1250" dirty="0">
                <a:solidFill>
                  <a:srgbClr val="1E293B"/>
                </a:solidFill>
                <a:latin typeface="Calibri" pitchFamily="34" charset="0"/>
                <a:ea typeface="Calibri" pitchFamily="34" charset="-122"/>
                <a:cs typeface="Calibri" pitchFamily="34" charset="-120"/>
              </a:rPr>
              <a:t>BI, streaming, data science, machine learning : une plateforme pour tous les cas d'usage.</a:t>
            </a:r>
            <a:endParaRPr lang="en-US" sz="1250" dirty="0"/>
          </a:p>
        </p:txBody>
      </p:sp>
      <p:sp>
        <p:nvSpPr>
          <p:cNvPr id="9" name="Shape 6"/>
          <p:cNvSpPr/>
          <p:nvPr/>
        </p:nvSpPr>
        <p:spPr>
          <a:xfrm>
            <a:off x="7635240" y="2468880"/>
            <a:ext cx="3977640" cy="1143000"/>
          </a:xfrm>
          <a:prstGeom prst="roundRect">
            <a:avLst>
              <a:gd name="adj" fmla="val 8000"/>
            </a:avLst>
          </a:prstGeom>
          <a:solidFill>
            <a:srgbClr val="F1F6F8"/>
          </a:solidFill>
          <a:ln w="12700">
            <a:solidFill>
              <a:srgbClr val="F1F6F8"/>
            </a:solidFill>
            <a:prstDash val="solid"/>
          </a:ln>
        </p:spPr>
      </p:sp>
      <p:sp>
        <p:nvSpPr>
          <p:cNvPr id="10" name="Text 7"/>
          <p:cNvSpPr txBox="1"/>
          <p:nvPr/>
        </p:nvSpPr>
        <p:spPr>
          <a:xfrm>
            <a:off x="7818120" y="2560320"/>
            <a:ext cx="3657600" cy="347472"/>
          </a:xfrm>
          <a:prstGeom prst="rect">
            <a:avLst/>
          </a:prstGeom>
          <a:noFill/>
          <a:ln/>
        </p:spPr>
        <p:txBody>
          <a:bodyPr wrap="square" lIns="0" tIns="0" rIns="0" bIns="0" rtlCol="0" anchor="ctr"/>
          <a:lstStyle/>
          <a:p>
            <a:pPr marL="0" indent="0">
              <a:buNone/>
            </a:pPr>
            <a:r>
              <a:rPr lang="en-US" sz="1500" b="1" dirty="0">
                <a:solidFill>
                  <a:srgbClr val="1B998B"/>
                </a:solidFill>
                <a:latin typeface="Calibri" pitchFamily="34" charset="0"/>
                <a:ea typeface="Calibri" pitchFamily="34" charset="-122"/>
                <a:cs typeface="Calibri" pitchFamily="34" charset="-120"/>
              </a:rPr>
              <a:t>3. Moteurs de calcul</a:t>
            </a:r>
            <a:endParaRPr lang="en-US" sz="1500" dirty="0"/>
          </a:p>
        </p:txBody>
      </p:sp>
      <p:sp>
        <p:nvSpPr>
          <p:cNvPr id="11" name="Text 8"/>
          <p:cNvSpPr txBox="1"/>
          <p:nvPr/>
        </p:nvSpPr>
        <p:spPr>
          <a:xfrm>
            <a:off x="7818120" y="2907792"/>
            <a:ext cx="3657600" cy="658368"/>
          </a:xfrm>
          <a:prstGeom prst="rect">
            <a:avLst/>
          </a:prstGeom>
          <a:noFill/>
          <a:ln/>
        </p:spPr>
        <p:txBody>
          <a:bodyPr wrap="square" lIns="0" tIns="0" rIns="0" bIns="0" rtlCol="0" anchor="t"/>
          <a:lstStyle/>
          <a:p>
            <a:pPr marL="0" indent="0">
              <a:buNone/>
            </a:pPr>
            <a:r>
              <a:rPr lang="en-US" sz="1250" dirty="0">
                <a:solidFill>
                  <a:srgbClr val="1E293B"/>
                </a:solidFill>
                <a:latin typeface="Calibri" pitchFamily="34" charset="0"/>
                <a:ea typeface="Calibri" pitchFamily="34" charset="-122"/>
                <a:cs typeface="Calibri" pitchFamily="34" charset="-120"/>
              </a:rPr>
              <a:t>Spark, Flink, Presto/Trino, Synapse : ils lisent et écrivent les mêmes tables.</a:t>
            </a:r>
            <a:endParaRPr lang="en-US" sz="1250" dirty="0"/>
          </a:p>
        </p:txBody>
      </p:sp>
      <p:sp>
        <p:nvSpPr>
          <p:cNvPr id="12" name="Shape 9"/>
          <p:cNvSpPr/>
          <p:nvPr/>
        </p:nvSpPr>
        <p:spPr>
          <a:xfrm>
            <a:off x="7635240" y="3749040"/>
            <a:ext cx="3977640" cy="1143000"/>
          </a:xfrm>
          <a:prstGeom prst="roundRect">
            <a:avLst>
              <a:gd name="adj" fmla="val 8000"/>
            </a:avLst>
          </a:prstGeom>
          <a:solidFill>
            <a:srgbClr val="0B2545"/>
          </a:solidFill>
          <a:ln w="12700">
            <a:solidFill>
              <a:srgbClr val="0B2545"/>
            </a:solidFill>
            <a:prstDash val="solid"/>
          </a:ln>
        </p:spPr>
      </p:sp>
      <p:sp>
        <p:nvSpPr>
          <p:cNvPr id="13" name="Text 10"/>
          <p:cNvSpPr txBox="1"/>
          <p:nvPr/>
        </p:nvSpPr>
        <p:spPr>
          <a:xfrm>
            <a:off x="7818120" y="3840480"/>
            <a:ext cx="3657600" cy="347472"/>
          </a:xfrm>
          <a:prstGeom prst="rect">
            <a:avLst/>
          </a:prstGeom>
          <a:noFill/>
          <a:ln/>
        </p:spPr>
        <p:txBody>
          <a:bodyPr wrap="square" lIns="0" tIns="0" rIns="0" bIns="0" rtlCol="0" anchor="ctr"/>
          <a:lstStyle/>
          <a:p>
            <a:pPr marL="0" indent="0">
              <a:buNone/>
            </a:pPr>
            <a:r>
              <a:rPr lang="en-US" sz="1500" b="1" dirty="0">
                <a:solidFill>
                  <a:srgbClr val="F2A541"/>
                </a:solidFill>
                <a:latin typeface="Calibri" pitchFamily="34" charset="0"/>
                <a:ea typeface="Calibri" pitchFamily="34" charset="-122"/>
                <a:cs typeface="Calibri" pitchFamily="34" charset="-120"/>
              </a:rPr>
              <a:t>2. Couche transactionnelle</a:t>
            </a:r>
            <a:endParaRPr lang="en-US" sz="1500" dirty="0"/>
          </a:p>
        </p:txBody>
      </p:sp>
      <p:sp>
        <p:nvSpPr>
          <p:cNvPr id="14" name="Text 11"/>
          <p:cNvSpPr txBox="1"/>
          <p:nvPr/>
        </p:nvSpPr>
        <p:spPr>
          <a:xfrm>
            <a:off x="7818120" y="4187952"/>
            <a:ext cx="3657600" cy="658368"/>
          </a:xfrm>
          <a:prstGeom prst="rect">
            <a:avLst/>
          </a:prstGeom>
          <a:noFill/>
          <a:ln/>
        </p:spPr>
        <p:txBody>
          <a:bodyPr wrap="square" lIns="0" tIns="0" rIns="0" bIns="0" rtlCol="0" anchor="t"/>
          <a:lstStyle/>
          <a:p>
            <a:pPr marL="0" indent="0">
              <a:buNone/>
            </a:pPr>
            <a:r>
              <a:rPr lang="en-US" sz="1250" dirty="0">
                <a:solidFill>
                  <a:srgbClr val="FFFFFF"/>
                </a:solidFill>
                <a:latin typeface="Calibri" pitchFamily="34" charset="0"/>
                <a:ea typeface="Calibri" pitchFamily="34" charset="-122"/>
                <a:cs typeface="Calibri" pitchFamily="34" charset="-120"/>
              </a:rPr>
              <a:t>Delta Lake (ou Iceberg, Hudi) : ACID, versions, schéma. C'est le cœur du lakehouse.</a:t>
            </a:r>
            <a:endParaRPr lang="en-US" sz="1250" dirty="0"/>
          </a:p>
        </p:txBody>
      </p:sp>
      <p:sp>
        <p:nvSpPr>
          <p:cNvPr id="15" name="Shape 12"/>
          <p:cNvSpPr/>
          <p:nvPr/>
        </p:nvSpPr>
        <p:spPr>
          <a:xfrm>
            <a:off x="7635240" y="5029200"/>
            <a:ext cx="3977640" cy="1143000"/>
          </a:xfrm>
          <a:prstGeom prst="roundRect">
            <a:avLst>
              <a:gd name="adj" fmla="val 8000"/>
            </a:avLst>
          </a:prstGeom>
          <a:solidFill>
            <a:srgbClr val="F1F6F8"/>
          </a:solidFill>
          <a:ln w="12700">
            <a:solidFill>
              <a:srgbClr val="F1F6F8"/>
            </a:solidFill>
            <a:prstDash val="solid"/>
          </a:ln>
        </p:spPr>
      </p:sp>
      <p:sp>
        <p:nvSpPr>
          <p:cNvPr id="16" name="Text 13"/>
          <p:cNvSpPr txBox="1"/>
          <p:nvPr/>
        </p:nvSpPr>
        <p:spPr>
          <a:xfrm>
            <a:off x="7818120" y="5120640"/>
            <a:ext cx="3657600" cy="347472"/>
          </a:xfrm>
          <a:prstGeom prst="rect">
            <a:avLst/>
          </a:prstGeom>
          <a:noFill/>
          <a:ln/>
        </p:spPr>
        <p:txBody>
          <a:bodyPr wrap="square" lIns="0" tIns="0" rIns="0" bIns="0" rtlCol="0" anchor="ctr"/>
          <a:lstStyle/>
          <a:p>
            <a:pPr marL="0" indent="0">
              <a:buNone/>
            </a:pPr>
            <a:r>
              <a:rPr lang="en-US" sz="1500" b="1" dirty="0">
                <a:solidFill>
                  <a:srgbClr val="1B998B"/>
                </a:solidFill>
                <a:latin typeface="Calibri" pitchFamily="34" charset="0"/>
                <a:ea typeface="Calibri" pitchFamily="34" charset="-122"/>
                <a:cs typeface="Calibri" pitchFamily="34" charset="-120"/>
              </a:rPr>
              <a:t>1. Stockage objet</a:t>
            </a:r>
            <a:endParaRPr lang="en-US" sz="1500" dirty="0"/>
          </a:p>
        </p:txBody>
      </p:sp>
      <p:sp>
        <p:nvSpPr>
          <p:cNvPr id="17" name="Text 14"/>
          <p:cNvSpPr txBox="1"/>
          <p:nvPr/>
        </p:nvSpPr>
        <p:spPr>
          <a:xfrm>
            <a:off x="7818120" y="5468112"/>
            <a:ext cx="3657600" cy="658368"/>
          </a:xfrm>
          <a:prstGeom prst="rect">
            <a:avLst/>
          </a:prstGeom>
          <a:noFill/>
          <a:ln/>
        </p:spPr>
        <p:txBody>
          <a:bodyPr wrap="square" lIns="0" tIns="0" rIns="0" bIns="0" rtlCol="0" anchor="t"/>
          <a:lstStyle/>
          <a:p>
            <a:pPr marL="0" indent="0">
              <a:buNone/>
            </a:pPr>
            <a:r>
              <a:rPr lang="en-US" sz="1250" dirty="0">
                <a:solidFill>
                  <a:srgbClr val="1E293B"/>
                </a:solidFill>
                <a:latin typeface="Calibri" pitchFamily="34" charset="0"/>
                <a:ea typeface="Calibri" pitchFamily="34" charset="-122"/>
                <a:cs typeface="Calibri" pitchFamily="34" charset="-120"/>
              </a:rPr>
              <a:t>S3, ADLS, GCS : fichiers Parquet, bon marché et extensibles.</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155680" y="6400800"/>
            <a:ext cx="548640" cy="274320"/>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20</a:t>
            </a:r>
            <a:endParaRPr lang="en-US" sz="1000" dirty="0"/>
          </a:p>
        </p:txBody>
      </p:sp>
      <p:sp>
        <p:nvSpPr>
          <p:cNvPr id="3" name="Text 1"/>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Ce qu'apportent les formats de table ouverts</a:t>
            </a:r>
            <a:endParaRPr lang="en-US" sz="3200" dirty="0"/>
          </a:p>
        </p:txBody>
      </p:sp>
      <p:sp>
        <p:nvSpPr>
          <p:cNvPr id="4" name="Text 2"/>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500" i="1" dirty="0">
                <a:solidFill>
                  <a:srgbClr val="5B6B7F"/>
                </a:solidFill>
                <a:latin typeface="Calibri" pitchFamily="34" charset="0"/>
                <a:ea typeface="Calibri" pitchFamily="34" charset="-122"/>
                <a:cs typeface="Calibri" pitchFamily="34" charset="-120"/>
              </a:rPr>
              <a:t>Delta Lake, Apache Iceberg et Apache Hudi transforment des fichiers en vraies tables</a:t>
            </a:r>
            <a:endParaRPr lang="en-US" sz="1500" dirty="0"/>
          </a:p>
        </p:txBody>
      </p:sp>
      <p:sp>
        <p:nvSpPr>
          <p:cNvPr id="5" name="Shape 3"/>
          <p:cNvSpPr/>
          <p:nvPr/>
        </p:nvSpPr>
        <p:spPr>
          <a:xfrm>
            <a:off x="548640" y="1691640"/>
            <a:ext cx="3566160" cy="1645920"/>
          </a:xfrm>
          <a:prstGeom prst="roundRect">
            <a:avLst>
              <a:gd name="adj" fmla="val 5556"/>
            </a:avLst>
          </a:prstGeom>
          <a:solidFill>
            <a:srgbClr val="F1F6F8"/>
          </a:solidFill>
          <a:ln w="12700">
            <a:solidFill>
              <a:srgbClr val="F1F6F8"/>
            </a:solidFill>
            <a:prstDash val="solid"/>
          </a:ln>
        </p:spPr>
      </p:sp>
      <p:sp>
        <p:nvSpPr>
          <p:cNvPr id="6" name="Shape 4"/>
          <p:cNvSpPr/>
          <p:nvPr/>
        </p:nvSpPr>
        <p:spPr>
          <a:xfrm>
            <a:off x="777240" y="1920240"/>
            <a:ext cx="548640" cy="548640"/>
          </a:xfrm>
          <a:prstGeom prst="ellipse">
            <a:avLst/>
          </a:prstGeom>
          <a:solidFill>
            <a:srgbClr val="1B998B"/>
          </a:solidFill>
          <a:ln w="12700">
            <a:solidFill>
              <a:srgbClr val="1B998B"/>
            </a:solidFill>
            <a:prstDash val="solid"/>
          </a:ln>
        </p:spPr>
      </p:sp>
      <p:pic>
        <p:nvPicPr>
          <p:cNvPr id="7" name="Image 0" descr="preencoded.png"/>
          <p:cNvPicPr>
            <a:picLocks noChangeAspect="1"/>
          </p:cNvPicPr>
          <p:nvPr/>
        </p:nvPicPr>
        <p:blipFill>
          <a:blip r:embed="rId3"/>
          <a:stretch>
            <a:fillRect/>
          </a:stretch>
        </p:blipFill>
        <p:spPr>
          <a:xfrm>
            <a:off x="914400" y="2057400"/>
            <a:ext cx="274320" cy="274320"/>
          </a:xfrm>
          <a:prstGeom prst="rect">
            <a:avLst/>
          </a:prstGeom>
        </p:spPr>
      </p:pic>
      <p:sp>
        <p:nvSpPr>
          <p:cNvPr id="8" name="Text 5"/>
          <p:cNvSpPr txBox="1"/>
          <p:nvPr/>
        </p:nvSpPr>
        <p:spPr>
          <a:xfrm>
            <a:off x="1463040" y="1920240"/>
            <a:ext cx="2560320" cy="548640"/>
          </a:xfrm>
          <a:prstGeom prst="rect">
            <a:avLst/>
          </a:prstGeom>
          <a:noFill/>
          <a:ln/>
        </p:spPr>
        <p:txBody>
          <a:bodyPr wrap="square" lIns="0" tIns="0" rIns="0" bIns="0" rtlCol="0" anchor="ctr"/>
          <a:lstStyle/>
          <a:p>
            <a:pPr marL="0" indent="0">
              <a:buNone/>
            </a:pPr>
            <a:r>
              <a:rPr lang="en-US" sz="1550" b="1" dirty="0">
                <a:solidFill>
                  <a:srgbClr val="0B2545"/>
                </a:solidFill>
                <a:latin typeface="Calibri" pitchFamily="34" charset="0"/>
                <a:ea typeface="Calibri" pitchFamily="34" charset="-122"/>
                <a:cs typeface="Calibri" pitchFamily="34" charset="-120"/>
              </a:rPr>
              <a:t>Transactions ACID</a:t>
            </a:r>
            <a:endParaRPr lang="en-US" sz="1550" dirty="0"/>
          </a:p>
        </p:txBody>
      </p:sp>
      <p:sp>
        <p:nvSpPr>
          <p:cNvPr id="9" name="Text 6"/>
          <p:cNvSpPr txBox="1"/>
          <p:nvPr/>
        </p:nvSpPr>
        <p:spPr>
          <a:xfrm>
            <a:off x="777240" y="2606040"/>
            <a:ext cx="3154680" cy="640080"/>
          </a:xfrm>
          <a:prstGeom prst="rect">
            <a:avLst/>
          </a:prstGeom>
          <a:noFill/>
          <a:ln/>
        </p:spPr>
        <p:txBody>
          <a:bodyPr wrap="square" lIns="0" tIns="0" rIns="0" bIns="0" rtlCol="0" anchor="t"/>
          <a:lstStyle/>
          <a:p>
            <a:pPr marL="0" indent="0">
              <a:buNone/>
            </a:pPr>
            <a:r>
              <a:rPr lang="en-US" sz="1350" dirty="0">
                <a:solidFill>
                  <a:srgbClr val="1E293B"/>
                </a:solidFill>
                <a:latin typeface="Calibri" pitchFamily="34" charset="0"/>
                <a:ea typeface="Calibri" pitchFamily="34" charset="-122"/>
                <a:cs typeface="Calibri" pitchFamily="34" charset="-120"/>
              </a:rPr>
              <a:t>Pas de lecture incohérente pendant une écriture</a:t>
            </a:r>
            <a:endParaRPr lang="en-US" sz="1350" dirty="0"/>
          </a:p>
        </p:txBody>
      </p:sp>
      <p:sp>
        <p:nvSpPr>
          <p:cNvPr id="10" name="Shape 7"/>
          <p:cNvSpPr/>
          <p:nvPr/>
        </p:nvSpPr>
        <p:spPr>
          <a:xfrm>
            <a:off x="4297680" y="1691640"/>
            <a:ext cx="3566160" cy="1645920"/>
          </a:xfrm>
          <a:prstGeom prst="roundRect">
            <a:avLst>
              <a:gd name="adj" fmla="val 5556"/>
            </a:avLst>
          </a:prstGeom>
          <a:solidFill>
            <a:srgbClr val="F1F6F8"/>
          </a:solidFill>
          <a:ln w="12700">
            <a:solidFill>
              <a:srgbClr val="F1F6F8"/>
            </a:solidFill>
            <a:prstDash val="solid"/>
          </a:ln>
        </p:spPr>
      </p:sp>
      <p:sp>
        <p:nvSpPr>
          <p:cNvPr id="11" name="Shape 8"/>
          <p:cNvSpPr/>
          <p:nvPr/>
        </p:nvSpPr>
        <p:spPr>
          <a:xfrm>
            <a:off x="4526280" y="1920240"/>
            <a:ext cx="548640" cy="548640"/>
          </a:xfrm>
          <a:prstGeom prst="ellipse">
            <a:avLst/>
          </a:prstGeom>
          <a:solidFill>
            <a:srgbClr val="1B998B"/>
          </a:solidFill>
          <a:ln w="12700">
            <a:solidFill>
              <a:srgbClr val="1B998B"/>
            </a:solidFill>
            <a:prstDash val="solid"/>
          </a:ln>
        </p:spPr>
      </p:sp>
      <p:pic>
        <p:nvPicPr>
          <p:cNvPr id="12" name="Image 1" descr="preencoded.png"/>
          <p:cNvPicPr>
            <a:picLocks noChangeAspect="1"/>
          </p:cNvPicPr>
          <p:nvPr/>
        </p:nvPicPr>
        <p:blipFill>
          <a:blip r:embed="rId4"/>
          <a:stretch>
            <a:fillRect/>
          </a:stretch>
        </p:blipFill>
        <p:spPr>
          <a:xfrm>
            <a:off x="4663440" y="2057400"/>
            <a:ext cx="274320" cy="274320"/>
          </a:xfrm>
          <a:prstGeom prst="rect">
            <a:avLst/>
          </a:prstGeom>
        </p:spPr>
      </p:pic>
      <p:sp>
        <p:nvSpPr>
          <p:cNvPr id="13" name="Text 9"/>
          <p:cNvSpPr txBox="1"/>
          <p:nvPr/>
        </p:nvSpPr>
        <p:spPr>
          <a:xfrm>
            <a:off x="5212080" y="1920240"/>
            <a:ext cx="2560320" cy="548640"/>
          </a:xfrm>
          <a:prstGeom prst="rect">
            <a:avLst/>
          </a:prstGeom>
          <a:noFill/>
          <a:ln/>
        </p:spPr>
        <p:txBody>
          <a:bodyPr wrap="square" lIns="0" tIns="0" rIns="0" bIns="0" rtlCol="0" anchor="ctr"/>
          <a:lstStyle/>
          <a:p>
            <a:pPr marL="0" indent="0">
              <a:buNone/>
            </a:pPr>
            <a:r>
              <a:rPr lang="en-US" sz="1550" b="1" dirty="0">
                <a:solidFill>
                  <a:srgbClr val="0B2545"/>
                </a:solidFill>
                <a:latin typeface="Calibri" pitchFamily="34" charset="0"/>
                <a:ea typeface="Calibri" pitchFamily="34" charset="-122"/>
                <a:cs typeface="Calibri" pitchFamily="34" charset="-120"/>
              </a:rPr>
              <a:t>UPDATE, DELETE, MERGE</a:t>
            </a:r>
            <a:endParaRPr lang="en-US" sz="1550" dirty="0"/>
          </a:p>
        </p:txBody>
      </p:sp>
      <p:sp>
        <p:nvSpPr>
          <p:cNvPr id="14" name="Text 10"/>
          <p:cNvSpPr txBox="1"/>
          <p:nvPr/>
        </p:nvSpPr>
        <p:spPr>
          <a:xfrm>
            <a:off x="4526280" y="2606040"/>
            <a:ext cx="3154680" cy="640080"/>
          </a:xfrm>
          <a:prstGeom prst="rect">
            <a:avLst/>
          </a:prstGeom>
          <a:noFill/>
          <a:ln/>
        </p:spPr>
        <p:txBody>
          <a:bodyPr wrap="square" lIns="0" tIns="0" rIns="0" bIns="0" rtlCol="0" anchor="t"/>
          <a:lstStyle/>
          <a:p>
            <a:pPr marL="0" indent="0">
              <a:buNone/>
            </a:pPr>
            <a:r>
              <a:rPr lang="en-US" sz="1350" dirty="0">
                <a:solidFill>
                  <a:srgbClr val="1E293B"/>
                </a:solidFill>
                <a:latin typeface="Calibri" pitchFamily="34" charset="0"/>
                <a:ea typeface="Calibri" pitchFamily="34" charset="-122"/>
                <a:cs typeface="Calibri" pitchFamily="34" charset="-120"/>
              </a:rPr>
              <a:t>Modifier et synchroniser les données comme en SQL</a:t>
            </a:r>
            <a:endParaRPr lang="en-US" sz="1350" dirty="0"/>
          </a:p>
        </p:txBody>
      </p:sp>
      <p:sp>
        <p:nvSpPr>
          <p:cNvPr id="15" name="Shape 11"/>
          <p:cNvSpPr/>
          <p:nvPr/>
        </p:nvSpPr>
        <p:spPr>
          <a:xfrm>
            <a:off x="8046720" y="1691640"/>
            <a:ext cx="3566160" cy="1645920"/>
          </a:xfrm>
          <a:prstGeom prst="roundRect">
            <a:avLst>
              <a:gd name="adj" fmla="val 5556"/>
            </a:avLst>
          </a:prstGeom>
          <a:solidFill>
            <a:srgbClr val="F1F6F8"/>
          </a:solidFill>
          <a:ln w="12700">
            <a:solidFill>
              <a:srgbClr val="F1F6F8"/>
            </a:solidFill>
            <a:prstDash val="solid"/>
          </a:ln>
        </p:spPr>
      </p:sp>
      <p:sp>
        <p:nvSpPr>
          <p:cNvPr id="16" name="Shape 12"/>
          <p:cNvSpPr/>
          <p:nvPr/>
        </p:nvSpPr>
        <p:spPr>
          <a:xfrm>
            <a:off x="8275320" y="1920240"/>
            <a:ext cx="548640" cy="548640"/>
          </a:xfrm>
          <a:prstGeom prst="ellipse">
            <a:avLst/>
          </a:prstGeom>
          <a:solidFill>
            <a:srgbClr val="1B998B"/>
          </a:solidFill>
          <a:ln w="12700">
            <a:solidFill>
              <a:srgbClr val="1B998B"/>
            </a:solidFill>
            <a:prstDash val="solid"/>
          </a:ln>
        </p:spPr>
      </p:sp>
      <p:pic>
        <p:nvPicPr>
          <p:cNvPr id="17" name="Image 2" descr="preencoded.png"/>
          <p:cNvPicPr>
            <a:picLocks noChangeAspect="1"/>
          </p:cNvPicPr>
          <p:nvPr/>
        </p:nvPicPr>
        <p:blipFill>
          <a:blip r:embed="rId5"/>
          <a:stretch>
            <a:fillRect/>
          </a:stretch>
        </p:blipFill>
        <p:spPr>
          <a:xfrm>
            <a:off x="8412480" y="2057400"/>
            <a:ext cx="274320" cy="274320"/>
          </a:xfrm>
          <a:prstGeom prst="rect">
            <a:avLst/>
          </a:prstGeom>
        </p:spPr>
      </p:pic>
      <p:sp>
        <p:nvSpPr>
          <p:cNvPr id="18" name="Text 13"/>
          <p:cNvSpPr txBox="1"/>
          <p:nvPr/>
        </p:nvSpPr>
        <p:spPr>
          <a:xfrm>
            <a:off x="8961120" y="1920240"/>
            <a:ext cx="2560320" cy="548640"/>
          </a:xfrm>
          <a:prstGeom prst="rect">
            <a:avLst/>
          </a:prstGeom>
          <a:noFill/>
          <a:ln/>
        </p:spPr>
        <p:txBody>
          <a:bodyPr wrap="square" lIns="0" tIns="0" rIns="0" bIns="0" rtlCol="0" anchor="ctr"/>
          <a:lstStyle/>
          <a:p>
            <a:pPr marL="0" indent="0">
              <a:buNone/>
            </a:pPr>
            <a:r>
              <a:rPr lang="en-US" sz="1550" b="1" dirty="0">
                <a:solidFill>
                  <a:srgbClr val="0B2545"/>
                </a:solidFill>
                <a:latin typeface="Calibri" pitchFamily="34" charset="0"/>
                <a:ea typeface="Calibri" pitchFamily="34" charset="-122"/>
                <a:cs typeface="Calibri" pitchFamily="34" charset="-120"/>
              </a:rPr>
              <a:t>Time travel</a:t>
            </a:r>
            <a:endParaRPr lang="en-US" sz="1550" dirty="0"/>
          </a:p>
        </p:txBody>
      </p:sp>
      <p:sp>
        <p:nvSpPr>
          <p:cNvPr id="19" name="Text 14"/>
          <p:cNvSpPr txBox="1"/>
          <p:nvPr/>
        </p:nvSpPr>
        <p:spPr>
          <a:xfrm>
            <a:off x="8275320" y="2606040"/>
            <a:ext cx="3154680" cy="640080"/>
          </a:xfrm>
          <a:prstGeom prst="rect">
            <a:avLst/>
          </a:prstGeom>
          <a:noFill/>
          <a:ln/>
        </p:spPr>
        <p:txBody>
          <a:bodyPr wrap="square" lIns="0" tIns="0" rIns="0" bIns="0" rtlCol="0" anchor="t"/>
          <a:lstStyle/>
          <a:p>
            <a:pPr marL="0" indent="0">
              <a:buNone/>
            </a:pPr>
            <a:r>
              <a:rPr lang="en-US" sz="1350" dirty="0">
                <a:solidFill>
                  <a:srgbClr val="1E293B"/>
                </a:solidFill>
                <a:latin typeface="Calibri" pitchFamily="34" charset="0"/>
                <a:ea typeface="Calibri" pitchFamily="34" charset="-122"/>
                <a:cs typeface="Calibri" pitchFamily="34" charset="-120"/>
              </a:rPr>
              <a:t>Relire la table telle qu'elle était hier</a:t>
            </a:r>
            <a:endParaRPr lang="en-US" sz="1350" dirty="0"/>
          </a:p>
        </p:txBody>
      </p:sp>
      <p:sp>
        <p:nvSpPr>
          <p:cNvPr id="20" name="Shape 15"/>
          <p:cNvSpPr/>
          <p:nvPr/>
        </p:nvSpPr>
        <p:spPr>
          <a:xfrm>
            <a:off x="548640" y="3520440"/>
            <a:ext cx="3566160" cy="1645920"/>
          </a:xfrm>
          <a:prstGeom prst="roundRect">
            <a:avLst>
              <a:gd name="adj" fmla="val 5556"/>
            </a:avLst>
          </a:prstGeom>
          <a:solidFill>
            <a:srgbClr val="F1F6F8"/>
          </a:solidFill>
          <a:ln w="12700">
            <a:solidFill>
              <a:srgbClr val="F1F6F8"/>
            </a:solidFill>
            <a:prstDash val="solid"/>
          </a:ln>
        </p:spPr>
      </p:sp>
      <p:sp>
        <p:nvSpPr>
          <p:cNvPr id="21" name="Shape 16"/>
          <p:cNvSpPr/>
          <p:nvPr/>
        </p:nvSpPr>
        <p:spPr>
          <a:xfrm>
            <a:off x="777240" y="3749040"/>
            <a:ext cx="548640" cy="548640"/>
          </a:xfrm>
          <a:prstGeom prst="ellipse">
            <a:avLst/>
          </a:prstGeom>
          <a:solidFill>
            <a:srgbClr val="1B998B"/>
          </a:solidFill>
          <a:ln w="12700">
            <a:solidFill>
              <a:srgbClr val="1B998B"/>
            </a:solidFill>
            <a:prstDash val="solid"/>
          </a:ln>
        </p:spPr>
      </p:sp>
      <p:pic>
        <p:nvPicPr>
          <p:cNvPr id="22" name="Image 3" descr="preencoded.png"/>
          <p:cNvPicPr>
            <a:picLocks noChangeAspect="1"/>
          </p:cNvPicPr>
          <p:nvPr/>
        </p:nvPicPr>
        <p:blipFill>
          <a:blip r:embed="rId6"/>
          <a:stretch>
            <a:fillRect/>
          </a:stretch>
        </p:blipFill>
        <p:spPr>
          <a:xfrm>
            <a:off x="914400" y="3886200"/>
            <a:ext cx="274320" cy="274320"/>
          </a:xfrm>
          <a:prstGeom prst="rect">
            <a:avLst/>
          </a:prstGeom>
        </p:spPr>
      </p:pic>
      <p:sp>
        <p:nvSpPr>
          <p:cNvPr id="23" name="Text 17"/>
          <p:cNvSpPr txBox="1"/>
          <p:nvPr/>
        </p:nvSpPr>
        <p:spPr>
          <a:xfrm>
            <a:off x="1463040" y="3749040"/>
            <a:ext cx="2560320" cy="548640"/>
          </a:xfrm>
          <a:prstGeom prst="rect">
            <a:avLst/>
          </a:prstGeom>
          <a:noFill/>
          <a:ln/>
        </p:spPr>
        <p:txBody>
          <a:bodyPr wrap="square" lIns="0" tIns="0" rIns="0" bIns="0" rtlCol="0" anchor="ctr"/>
          <a:lstStyle/>
          <a:p>
            <a:pPr marL="0" indent="0">
              <a:buNone/>
            </a:pPr>
            <a:r>
              <a:rPr lang="en-US" sz="1550" b="1" dirty="0">
                <a:solidFill>
                  <a:srgbClr val="0B2545"/>
                </a:solidFill>
                <a:latin typeface="Calibri" pitchFamily="34" charset="0"/>
                <a:ea typeface="Calibri" pitchFamily="34" charset="-122"/>
                <a:cs typeface="Calibri" pitchFamily="34" charset="-120"/>
              </a:rPr>
              <a:t>Gestion du schéma</a:t>
            </a:r>
            <a:endParaRPr lang="en-US" sz="1550" dirty="0"/>
          </a:p>
        </p:txBody>
      </p:sp>
      <p:sp>
        <p:nvSpPr>
          <p:cNvPr id="24" name="Text 18"/>
          <p:cNvSpPr txBox="1"/>
          <p:nvPr/>
        </p:nvSpPr>
        <p:spPr>
          <a:xfrm>
            <a:off x="777240" y="4434840"/>
            <a:ext cx="3154680" cy="640080"/>
          </a:xfrm>
          <a:prstGeom prst="rect">
            <a:avLst/>
          </a:prstGeom>
          <a:noFill/>
          <a:ln/>
        </p:spPr>
        <p:txBody>
          <a:bodyPr wrap="square" lIns="0" tIns="0" rIns="0" bIns="0" rtlCol="0" anchor="t"/>
          <a:lstStyle/>
          <a:p>
            <a:pPr marL="0" indent="0">
              <a:buNone/>
            </a:pPr>
            <a:r>
              <a:rPr lang="en-US" sz="1350" dirty="0">
                <a:solidFill>
                  <a:srgbClr val="1E293B"/>
                </a:solidFill>
                <a:latin typeface="Calibri" pitchFamily="34" charset="0"/>
                <a:ea typeface="Calibri" pitchFamily="34" charset="-122"/>
                <a:cs typeface="Calibri" pitchFamily="34" charset="-120"/>
              </a:rPr>
              <a:t>Refuser les mauvais types, ajouter des colonnes</a:t>
            </a:r>
            <a:endParaRPr lang="en-US" sz="1350" dirty="0"/>
          </a:p>
        </p:txBody>
      </p:sp>
      <p:sp>
        <p:nvSpPr>
          <p:cNvPr id="25" name="Shape 19"/>
          <p:cNvSpPr/>
          <p:nvPr/>
        </p:nvSpPr>
        <p:spPr>
          <a:xfrm>
            <a:off x="4297680" y="3520440"/>
            <a:ext cx="3566160" cy="1645920"/>
          </a:xfrm>
          <a:prstGeom prst="roundRect">
            <a:avLst>
              <a:gd name="adj" fmla="val 5556"/>
            </a:avLst>
          </a:prstGeom>
          <a:solidFill>
            <a:srgbClr val="F1F6F8"/>
          </a:solidFill>
          <a:ln w="12700">
            <a:solidFill>
              <a:srgbClr val="F1F6F8"/>
            </a:solidFill>
            <a:prstDash val="solid"/>
          </a:ln>
        </p:spPr>
      </p:sp>
      <p:sp>
        <p:nvSpPr>
          <p:cNvPr id="26" name="Shape 20"/>
          <p:cNvSpPr/>
          <p:nvPr/>
        </p:nvSpPr>
        <p:spPr>
          <a:xfrm>
            <a:off x="4526280" y="3749040"/>
            <a:ext cx="548640" cy="548640"/>
          </a:xfrm>
          <a:prstGeom prst="ellipse">
            <a:avLst/>
          </a:prstGeom>
          <a:solidFill>
            <a:srgbClr val="1B998B"/>
          </a:solidFill>
          <a:ln w="12700">
            <a:solidFill>
              <a:srgbClr val="1B998B"/>
            </a:solidFill>
            <a:prstDash val="solid"/>
          </a:ln>
        </p:spPr>
      </p:sp>
      <p:pic>
        <p:nvPicPr>
          <p:cNvPr id="27" name="Image 4" descr="preencoded.png"/>
          <p:cNvPicPr>
            <a:picLocks noChangeAspect="1"/>
          </p:cNvPicPr>
          <p:nvPr/>
        </p:nvPicPr>
        <p:blipFill>
          <a:blip r:embed="rId7"/>
          <a:stretch>
            <a:fillRect/>
          </a:stretch>
        </p:blipFill>
        <p:spPr>
          <a:xfrm>
            <a:off x="4663440" y="3886200"/>
            <a:ext cx="274320" cy="274320"/>
          </a:xfrm>
          <a:prstGeom prst="rect">
            <a:avLst/>
          </a:prstGeom>
        </p:spPr>
      </p:pic>
      <p:sp>
        <p:nvSpPr>
          <p:cNvPr id="28" name="Text 21"/>
          <p:cNvSpPr txBox="1"/>
          <p:nvPr/>
        </p:nvSpPr>
        <p:spPr>
          <a:xfrm>
            <a:off x="5212080" y="3749040"/>
            <a:ext cx="2560320" cy="548640"/>
          </a:xfrm>
          <a:prstGeom prst="rect">
            <a:avLst/>
          </a:prstGeom>
          <a:noFill/>
          <a:ln/>
        </p:spPr>
        <p:txBody>
          <a:bodyPr wrap="square" lIns="0" tIns="0" rIns="0" bIns="0" rtlCol="0" anchor="ctr"/>
          <a:lstStyle/>
          <a:p>
            <a:pPr marL="0" indent="0">
              <a:buNone/>
            </a:pPr>
            <a:r>
              <a:rPr lang="en-US" sz="1550" b="1" dirty="0">
                <a:solidFill>
                  <a:srgbClr val="0B2545"/>
                </a:solidFill>
                <a:latin typeface="Calibri" pitchFamily="34" charset="0"/>
                <a:ea typeface="Calibri" pitchFamily="34" charset="-122"/>
                <a:cs typeface="Calibri" pitchFamily="34" charset="-120"/>
              </a:rPr>
              <a:t>Formats ouverts</a:t>
            </a:r>
            <a:endParaRPr lang="en-US" sz="1550" dirty="0"/>
          </a:p>
        </p:txBody>
      </p:sp>
      <p:sp>
        <p:nvSpPr>
          <p:cNvPr id="29" name="Text 22"/>
          <p:cNvSpPr txBox="1"/>
          <p:nvPr/>
        </p:nvSpPr>
        <p:spPr>
          <a:xfrm>
            <a:off x="4526280" y="4434840"/>
            <a:ext cx="3154680" cy="640080"/>
          </a:xfrm>
          <a:prstGeom prst="rect">
            <a:avLst/>
          </a:prstGeom>
          <a:noFill/>
          <a:ln/>
        </p:spPr>
        <p:txBody>
          <a:bodyPr wrap="square" lIns="0" tIns="0" rIns="0" bIns="0" rtlCol="0" anchor="t"/>
          <a:lstStyle/>
          <a:p>
            <a:pPr marL="0" indent="0">
              <a:buNone/>
            </a:pPr>
            <a:r>
              <a:rPr lang="en-US" sz="1350" dirty="0">
                <a:solidFill>
                  <a:srgbClr val="1E293B"/>
                </a:solidFill>
                <a:latin typeface="Calibri" pitchFamily="34" charset="0"/>
                <a:ea typeface="Calibri" pitchFamily="34" charset="-122"/>
                <a:cs typeface="Calibri" pitchFamily="34" charset="-120"/>
              </a:rPr>
              <a:t>Parquet + journal de transactions, lisibles par tous</a:t>
            </a:r>
            <a:endParaRPr lang="en-US" sz="1350" dirty="0"/>
          </a:p>
        </p:txBody>
      </p:sp>
      <p:sp>
        <p:nvSpPr>
          <p:cNvPr id="30" name="Shape 23"/>
          <p:cNvSpPr/>
          <p:nvPr/>
        </p:nvSpPr>
        <p:spPr>
          <a:xfrm>
            <a:off x="8046720" y="3520440"/>
            <a:ext cx="3566160" cy="1645920"/>
          </a:xfrm>
          <a:prstGeom prst="roundRect">
            <a:avLst>
              <a:gd name="adj" fmla="val 5556"/>
            </a:avLst>
          </a:prstGeom>
          <a:solidFill>
            <a:srgbClr val="F1F6F8"/>
          </a:solidFill>
          <a:ln w="12700">
            <a:solidFill>
              <a:srgbClr val="F1F6F8"/>
            </a:solidFill>
            <a:prstDash val="solid"/>
          </a:ln>
        </p:spPr>
      </p:sp>
      <p:sp>
        <p:nvSpPr>
          <p:cNvPr id="31" name="Shape 24"/>
          <p:cNvSpPr/>
          <p:nvPr/>
        </p:nvSpPr>
        <p:spPr>
          <a:xfrm>
            <a:off x="8275320" y="3749040"/>
            <a:ext cx="548640" cy="548640"/>
          </a:xfrm>
          <a:prstGeom prst="ellipse">
            <a:avLst/>
          </a:prstGeom>
          <a:solidFill>
            <a:srgbClr val="1B998B"/>
          </a:solidFill>
          <a:ln w="12700">
            <a:solidFill>
              <a:srgbClr val="1B998B"/>
            </a:solidFill>
            <a:prstDash val="solid"/>
          </a:ln>
        </p:spPr>
      </p:sp>
      <p:pic>
        <p:nvPicPr>
          <p:cNvPr id="32" name="Image 5" descr="preencoded.png"/>
          <p:cNvPicPr>
            <a:picLocks noChangeAspect="1"/>
          </p:cNvPicPr>
          <p:nvPr/>
        </p:nvPicPr>
        <p:blipFill>
          <a:blip r:embed="rId8"/>
          <a:stretch>
            <a:fillRect/>
          </a:stretch>
        </p:blipFill>
        <p:spPr>
          <a:xfrm>
            <a:off x="8412480" y="3886200"/>
            <a:ext cx="274320" cy="274320"/>
          </a:xfrm>
          <a:prstGeom prst="rect">
            <a:avLst/>
          </a:prstGeom>
        </p:spPr>
      </p:pic>
      <p:sp>
        <p:nvSpPr>
          <p:cNvPr id="33" name="Text 25"/>
          <p:cNvSpPr txBox="1"/>
          <p:nvPr/>
        </p:nvSpPr>
        <p:spPr>
          <a:xfrm>
            <a:off x="8961120" y="3749040"/>
            <a:ext cx="2560320" cy="548640"/>
          </a:xfrm>
          <a:prstGeom prst="rect">
            <a:avLst/>
          </a:prstGeom>
          <a:noFill/>
          <a:ln/>
        </p:spPr>
        <p:txBody>
          <a:bodyPr wrap="square" lIns="0" tIns="0" rIns="0" bIns="0" rtlCol="0" anchor="ctr"/>
          <a:lstStyle/>
          <a:p>
            <a:pPr marL="0" indent="0">
              <a:buNone/>
            </a:pPr>
            <a:r>
              <a:rPr lang="en-US" sz="1550" b="1" dirty="0">
                <a:solidFill>
                  <a:srgbClr val="0B2545"/>
                </a:solidFill>
                <a:latin typeface="Calibri" pitchFamily="34" charset="0"/>
                <a:ea typeface="Calibri" pitchFamily="34" charset="-122"/>
                <a:cs typeface="Calibri" pitchFamily="34" charset="-120"/>
              </a:rPr>
              <a:t>Batch et streaming</a:t>
            </a:r>
            <a:endParaRPr lang="en-US" sz="1550" dirty="0"/>
          </a:p>
        </p:txBody>
      </p:sp>
      <p:sp>
        <p:nvSpPr>
          <p:cNvPr id="34" name="Text 26"/>
          <p:cNvSpPr txBox="1"/>
          <p:nvPr/>
        </p:nvSpPr>
        <p:spPr>
          <a:xfrm>
            <a:off x="8275320" y="4434840"/>
            <a:ext cx="3154680" cy="640080"/>
          </a:xfrm>
          <a:prstGeom prst="rect">
            <a:avLst/>
          </a:prstGeom>
          <a:noFill/>
          <a:ln/>
        </p:spPr>
        <p:txBody>
          <a:bodyPr wrap="square" lIns="0" tIns="0" rIns="0" bIns="0" rtlCol="0" anchor="t"/>
          <a:lstStyle/>
          <a:p>
            <a:pPr marL="0" indent="0">
              <a:buNone/>
            </a:pPr>
            <a:r>
              <a:rPr lang="en-US" sz="1350" dirty="0">
                <a:solidFill>
                  <a:srgbClr val="1E293B"/>
                </a:solidFill>
                <a:latin typeface="Calibri" pitchFamily="34" charset="0"/>
                <a:ea typeface="Calibri" pitchFamily="34" charset="-122"/>
                <a:cs typeface="Calibri" pitchFamily="34" charset="-120"/>
              </a:rPr>
              <a:t>Les mêmes tables pour les deux modes</a:t>
            </a:r>
            <a:endParaRPr lang="en-US" sz="1350" dirty="0"/>
          </a:p>
        </p:txBody>
      </p:sp>
      <p:sp>
        <p:nvSpPr>
          <p:cNvPr id="35" name="Shape 27"/>
          <p:cNvSpPr/>
          <p:nvPr/>
        </p:nvSpPr>
        <p:spPr>
          <a:xfrm>
            <a:off x="548640" y="5532120"/>
            <a:ext cx="3566160" cy="640080"/>
          </a:xfrm>
          <a:prstGeom prst="roundRect">
            <a:avLst>
              <a:gd name="adj" fmla="val 50000"/>
            </a:avLst>
          </a:prstGeom>
          <a:solidFill>
            <a:srgbClr val="0B2545"/>
          </a:solidFill>
          <a:ln w="12700">
            <a:solidFill>
              <a:srgbClr val="0B2545"/>
            </a:solidFill>
            <a:prstDash val="solid"/>
          </a:ln>
        </p:spPr>
      </p:sp>
      <p:sp>
        <p:nvSpPr>
          <p:cNvPr id="36" name="Text 28"/>
          <p:cNvSpPr txBox="1"/>
          <p:nvPr/>
        </p:nvSpPr>
        <p:spPr>
          <a:xfrm>
            <a:off x="548640" y="5532120"/>
            <a:ext cx="356616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Delta Lake</a:t>
            </a:r>
            <a:r>
              <a:rPr lang="en-US" sz="1400" dirty="0">
                <a:solidFill>
                  <a:srgbClr val="DCEBF0"/>
                </a:solidFill>
                <a:latin typeface="Calibri" pitchFamily="34" charset="0"/>
                <a:ea typeface="Calibri" pitchFamily="34" charset="-122"/>
                <a:cs typeface="Calibri" pitchFamily="34" charset="-120"/>
              </a:rPr>
              <a:t>   créé par Databricks</a:t>
            </a:r>
            <a:endParaRPr lang="en-US" sz="1400" dirty="0"/>
          </a:p>
        </p:txBody>
      </p:sp>
      <p:sp>
        <p:nvSpPr>
          <p:cNvPr id="37" name="Shape 29"/>
          <p:cNvSpPr/>
          <p:nvPr/>
        </p:nvSpPr>
        <p:spPr>
          <a:xfrm>
            <a:off x="4297680" y="5532120"/>
            <a:ext cx="3566160" cy="640080"/>
          </a:xfrm>
          <a:prstGeom prst="roundRect">
            <a:avLst>
              <a:gd name="adj" fmla="val 50000"/>
            </a:avLst>
          </a:prstGeom>
          <a:solidFill>
            <a:srgbClr val="0B2545"/>
          </a:solidFill>
          <a:ln w="12700">
            <a:solidFill>
              <a:srgbClr val="0B2545"/>
            </a:solidFill>
            <a:prstDash val="solid"/>
          </a:ln>
        </p:spPr>
      </p:sp>
      <p:sp>
        <p:nvSpPr>
          <p:cNvPr id="38" name="Text 30"/>
          <p:cNvSpPr txBox="1"/>
          <p:nvPr/>
        </p:nvSpPr>
        <p:spPr>
          <a:xfrm>
            <a:off x="4297680" y="5532120"/>
            <a:ext cx="356616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Apache Iceberg</a:t>
            </a:r>
            <a:r>
              <a:rPr lang="en-US" sz="1400" dirty="0">
                <a:solidFill>
                  <a:srgbClr val="DCEBF0"/>
                </a:solidFill>
                <a:latin typeface="Calibri" pitchFamily="34" charset="0"/>
                <a:ea typeface="Calibri" pitchFamily="34" charset="-122"/>
                <a:cs typeface="Calibri" pitchFamily="34" charset="-120"/>
              </a:rPr>
              <a:t>   créé par Netflix</a:t>
            </a:r>
            <a:endParaRPr lang="en-US" sz="1400" dirty="0"/>
          </a:p>
        </p:txBody>
      </p:sp>
      <p:sp>
        <p:nvSpPr>
          <p:cNvPr id="39" name="Shape 31"/>
          <p:cNvSpPr/>
          <p:nvPr/>
        </p:nvSpPr>
        <p:spPr>
          <a:xfrm>
            <a:off x="8046720" y="5532120"/>
            <a:ext cx="3566160" cy="640080"/>
          </a:xfrm>
          <a:prstGeom prst="roundRect">
            <a:avLst>
              <a:gd name="adj" fmla="val 50000"/>
            </a:avLst>
          </a:prstGeom>
          <a:solidFill>
            <a:srgbClr val="0B2545"/>
          </a:solidFill>
          <a:ln w="12700">
            <a:solidFill>
              <a:srgbClr val="0B2545"/>
            </a:solidFill>
            <a:prstDash val="solid"/>
          </a:ln>
        </p:spPr>
      </p:sp>
      <p:sp>
        <p:nvSpPr>
          <p:cNvPr id="40" name="Text 32"/>
          <p:cNvSpPr txBox="1"/>
          <p:nvPr/>
        </p:nvSpPr>
        <p:spPr>
          <a:xfrm>
            <a:off x="8046720" y="5532120"/>
            <a:ext cx="356616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Apache Hudi</a:t>
            </a:r>
            <a:r>
              <a:rPr lang="en-US" sz="1400" dirty="0">
                <a:solidFill>
                  <a:srgbClr val="DCEBF0"/>
                </a:solidFill>
                <a:latin typeface="Calibri" pitchFamily="34" charset="0"/>
                <a:ea typeface="Calibri" pitchFamily="34" charset="-122"/>
                <a:cs typeface="Calibri" pitchFamily="34" charset="-120"/>
              </a:rPr>
              <a:t>   créé par Uber</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155680" y="6400800"/>
            <a:ext cx="548640" cy="274320"/>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21</a:t>
            </a:r>
            <a:endParaRPr lang="en-US" sz="1000" dirty="0"/>
          </a:p>
        </p:txBody>
      </p:sp>
      <p:sp>
        <p:nvSpPr>
          <p:cNvPr id="3" name="Text 1"/>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L'architecture médaillon</a:t>
            </a:r>
            <a:endParaRPr lang="en-US" sz="3200" dirty="0"/>
          </a:p>
        </p:txBody>
      </p:sp>
      <p:sp>
        <p:nvSpPr>
          <p:cNvPr id="4" name="Text 2"/>
          <p:cNvSpPr txBox="1"/>
          <p:nvPr/>
        </p:nvSpPr>
        <p:spPr>
          <a:xfrm>
            <a:off x="548640" y="1005840"/>
            <a:ext cx="11064240" cy="365760"/>
          </a:xfrm>
          <a:prstGeom prst="rect">
            <a:avLst/>
          </a:prstGeom>
          <a:noFill/>
          <a:ln/>
        </p:spPr>
        <p:txBody>
          <a:bodyPr wrap="square" lIns="0" tIns="0" rIns="0" bIns="0" rtlCol="0" anchor="ctr"/>
          <a:lstStyle/>
          <a:p>
            <a:pPr marL="0" indent="0">
              <a:buNone/>
            </a:pPr>
            <a:r>
              <a:rPr lang="en-US" sz="1500" i="1" dirty="0">
                <a:solidFill>
                  <a:srgbClr val="5B6B7F"/>
                </a:solidFill>
                <a:latin typeface="Calibri" pitchFamily="34" charset="0"/>
                <a:ea typeface="Calibri" pitchFamily="34" charset="-122"/>
                <a:cs typeface="Calibri" pitchFamily="34" charset="-120"/>
              </a:rPr>
              <a:t>Organiser le lakehouse en trois couches de qualité croissante</a:t>
            </a:r>
            <a:endParaRPr lang="en-US" sz="1500" dirty="0"/>
          </a:p>
        </p:txBody>
      </p:sp>
      <p:sp>
        <p:nvSpPr>
          <p:cNvPr id="5" name="Shape 3"/>
          <p:cNvSpPr/>
          <p:nvPr/>
        </p:nvSpPr>
        <p:spPr>
          <a:xfrm>
            <a:off x="548640" y="1737360"/>
            <a:ext cx="1965960" cy="2560320"/>
          </a:xfrm>
          <a:prstGeom prst="roundRect">
            <a:avLst>
              <a:gd name="adj" fmla="val 5581"/>
            </a:avLst>
          </a:prstGeom>
          <a:solidFill>
            <a:srgbClr val="F1F6F8"/>
          </a:solidFill>
          <a:ln w="12700">
            <a:solidFill>
              <a:srgbClr val="F1F6F8"/>
            </a:solidFill>
            <a:prstDash val="solid"/>
          </a:ln>
        </p:spPr>
      </p:sp>
      <p:sp>
        <p:nvSpPr>
          <p:cNvPr id="6" name="Text 4"/>
          <p:cNvSpPr txBox="1"/>
          <p:nvPr/>
        </p:nvSpPr>
        <p:spPr>
          <a:xfrm>
            <a:off x="685800" y="1920240"/>
            <a:ext cx="1691640" cy="548640"/>
          </a:xfrm>
          <a:prstGeom prst="rect">
            <a:avLst/>
          </a:prstGeom>
          <a:noFill/>
          <a:ln/>
        </p:spPr>
        <p:txBody>
          <a:bodyPr wrap="square" lIns="0" tIns="0" rIns="0" bIns="0" rtlCol="0" anchor="ctr"/>
          <a:lstStyle/>
          <a:p>
            <a:pPr marL="0" indent="0" algn="ctr">
              <a:buNone/>
            </a:pPr>
            <a:r>
              <a:rPr lang="en-US" sz="2200" b="1" dirty="0">
                <a:solidFill>
                  <a:srgbClr val="0B2545"/>
                </a:solidFill>
                <a:latin typeface="Cambria" pitchFamily="34" charset="0"/>
                <a:ea typeface="Cambria" pitchFamily="34" charset="-122"/>
                <a:cs typeface="Cambria" pitchFamily="34" charset="-120"/>
              </a:rPr>
              <a:t>Sources</a:t>
            </a:r>
            <a:endParaRPr lang="en-US" sz="2200" dirty="0"/>
          </a:p>
        </p:txBody>
      </p:sp>
      <p:sp>
        <p:nvSpPr>
          <p:cNvPr id="7" name="Text 5"/>
          <p:cNvSpPr txBox="1"/>
          <p:nvPr/>
        </p:nvSpPr>
        <p:spPr>
          <a:xfrm>
            <a:off x="685800" y="2606040"/>
            <a:ext cx="1691640" cy="1554480"/>
          </a:xfrm>
          <a:prstGeom prst="rect">
            <a:avLst/>
          </a:prstGeom>
          <a:noFill/>
          <a:ln/>
        </p:spPr>
        <p:txBody>
          <a:bodyPr wrap="square" lIns="0" tIns="0" rIns="0" bIns="0" rtlCol="0" anchor="t"/>
          <a:lstStyle/>
          <a:p>
            <a:pPr marL="0" indent="0" algn="ctr">
              <a:buNone/>
            </a:pPr>
            <a:r>
              <a:rPr lang="en-US" sz="1550" dirty="0">
                <a:solidFill>
                  <a:srgbClr val="0B2545"/>
                </a:solidFill>
                <a:latin typeface="Calibri" pitchFamily="34" charset="0"/>
                <a:ea typeface="Calibri" pitchFamily="34" charset="-122"/>
                <a:cs typeface="Calibri" pitchFamily="34" charset="-120"/>
              </a:rPr>
              <a:t>ERP, CRM, e-commerce, APIs, IoT</a:t>
            </a:r>
            <a:endParaRPr lang="en-US" sz="1550" dirty="0"/>
          </a:p>
        </p:txBody>
      </p:sp>
      <p:sp>
        <p:nvSpPr>
          <p:cNvPr id="8" name="Shape 6"/>
          <p:cNvSpPr/>
          <p:nvPr/>
        </p:nvSpPr>
        <p:spPr>
          <a:xfrm>
            <a:off x="2551176" y="2880360"/>
            <a:ext cx="237744" cy="274320"/>
          </a:xfrm>
          <a:prstGeom prst="rightArrow">
            <a:avLst/>
          </a:prstGeom>
          <a:solidFill>
            <a:srgbClr val="1B998B"/>
          </a:solidFill>
          <a:ln w="12700">
            <a:solidFill>
              <a:srgbClr val="1B998B"/>
            </a:solidFill>
            <a:prstDash val="solid"/>
          </a:ln>
        </p:spPr>
      </p:sp>
      <p:sp>
        <p:nvSpPr>
          <p:cNvPr id="9" name="Shape 7"/>
          <p:cNvSpPr/>
          <p:nvPr/>
        </p:nvSpPr>
        <p:spPr>
          <a:xfrm>
            <a:off x="2825496" y="1737360"/>
            <a:ext cx="1965960" cy="2560320"/>
          </a:xfrm>
          <a:prstGeom prst="roundRect">
            <a:avLst>
              <a:gd name="adj" fmla="val 5581"/>
            </a:avLst>
          </a:prstGeom>
          <a:solidFill>
            <a:srgbClr val="C8864B"/>
          </a:solidFill>
          <a:ln w="12700">
            <a:solidFill>
              <a:srgbClr val="C8864B"/>
            </a:solidFill>
            <a:prstDash val="solid"/>
          </a:ln>
        </p:spPr>
      </p:sp>
      <p:sp>
        <p:nvSpPr>
          <p:cNvPr id="10" name="Text 8"/>
          <p:cNvSpPr txBox="1"/>
          <p:nvPr/>
        </p:nvSpPr>
        <p:spPr>
          <a:xfrm>
            <a:off x="2962656" y="1920240"/>
            <a:ext cx="1691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Bronze</a:t>
            </a:r>
            <a:endParaRPr lang="en-US" sz="2200" dirty="0"/>
          </a:p>
        </p:txBody>
      </p:sp>
      <p:sp>
        <p:nvSpPr>
          <p:cNvPr id="11" name="Text 9"/>
          <p:cNvSpPr txBox="1"/>
          <p:nvPr/>
        </p:nvSpPr>
        <p:spPr>
          <a:xfrm>
            <a:off x="2962656" y="2606040"/>
            <a:ext cx="1691640" cy="1554480"/>
          </a:xfrm>
          <a:prstGeom prst="rect">
            <a:avLst/>
          </a:prstGeom>
          <a:noFill/>
          <a:ln/>
        </p:spPr>
        <p:txBody>
          <a:bodyPr wrap="square" lIns="0" tIns="0" rIns="0" bIns="0" rtlCol="0" anchor="t"/>
          <a:lstStyle/>
          <a:p>
            <a:pPr marL="0" indent="0" algn="ctr">
              <a:buNone/>
            </a:pPr>
            <a:r>
              <a:rPr lang="en-US" sz="1550" dirty="0">
                <a:solidFill>
                  <a:srgbClr val="FFFFFF"/>
                </a:solidFill>
                <a:latin typeface="Calibri" pitchFamily="34" charset="0"/>
                <a:ea typeface="Calibri" pitchFamily="34" charset="-122"/>
                <a:cs typeface="Calibri" pitchFamily="34" charset="-120"/>
              </a:rPr>
              <a:t>Données brutes, telles que reçues. Historique complet.</a:t>
            </a:r>
            <a:endParaRPr lang="en-US" sz="1550" dirty="0"/>
          </a:p>
        </p:txBody>
      </p:sp>
      <p:sp>
        <p:nvSpPr>
          <p:cNvPr id="12" name="Shape 10"/>
          <p:cNvSpPr/>
          <p:nvPr/>
        </p:nvSpPr>
        <p:spPr>
          <a:xfrm>
            <a:off x="4828032" y="2880360"/>
            <a:ext cx="237744" cy="274320"/>
          </a:xfrm>
          <a:prstGeom prst="rightArrow">
            <a:avLst/>
          </a:prstGeom>
          <a:solidFill>
            <a:srgbClr val="1B998B"/>
          </a:solidFill>
          <a:ln w="12700">
            <a:solidFill>
              <a:srgbClr val="1B998B"/>
            </a:solidFill>
            <a:prstDash val="solid"/>
          </a:ln>
        </p:spPr>
      </p:sp>
      <p:sp>
        <p:nvSpPr>
          <p:cNvPr id="13" name="Shape 11"/>
          <p:cNvSpPr/>
          <p:nvPr/>
        </p:nvSpPr>
        <p:spPr>
          <a:xfrm>
            <a:off x="5102352" y="1737360"/>
            <a:ext cx="1965960" cy="2560320"/>
          </a:xfrm>
          <a:prstGeom prst="roundRect">
            <a:avLst>
              <a:gd name="adj" fmla="val 5581"/>
            </a:avLst>
          </a:prstGeom>
          <a:solidFill>
            <a:srgbClr val="6E7B8A"/>
          </a:solidFill>
          <a:ln w="12700">
            <a:solidFill>
              <a:srgbClr val="6E7B8A"/>
            </a:solidFill>
            <a:prstDash val="solid"/>
          </a:ln>
        </p:spPr>
      </p:sp>
      <p:sp>
        <p:nvSpPr>
          <p:cNvPr id="14" name="Text 12"/>
          <p:cNvSpPr txBox="1"/>
          <p:nvPr/>
        </p:nvSpPr>
        <p:spPr>
          <a:xfrm>
            <a:off x="5239512" y="1920240"/>
            <a:ext cx="1691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Silver</a:t>
            </a:r>
            <a:endParaRPr lang="en-US" sz="2200" dirty="0"/>
          </a:p>
        </p:txBody>
      </p:sp>
      <p:sp>
        <p:nvSpPr>
          <p:cNvPr id="15" name="Text 13"/>
          <p:cNvSpPr txBox="1"/>
          <p:nvPr/>
        </p:nvSpPr>
        <p:spPr>
          <a:xfrm>
            <a:off x="5239512" y="2606040"/>
            <a:ext cx="1691640" cy="1554480"/>
          </a:xfrm>
          <a:prstGeom prst="rect">
            <a:avLst/>
          </a:prstGeom>
          <a:noFill/>
          <a:ln/>
        </p:spPr>
        <p:txBody>
          <a:bodyPr wrap="square" lIns="0" tIns="0" rIns="0" bIns="0" rtlCol="0" anchor="t"/>
          <a:lstStyle/>
          <a:p>
            <a:pPr marL="0" indent="0" algn="ctr">
              <a:buNone/>
            </a:pPr>
            <a:r>
              <a:rPr lang="en-US" sz="1550" dirty="0">
                <a:solidFill>
                  <a:srgbClr val="FFFFFF"/>
                </a:solidFill>
                <a:latin typeface="Calibri" pitchFamily="34" charset="0"/>
                <a:ea typeface="Calibri" pitchFamily="34" charset="-122"/>
                <a:cs typeface="Calibri" pitchFamily="34" charset="-120"/>
              </a:rPr>
              <a:t>Données nettoyées, typées, dédupliquées et reliées.</a:t>
            </a:r>
            <a:endParaRPr lang="en-US" sz="1550" dirty="0"/>
          </a:p>
        </p:txBody>
      </p:sp>
      <p:sp>
        <p:nvSpPr>
          <p:cNvPr id="16" name="Shape 14"/>
          <p:cNvSpPr/>
          <p:nvPr/>
        </p:nvSpPr>
        <p:spPr>
          <a:xfrm>
            <a:off x="7104888" y="2880360"/>
            <a:ext cx="237744" cy="274320"/>
          </a:xfrm>
          <a:prstGeom prst="rightArrow">
            <a:avLst/>
          </a:prstGeom>
          <a:solidFill>
            <a:srgbClr val="1B998B"/>
          </a:solidFill>
          <a:ln w="12700">
            <a:solidFill>
              <a:srgbClr val="1B998B"/>
            </a:solidFill>
            <a:prstDash val="solid"/>
          </a:ln>
        </p:spPr>
      </p:sp>
      <p:sp>
        <p:nvSpPr>
          <p:cNvPr id="17" name="Shape 15"/>
          <p:cNvSpPr/>
          <p:nvPr/>
        </p:nvSpPr>
        <p:spPr>
          <a:xfrm>
            <a:off x="7379208" y="1737360"/>
            <a:ext cx="1965960" cy="2560320"/>
          </a:xfrm>
          <a:prstGeom prst="roundRect">
            <a:avLst>
              <a:gd name="adj" fmla="val 5581"/>
            </a:avLst>
          </a:prstGeom>
          <a:solidFill>
            <a:srgbClr val="D9A53A"/>
          </a:solidFill>
          <a:ln w="12700">
            <a:solidFill>
              <a:srgbClr val="D9A53A"/>
            </a:solidFill>
            <a:prstDash val="solid"/>
          </a:ln>
        </p:spPr>
      </p:sp>
      <p:sp>
        <p:nvSpPr>
          <p:cNvPr id="18" name="Text 16"/>
          <p:cNvSpPr txBox="1"/>
          <p:nvPr/>
        </p:nvSpPr>
        <p:spPr>
          <a:xfrm>
            <a:off x="7516368" y="1920240"/>
            <a:ext cx="169164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Gold</a:t>
            </a:r>
            <a:endParaRPr lang="en-US" sz="2200" dirty="0"/>
          </a:p>
        </p:txBody>
      </p:sp>
      <p:sp>
        <p:nvSpPr>
          <p:cNvPr id="19" name="Text 17"/>
          <p:cNvSpPr txBox="1"/>
          <p:nvPr/>
        </p:nvSpPr>
        <p:spPr>
          <a:xfrm>
            <a:off x="7516368" y="2606040"/>
            <a:ext cx="1691640" cy="1554480"/>
          </a:xfrm>
          <a:prstGeom prst="rect">
            <a:avLst/>
          </a:prstGeom>
          <a:noFill/>
          <a:ln/>
        </p:spPr>
        <p:txBody>
          <a:bodyPr wrap="square" lIns="0" tIns="0" rIns="0" bIns="0" rtlCol="0" anchor="t"/>
          <a:lstStyle/>
          <a:p>
            <a:pPr marL="0" indent="0" algn="ctr">
              <a:buNone/>
            </a:pPr>
            <a:r>
              <a:rPr lang="en-US" sz="1550" dirty="0">
                <a:solidFill>
                  <a:srgbClr val="FFFFFF"/>
                </a:solidFill>
                <a:latin typeface="Calibri" pitchFamily="34" charset="0"/>
                <a:ea typeface="Calibri" pitchFamily="34" charset="-122"/>
                <a:cs typeface="Calibri" pitchFamily="34" charset="-120"/>
              </a:rPr>
              <a:t>Agrégats métier et schéma en étoile, prêts pour la BI.</a:t>
            </a:r>
            <a:endParaRPr lang="en-US" sz="1550" dirty="0"/>
          </a:p>
        </p:txBody>
      </p:sp>
      <p:sp>
        <p:nvSpPr>
          <p:cNvPr id="20" name="Shape 18"/>
          <p:cNvSpPr/>
          <p:nvPr/>
        </p:nvSpPr>
        <p:spPr>
          <a:xfrm>
            <a:off x="9381744" y="2880360"/>
            <a:ext cx="237744" cy="274320"/>
          </a:xfrm>
          <a:prstGeom prst="rightArrow">
            <a:avLst/>
          </a:prstGeom>
          <a:solidFill>
            <a:srgbClr val="1B998B"/>
          </a:solidFill>
          <a:ln w="12700">
            <a:solidFill>
              <a:srgbClr val="1B998B"/>
            </a:solidFill>
            <a:prstDash val="solid"/>
          </a:ln>
        </p:spPr>
      </p:sp>
      <p:sp>
        <p:nvSpPr>
          <p:cNvPr id="21" name="Shape 19"/>
          <p:cNvSpPr/>
          <p:nvPr/>
        </p:nvSpPr>
        <p:spPr>
          <a:xfrm>
            <a:off x="9656064" y="1737360"/>
            <a:ext cx="1965960" cy="2560320"/>
          </a:xfrm>
          <a:prstGeom prst="roundRect">
            <a:avLst>
              <a:gd name="adj" fmla="val 5581"/>
            </a:avLst>
          </a:prstGeom>
          <a:solidFill>
            <a:srgbClr val="F1F6F8"/>
          </a:solidFill>
          <a:ln w="12700">
            <a:solidFill>
              <a:srgbClr val="F1F6F8"/>
            </a:solidFill>
            <a:prstDash val="solid"/>
          </a:ln>
        </p:spPr>
      </p:sp>
      <p:sp>
        <p:nvSpPr>
          <p:cNvPr id="22" name="Text 20"/>
          <p:cNvSpPr txBox="1"/>
          <p:nvPr/>
        </p:nvSpPr>
        <p:spPr>
          <a:xfrm>
            <a:off x="9793224" y="1920240"/>
            <a:ext cx="1691640" cy="548640"/>
          </a:xfrm>
          <a:prstGeom prst="rect">
            <a:avLst/>
          </a:prstGeom>
          <a:noFill/>
          <a:ln/>
        </p:spPr>
        <p:txBody>
          <a:bodyPr wrap="square" lIns="0" tIns="0" rIns="0" bIns="0" rtlCol="0" anchor="ctr"/>
          <a:lstStyle/>
          <a:p>
            <a:pPr marL="0" indent="0" algn="ctr">
              <a:buNone/>
            </a:pPr>
            <a:r>
              <a:rPr lang="en-US" sz="2200" b="1" dirty="0">
                <a:solidFill>
                  <a:srgbClr val="0B2545"/>
                </a:solidFill>
                <a:latin typeface="Cambria" pitchFamily="34" charset="0"/>
                <a:ea typeface="Cambria" pitchFamily="34" charset="-122"/>
                <a:cs typeface="Cambria" pitchFamily="34" charset="-120"/>
              </a:rPr>
              <a:t>Usages</a:t>
            </a:r>
            <a:endParaRPr lang="en-US" sz="2200" dirty="0"/>
          </a:p>
        </p:txBody>
      </p:sp>
      <p:sp>
        <p:nvSpPr>
          <p:cNvPr id="23" name="Text 21"/>
          <p:cNvSpPr txBox="1"/>
          <p:nvPr/>
        </p:nvSpPr>
        <p:spPr>
          <a:xfrm>
            <a:off x="9793224" y="2606040"/>
            <a:ext cx="1691640" cy="1554480"/>
          </a:xfrm>
          <a:prstGeom prst="rect">
            <a:avLst/>
          </a:prstGeom>
          <a:noFill/>
          <a:ln/>
        </p:spPr>
        <p:txBody>
          <a:bodyPr wrap="square" lIns="0" tIns="0" rIns="0" bIns="0" rtlCol="0" anchor="t"/>
          <a:lstStyle/>
          <a:p>
            <a:pPr marL="0" indent="0" algn="ctr">
              <a:buNone/>
            </a:pPr>
            <a:r>
              <a:rPr lang="en-US" sz="1550" dirty="0">
                <a:solidFill>
                  <a:srgbClr val="0B2545"/>
                </a:solidFill>
                <a:latin typeface="Calibri" pitchFamily="34" charset="0"/>
                <a:ea typeface="Calibri" pitchFamily="34" charset="-122"/>
                <a:cs typeface="Calibri" pitchFamily="34" charset="-120"/>
              </a:rPr>
              <a:t>Tableaux de bord, rapports, IA</a:t>
            </a:r>
            <a:endParaRPr lang="en-US" sz="1550" dirty="0"/>
          </a:p>
        </p:txBody>
      </p:sp>
      <p:sp>
        <p:nvSpPr>
          <p:cNvPr id="24" name="Shape 22"/>
          <p:cNvSpPr/>
          <p:nvPr/>
        </p:nvSpPr>
        <p:spPr>
          <a:xfrm>
            <a:off x="548640" y="4663440"/>
            <a:ext cx="11064240" cy="1097280"/>
          </a:xfrm>
          <a:prstGeom prst="roundRect">
            <a:avLst>
              <a:gd name="adj" fmla="val 8333"/>
            </a:avLst>
          </a:prstGeom>
          <a:solidFill>
            <a:srgbClr val="DCEBF0"/>
          </a:solidFill>
          <a:ln w="12700">
            <a:solidFill>
              <a:srgbClr val="DCEBF0"/>
            </a:solidFill>
            <a:prstDash val="solid"/>
          </a:ln>
        </p:spPr>
      </p:sp>
      <p:sp>
        <p:nvSpPr>
          <p:cNvPr id="25" name="Text 23"/>
          <p:cNvSpPr txBox="1"/>
          <p:nvPr/>
        </p:nvSpPr>
        <p:spPr>
          <a:xfrm>
            <a:off x="777240" y="4709160"/>
            <a:ext cx="10607040" cy="1005840"/>
          </a:xfrm>
          <a:prstGeom prst="rect">
            <a:avLst/>
          </a:prstGeom>
          <a:noFill/>
          <a:ln/>
        </p:spPr>
        <p:txBody>
          <a:bodyPr wrap="square" lIns="0" tIns="0" rIns="0" bIns="0" rtlCol="0" anchor="ctr"/>
          <a:lstStyle/>
          <a:p>
            <a:pPr marL="0" indent="0">
              <a:buNone/>
            </a:pPr>
            <a:r>
              <a:rPr lang="en-US" sz="1600" b="1" dirty="0">
                <a:solidFill>
                  <a:srgbClr val="0B2545"/>
                </a:solidFill>
                <a:latin typeface="Calibri" pitchFamily="34" charset="0"/>
                <a:ea typeface="Calibri" pitchFamily="34" charset="-122"/>
                <a:cs typeface="Calibri" pitchFamily="34" charset="-120"/>
              </a:rPr>
              <a:t>Pourquoi garder le bronze ? </a:t>
            </a:r>
            <a:r>
              <a:rPr lang="en-US" sz="1600" dirty="0">
                <a:solidFill>
                  <a:srgbClr val="1E293B"/>
                </a:solidFill>
                <a:latin typeface="Calibri" pitchFamily="34" charset="0"/>
                <a:ea typeface="Calibri" pitchFamily="34" charset="-122"/>
                <a:cs typeface="Calibri" pitchFamily="34" charset="-120"/>
              </a:rPr>
              <a:t>Si une règle de nettoyage était fausse, on reconstruit silver et gold à partir des données brutes, sans réinterroger les systèmes sources.</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155680" y="6400800"/>
            <a:ext cx="548640" cy="274320"/>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Comparatif des trois architectures</a:t>
            </a:r>
            <a:endParaRPr lang="en-US" sz="3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4754880"/>
        </p:xfrm>
        <a:graphic>
          <a:graphicData uri="http://schemas.openxmlformats.org/drawingml/2006/table">
            <a:tbl>
              <a:tblPr/>
              <a:tblGrid>
                <a:gridCol w="2834640"/>
                <a:gridCol w="2743200"/>
                <a:gridCol w="2743200"/>
                <a:gridCol w="2743200"/>
              </a:tblGrid>
              <a:tr h="4754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Critère</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0B2545"/>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Data warehouse</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0B2545"/>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Data lake</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0B2545"/>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Data lakehouse</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0B2545"/>
                    </a:solidFill>
                  </a:tcPr>
                </a:tc>
              </a:tr>
              <a:tr h="475488">
                <a:tc>
                  <a:txBody>
                    <a:bodyPr/>
                    <a:lstStyle/>
                    <a:p>
                      <a:pPr marL="0" indent="0">
                        <a:buNone/>
                      </a:pPr>
                      <a:r>
                        <a:rPr lang="en-US" sz="1400" dirty="0">
                          <a:solidFill>
                            <a:srgbClr val="1E293B"/>
                          </a:solidFill>
                          <a:latin typeface="Calibri" pitchFamily="34" charset="0"/>
                          <a:ea typeface="Calibri" pitchFamily="34" charset="-122"/>
                          <a:cs typeface="Calibri" pitchFamily="34" charset="-120"/>
                        </a:rPr>
                        <a:t>Types de données</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400" dirty="0">
                          <a:solidFill>
                            <a:srgbClr val="1E293B"/>
                          </a:solidFill>
                          <a:latin typeface="Calibri" pitchFamily="34" charset="0"/>
                          <a:ea typeface="Calibri" pitchFamily="34" charset="-122"/>
                          <a:cs typeface="Calibri" pitchFamily="34" charset="-120"/>
                        </a:rPr>
                        <a:t>Structurées</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400" dirty="0">
                          <a:solidFill>
                            <a:srgbClr val="1E293B"/>
                          </a:solidFill>
                          <a:latin typeface="Calibri" pitchFamily="34" charset="0"/>
                          <a:ea typeface="Calibri" pitchFamily="34" charset="-122"/>
                          <a:cs typeface="Calibri" pitchFamily="34" charset="-120"/>
                        </a:rPr>
                        <a:t>Toutes</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400" b="1" dirty="0">
                          <a:solidFill>
                            <a:srgbClr val="0B2545"/>
                          </a:solidFill>
                          <a:latin typeface="Calibri" pitchFamily="34" charset="0"/>
                          <a:ea typeface="Calibri" pitchFamily="34" charset="-122"/>
                          <a:cs typeface="Calibri" pitchFamily="34" charset="-120"/>
                        </a:rPr>
                        <a:t>Toutes</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E3F4F2"/>
                    </a:solidFill>
                  </a:tcPr>
                </a:tc>
              </a:tr>
              <a:tr h="475488">
                <a:tc>
                  <a:txBody>
                    <a:bodyPr/>
                    <a:lstStyle/>
                    <a:p>
                      <a:pPr marL="0" indent="0">
                        <a:buNone/>
                      </a:pPr>
                      <a:r>
                        <a:rPr lang="en-US" sz="1400" dirty="0">
                          <a:solidFill>
                            <a:srgbClr val="1E293B"/>
                          </a:solidFill>
                          <a:latin typeface="Calibri" pitchFamily="34" charset="0"/>
                          <a:ea typeface="Calibri" pitchFamily="34" charset="-122"/>
                          <a:cs typeface="Calibri" pitchFamily="34" charset="-120"/>
                        </a:rPr>
                        <a:t>Coût de stockage</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400" dirty="0">
                          <a:solidFill>
                            <a:srgbClr val="1E293B"/>
                          </a:solidFill>
                          <a:latin typeface="Calibri" pitchFamily="34" charset="0"/>
                          <a:ea typeface="Calibri" pitchFamily="34" charset="-122"/>
                          <a:cs typeface="Calibri" pitchFamily="34" charset="-120"/>
                        </a:rPr>
                        <a:t>Élevé</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400" dirty="0">
                          <a:solidFill>
                            <a:srgbClr val="1E293B"/>
                          </a:solidFill>
                          <a:latin typeface="Calibri" pitchFamily="34" charset="0"/>
                          <a:ea typeface="Calibri" pitchFamily="34" charset="-122"/>
                          <a:cs typeface="Calibri" pitchFamily="34" charset="-120"/>
                        </a:rPr>
                        <a:t>Faible</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400" b="1" dirty="0">
                          <a:solidFill>
                            <a:srgbClr val="0B2545"/>
                          </a:solidFill>
                          <a:latin typeface="Calibri" pitchFamily="34" charset="0"/>
                          <a:ea typeface="Calibri" pitchFamily="34" charset="-122"/>
                          <a:cs typeface="Calibri" pitchFamily="34" charset="-120"/>
                        </a:rPr>
                        <a:t>Faible</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E3F4F2"/>
                    </a:solidFill>
                  </a:tcPr>
                </a:tc>
              </a:tr>
              <a:tr h="475488">
                <a:tc>
                  <a:txBody>
                    <a:bodyPr/>
                    <a:lstStyle/>
                    <a:p>
                      <a:pPr marL="0" indent="0">
                        <a:buNone/>
                      </a:pPr>
                      <a:r>
                        <a:rPr lang="en-US" sz="1400" dirty="0">
                          <a:solidFill>
                            <a:srgbClr val="1E293B"/>
                          </a:solidFill>
                          <a:latin typeface="Calibri" pitchFamily="34" charset="0"/>
                          <a:ea typeface="Calibri" pitchFamily="34" charset="-122"/>
                          <a:cs typeface="Calibri" pitchFamily="34" charset="-120"/>
                        </a:rPr>
                        <a:t>Transactions ACID</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400" dirty="0">
                          <a:solidFill>
                            <a:srgbClr val="1E293B"/>
                          </a:solidFill>
                          <a:latin typeface="Calibri" pitchFamily="34" charset="0"/>
                          <a:ea typeface="Calibri" pitchFamily="34" charset="-122"/>
                          <a:cs typeface="Calibri" pitchFamily="34" charset="-120"/>
                        </a:rPr>
                        <a:t>Oui</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400" dirty="0">
                          <a:solidFill>
                            <a:srgbClr val="1E293B"/>
                          </a:solidFill>
                          <a:latin typeface="Calibri" pitchFamily="34" charset="0"/>
                          <a:ea typeface="Calibri" pitchFamily="34" charset="-122"/>
                          <a:cs typeface="Calibri" pitchFamily="34" charset="-120"/>
                        </a:rPr>
                        <a:t>Non</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400" b="1" dirty="0">
                          <a:solidFill>
                            <a:srgbClr val="0B2545"/>
                          </a:solidFill>
                          <a:latin typeface="Calibri" pitchFamily="34" charset="0"/>
                          <a:ea typeface="Calibri" pitchFamily="34" charset="-122"/>
                          <a:cs typeface="Calibri" pitchFamily="34" charset="-120"/>
                        </a:rPr>
                        <a:t>Oui</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E3F4F2"/>
                    </a:solidFill>
                  </a:tcPr>
                </a:tc>
              </a:tr>
              <a:tr h="475488">
                <a:tc>
                  <a:txBody>
                    <a:bodyPr/>
                    <a:lstStyle/>
                    <a:p>
                      <a:pPr marL="0" indent="0">
                        <a:buNone/>
                      </a:pPr>
                      <a:r>
                        <a:rPr lang="en-US" sz="1400" dirty="0">
                          <a:solidFill>
                            <a:srgbClr val="1E293B"/>
                          </a:solidFill>
                          <a:latin typeface="Calibri" pitchFamily="34" charset="0"/>
                          <a:ea typeface="Calibri" pitchFamily="34" charset="-122"/>
                          <a:cs typeface="Calibri" pitchFamily="34" charset="-120"/>
                        </a:rPr>
                        <a:t>Mises à jour et suppressions</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400" dirty="0">
                          <a:solidFill>
                            <a:srgbClr val="1E293B"/>
                          </a:solidFill>
                          <a:latin typeface="Calibri" pitchFamily="34" charset="0"/>
                          <a:ea typeface="Calibri" pitchFamily="34" charset="-122"/>
                          <a:cs typeface="Calibri" pitchFamily="34" charset="-120"/>
                        </a:rPr>
                        <a:t>Oui</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400" dirty="0">
                          <a:solidFill>
                            <a:srgbClr val="1E293B"/>
                          </a:solidFill>
                          <a:latin typeface="Calibri" pitchFamily="34" charset="0"/>
                          <a:ea typeface="Calibri" pitchFamily="34" charset="-122"/>
                          <a:cs typeface="Calibri" pitchFamily="34" charset="-120"/>
                        </a:rPr>
                        <a:t>Difficiles</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400" b="1" dirty="0">
                          <a:solidFill>
                            <a:srgbClr val="0B2545"/>
                          </a:solidFill>
                          <a:latin typeface="Calibri" pitchFamily="34" charset="0"/>
                          <a:ea typeface="Calibri" pitchFamily="34" charset="-122"/>
                          <a:cs typeface="Calibri" pitchFamily="34" charset="-120"/>
                        </a:rPr>
                        <a:t>Oui</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E3F4F2"/>
                    </a:solidFill>
                  </a:tcPr>
                </a:tc>
              </a:tr>
              <a:tr h="475488">
                <a:tc>
                  <a:txBody>
                    <a:bodyPr/>
                    <a:lstStyle/>
                    <a:p>
                      <a:pPr marL="0" indent="0">
                        <a:buNone/>
                      </a:pPr>
                      <a:r>
                        <a:rPr lang="en-US" sz="1400" dirty="0">
                          <a:solidFill>
                            <a:srgbClr val="1E293B"/>
                          </a:solidFill>
                          <a:latin typeface="Calibri" pitchFamily="34" charset="0"/>
                          <a:ea typeface="Calibri" pitchFamily="34" charset="-122"/>
                          <a:cs typeface="Calibri" pitchFamily="34" charset="-120"/>
                        </a:rPr>
                        <a:t>Format</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400" dirty="0">
                          <a:solidFill>
                            <a:srgbClr val="1E293B"/>
                          </a:solidFill>
                          <a:latin typeface="Calibri" pitchFamily="34" charset="0"/>
                          <a:ea typeface="Calibri" pitchFamily="34" charset="-122"/>
                          <a:cs typeface="Calibri" pitchFamily="34" charset="-120"/>
                        </a:rPr>
                        <a:t>Propriétaire</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400" dirty="0">
                          <a:solidFill>
                            <a:srgbClr val="1E293B"/>
                          </a:solidFill>
                          <a:latin typeface="Calibri" pitchFamily="34" charset="0"/>
                          <a:ea typeface="Calibri" pitchFamily="34" charset="-122"/>
                          <a:cs typeface="Calibri" pitchFamily="34" charset="-120"/>
                        </a:rPr>
                        <a:t>Ouvert</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400" b="1" dirty="0">
                          <a:solidFill>
                            <a:srgbClr val="0B2545"/>
                          </a:solidFill>
                          <a:latin typeface="Calibri" pitchFamily="34" charset="0"/>
                          <a:ea typeface="Calibri" pitchFamily="34" charset="-122"/>
                          <a:cs typeface="Calibri" pitchFamily="34" charset="-120"/>
                        </a:rPr>
                        <a:t>Ouvert</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E3F4F2"/>
                    </a:solidFill>
                  </a:tcPr>
                </a:tc>
              </a:tr>
              <a:tr h="475488">
                <a:tc>
                  <a:txBody>
                    <a:bodyPr/>
                    <a:lstStyle/>
                    <a:p>
                      <a:pPr marL="0" indent="0">
                        <a:buNone/>
                      </a:pPr>
                      <a:r>
                        <a:rPr lang="en-US" sz="1400" dirty="0">
                          <a:solidFill>
                            <a:srgbClr val="1E293B"/>
                          </a:solidFill>
                          <a:latin typeface="Calibri" pitchFamily="34" charset="0"/>
                          <a:ea typeface="Calibri" pitchFamily="34" charset="-122"/>
                          <a:cs typeface="Calibri" pitchFamily="34" charset="-120"/>
                        </a:rPr>
                        <a:t>BI en SQL</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400" dirty="0">
                          <a:solidFill>
                            <a:srgbClr val="1E293B"/>
                          </a:solidFill>
                          <a:latin typeface="Calibri" pitchFamily="34" charset="0"/>
                          <a:ea typeface="Calibri" pitchFamily="34" charset="-122"/>
                          <a:cs typeface="Calibri" pitchFamily="34" charset="-120"/>
                        </a:rPr>
                        <a:t>Excellente</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400" dirty="0">
                          <a:solidFill>
                            <a:srgbClr val="1E293B"/>
                          </a:solidFill>
                          <a:latin typeface="Calibri" pitchFamily="34" charset="0"/>
                          <a:ea typeface="Calibri" pitchFamily="34" charset="-122"/>
                          <a:cs typeface="Calibri" pitchFamily="34" charset="-120"/>
                        </a:rPr>
                        <a:t>Faible</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400" b="1" dirty="0">
                          <a:solidFill>
                            <a:srgbClr val="0B2545"/>
                          </a:solidFill>
                          <a:latin typeface="Calibri" pitchFamily="34" charset="0"/>
                          <a:ea typeface="Calibri" pitchFamily="34" charset="-122"/>
                          <a:cs typeface="Calibri" pitchFamily="34" charset="-120"/>
                        </a:rPr>
                        <a:t>Bonne à excellente</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E3F4F2"/>
                    </a:solidFill>
                  </a:tcPr>
                </a:tc>
              </a:tr>
              <a:tr h="475488">
                <a:tc>
                  <a:txBody>
                    <a:bodyPr/>
                    <a:lstStyle/>
                    <a:p>
                      <a:pPr marL="0" indent="0">
                        <a:buNone/>
                      </a:pPr>
                      <a:r>
                        <a:rPr lang="en-US" sz="1400" dirty="0">
                          <a:solidFill>
                            <a:srgbClr val="1E293B"/>
                          </a:solidFill>
                          <a:latin typeface="Calibri" pitchFamily="34" charset="0"/>
                          <a:ea typeface="Calibri" pitchFamily="34" charset="-122"/>
                          <a:cs typeface="Calibri" pitchFamily="34" charset="-120"/>
                        </a:rPr>
                        <a:t>Machine learning</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400" dirty="0">
                          <a:solidFill>
                            <a:srgbClr val="1E293B"/>
                          </a:solidFill>
                          <a:latin typeface="Calibri" pitchFamily="34" charset="0"/>
                          <a:ea typeface="Calibri" pitchFamily="34" charset="-122"/>
                          <a:cs typeface="Calibri" pitchFamily="34" charset="-120"/>
                        </a:rPr>
                        <a:t>Limité</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400" dirty="0">
                          <a:solidFill>
                            <a:srgbClr val="1E293B"/>
                          </a:solidFill>
                          <a:latin typeface="Calibri" pitchFamily="34" charset="0"/>
                          <a:ea typeface="Calibri" pitchFamily="34" charset="-122"/>
                          <a:cs typeface="Calibri" pitchFamily="34" charset="-120"/>
                        </a:rPr>
                        <a:t>Bon</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400" b="1" dirty="0">
                          <a:solidFill>
                            <a:srgbClr val="0B2545"/>
                          </a:solidFill>
                          <a:latin typeface="Calibri" pitchFamily="34" charset="0"/>
                          <a:ea typeface="Calibri" pitchFamily="34" charset="-122"/>
                          <a:cs typeface="Calibri" pitchFamily="34" charset="-120"/>
                        </a:rPr>
                        <a:t>Bon</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E3F4F2"/>
                    </a:solidFill>
                  </a:tcPr>
                </a:tc>
              </a:tr>
              <a:tr h="475488">
                <a:tc>
                  <a:txBody>
                    <a:bodyPr/>
                    <a:lstStyle/>
                    <a:p>
                      <a:pPr marL="0" indent="0">
                        <a:buNone/>
                      </a:pPr>
                      <a:r>
                        <a:rPr lang="en-US" sz="1400" dirty="0">
                          <a:solidFill>
                            <a:srgbClr val="1E293B"/>
                          </a:solidFill>
                          <a:latin typeface="Calibri" pitchFamily="34" charset="0"/>
                          <a:ea typeface="Calibri" pitchFamily="34" charset="-122"/>
                          <a:cs typeface="Calibri" pitchFamily="34" charset="-120"/>
                        </a:rPr>
                        <a:t>Gouvernance</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400" dirty="0">
                          <a:solidFill>
                            <a:srgbClr val="1E293B"/>
                          </a:solidFill>
                          <a:latin typeface="Calibri" pitchFamily="34" charset="0"/>
                          <a:ea typeface="Calibri" pitchFamily="34" charset="-122"/>
                          <a:cs typeface="Calibri" pitchFamily="34" charset="-120"/>
                        </a:rPr>
                        <a:t>Forte</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400" dirty="0">
                          <a:solidFill>
                            <a:srgbClr val="1E293B"/>
                          </a:solidFill>
                          <a:latin typeface="Calibri" pitchFamily="34" charset="0"/>
                          <a:ea typeface="Calibri" pitchFamily="34" charset="-122"/>
                          <a:cs typeface="Calibri" pitchFamily="34" charset="-120"/>
                        </a:rPr>
                        <a:t>Faible</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400" b="1" dirty="0">
                          <a:solidFill>
                            <a:srgbClr val="0B2545"/>
                          </a:solidFill>
                          <a:latin typeface="Calibri" pitchFamily="34" charset="0"/>
                          <a:ea typeface="Calibri" pitchFamily="34" charset="-122"/>
                          <a:cs typeface="Calibri" pitchFamily="34" charset="-120"/>
                        </a:rPr>
                        <a:t>Forte, via un catalogue</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E3F4F2"/>
                    </a:solidFill>
                  </a:tcPr>
                </a:tc>
              </a:tr>
              <a:tr h="475488">
                <a:tc>
                  <a:txBody>
                    <a:bodyPr/>
                    <a:lstStyle/>
                    <a:p>
                      <a:pPr marL="0" indent="0">
                        <a:buNone/>
                      </a:pPr>
                      <a:r>
                        <a:rPr lang="en-US" sz="1400" dirty="0">
                          <a:solidFill>
                            <a:srgbClr val="1E293B"/>
                          </a:solidFill>
                          <a:latin typeface="Calibri" pitchFamily="34" charset="0"/>
                          <a:ea typeface="Calibri" pitchFamily="34" charset="-122"/>
                          <a:cs typeface="Calibri" pitchFamily="34" charset="-120"/>
                        </a:rPr>
                        <a:t>Exemples</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400" dirty="0">
                          <a:solidFill>
                            <a:srgbClr val="1E293B"/>
                          </a:solidFill>
                          <a:latin typeface="Calibri" pitchFamily="34" charset="0"/>
                          <a:ea typeface="Calibri" pitchFamily="34" charset="-122"/>
                          <a:cs typeface="Calibri" pitchFamily="34" charset="-120"/>
                        </a:rPr>
                        <a:t>Teradata, Redshift</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400" dirty="0">
                          <a:solidFill>
                            <a:srgbClr val="1E293B"/>
                          </a:solidFill>
                          <a:latin typeface="Calibri" pitchFamily="34" charset="0"/>
                          <a:ea typeface="Calibri" pitchFamily="34" charset="-122"/>
                          <a:cs typeface="Calibri" pitchFamily="34" charset="-120"/>
                        </a:rPr>
                        <a:t>S3, ADLS, HDFS</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FFFFFF"/>
                    </a:solidFill>
                  </a:tcPr>
                </a:tc>
                <a:tc>
                  <a:txBody>
                    <a:bodyPr/>
                    <a:lstStyle/>
                    <a:p>
                      <a:pPr marL="0" indent="0">
                        <a:buNone/>
                      </a:pPr>
                      <a:r>
                        <a:rPr lang="en-US" sz="1400" b="1" dirty="0">
                          <a:solidFill>
                            <a:srgbClr val="0B2545"/>
                          </a:solidFill>
                          <a:latin typeface="Calibri" pitchFamily="34" charset="0"/>
                          <a:ea typeface="Calibri" pitchFamily="34" charset="-122"/>
                          <a:cs typeface="Calibri" pitchFamily="34" charset="-120"/>
                        </a:rPr>
                        <a:t>Databricks, Fabric, Iceberg</a:t>
                      </a:r>
                      <a:endParaRPr lang="en-US" sz="1400" dirty="0">
                        <a:latin typeface="Calibri" charset="0"/>
                        <a:ea typeface="Calibri" charset="0"/>
                        <a:cs typeface="Calibri" charset="0"/>
                      </a:endParaRPr>
                    </a:p>
                  </a:txBody>
                  <a:tcPr anchor="ctr">
                    <a:lnL w="9525" cap="flat" cmpd="sng" algn="ctr">
                      <a:solidFill>
                        <a:srgbClr val="D7E0E8"/>
                      </a:solidFill>
                      <a:prstDash val="solid"/>
                      <a:round/>
                      <a:headEnd type="none" w="med" len="med"/>
                      <a:tailEnd type="none" w="med" len="med"/>
                    </a:lnL>
                    <a:lnR w="9525" cap="flat" cmpd="sng" algn="ctr">
                      <a:solidFill>
                        <a:srgbClr val="D7E0E8"/>
                      </a:solidFill>
                      <a:prstDash val="solid"/>
                      <a:round/>
                      <a:headEnd type="none" w="med" len="med"/>
                      <a:tailEnd type="none" w="med" len="med"/>
                    </a:lnR>
                    <a:lnT w="9525" cap="flat" cmpd="sng" algn="ctr">
                      <a:solidFill>
                        <a:srgbClr val="D7E0E8"/>
                      </a:solidFill>
                      <a:prstDash val="solid"/>
                      <a:round/>
                      <a:headEnd type="none" w="med" len="med"/>
                      <a:tailEnd type="none" w="med" len="med"/>
                    </a:lnT>
                    <a:lnB w="9525" cap="flat" cmpd="sng" algn="ctr">
                      <a:solidFill>
                        <a:srgbClr val="D7E0E8"/>
                      </a:solidFill>
                      <a:prstDash val="solid"/>
                      <a:round/>
                      <a:headEnd type="none" w="med" len="med"/>
                      <a:tailEnd type="none" w="med" len="med"/>
                    </a:lnB>
                    <a:solidFill>
                      <a:srgbClr val="E3F4F2"/>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155680" y="6400800"/>
            <a:ext cx="548640" cy="274320"/>
          </a:xfrm>
          <a:prstGeom prst="rect">
            <a:avLst/>
          </a:prstGeom>
          <a:noFill/>
          <a:ln/>
        </p:spPr>
        <p:txBody>
          <a:bodyPr wrap="square" lIns="0" tIns="0" rIns="0" bIns="0" rtlCol="0" anchor="ctr"/>
          <a:lstStyle/>
          <a:p>
            <a:pPr marL="0" indent="0" algn="r">
              <a:buNone/>
            </a:pPr>
            <a:r>
              <a:rPr lang="en-US" sz="1000" dirty="0">
                <a:solidFill>
                  <a:srgbClr val="5B6B7F"/>
                </a:solidFill>
                <a:latin typeface="Calibri" pitchFamily="34" charset="0"/>
                <a:ea typeface="Calibri" pitchFamily="34" charset="-122"/>
                <a:cs typeface="Calibri" pitchFamily="34" charset="-120"/>
              </a:rPr>
              <a:t>23</a:t>
            </a:r>
            <a:endParaRPr lang="en-US" sz="1000" dirty="0"/>
          </a:p>
        </p:txBody>
      </p:sp>
      <p:sp>
        <p:nvSpPr>
          <p:cNvPr id="3" name="Text 1"/>
          <p:cNvSpPr txBox="1"/>
          <p:nvPr/>
        </p:nvSpPr>
        <p:spPr>
          <a:xfrm>
            <a:off x="548640" y="365760"/>
            <a:ext cx="11064240" cy="685800"/>
          </a:xfrm>
          <a:prstGeom prst="rect">
            <a:avLst/>
          </a:prstGeom>
          <a:noFill/>
          <a:ln/>
        </p:spPr>
        <p:txBody>
          <a:bodyPr wrap="square" lIns="0" tIns="0" rIns="0" bIns="0" rtlCol="0" anchor="ctr"/>
          <a:lstStyle/>
          <a:p>
            <a:pPr marL="0" indent="0">
              <a:buNone/>
            </a:pPr>
            <a:r>
              <a:rPr lang="en-US" sz="3200" b="1" dirty="0">
                <a:solidFill>
                  <a:srgbClr val="0B2545"/>
                </a:solidFill>
                <a:latin typeface="Cambria" pitchFamily="34" charset="0"/>
                <a:ea typeface="Cambria" pitchFamily="34" charset="-122"/>
                <a:cs typeface="Cambria" pitchFamily="34" charset="-120"/>
              </a:rPr>
              <a:t>Quelle architecture choisir ?</a:t>
            </a:r>
            <a:endParaRPr lang="en-US" sz="3200" dirty="0"/>
          </a:p>
        </p:txBody>
      </p:sp>
      <p:sp>
        <p:nvSpPr>
          <p:cNvPr id="4" name="Shape 2"/>
          <p:cNvSpPr/>
          <p:nvPr/>
        </p:nvSpPr>
        <p:spPr>
          <a:xfrm>
            <a:off x="548640" y="1371600"/>
            <a:ext cx="3566160" cy="4206240"/>
          </a:xfrm>
          <a:prstGeom prst="roundRect">
            <a:avLst>
              <a:gd name="adj" fmla="val 2564"/>
            </a:avLst>
          </a:prstGeom>
          <a:solidFill>
            <a:srgbClr val="F1F6F8"/>
          </a:solidFill>
          <a:ln w="12700">
            <a:solidFill>
              <a:srgbClr val="F1F6F8"/>
            </a:solidFill>
            <a:prstDash val="solid"/>
          </a:ln>
        </p:spPr>
      </p:sp>
      <p:sp>
        <p:nvSpPr>
          <p:cNvPr id="5" name="Shape 3"/>
          <p:cNvSpPr/>
          <p:nvPr/>
        </p:nvSpPr>
        <p:spPr>
          <a:xfrm>
            <a:off x="1920240" y="1645920"/>
            <a:ext cx="822960" cy="822960"/>
          </a:xfrm>
          <a:prstGeom prst="ellipse">
            <a:avLst/>
          </a:prstGeom>
          <a:solidFill>
            <a:srgbClr val="1B998B"/>
          </a:solidFill>
          <a:ln w="12700">
            <a:solidFill>
              <a:srgbClr val="1B998B"/>
            </a:solidFill>
            <a:prstDash val="solid"/>
          </a:ln>
        </p:spPr>
      </p:sp>
      <p:pic>
        <p:nvPicPr>
          <p:cNvPr id="6" name="Image 0" descr="preencoded.png"/>
          <p:cNvPicPr>
            <a:picLocks noChangeAspect="1"/>
          </p:cNvPicPr>
          <p:nvPr/>
        </p:nvPicPr>
        <p:blipFill>
          <a:blip r:embed="rId3"/>
          <a:stretch>
            <a:fillRect/>
          </a:stretch>
        </p:blipFill>
        <p:spPr>
          <a:xfrm>
            <a:off x="2125980" y="1851660"/>
            <a:ext cx="411480" cy="411480"/>
          </a:xfrm>
          <a:prstGeom prst="rect">
            <a:avLst/>
          </a:prstGeom>
        </p:spPr>
      </p:pic>
      <p:sp>
        <p:nvSpPr>
          <p:cNvPr id="7" name="Text 4"/>
          <p:cNvSpPr txBox="1"/>
          <p:nvPr/>
        </p:nvSpPr>
        <p:spPr>
          <a:xfrm>
            <a:off x="731520" y="2606040"/>
            <a:ext cx="3200400" cy="457200"/>
          </a:xfrm>
          <a:prstGeom prst="rect">
            <a:avLst/>
          </a:prstGeom>
          <a:noFill/>
          <a:ln/>
        </p:spPr>
        <p:txBody>
          <a:bodyPr wrap="square" lIns="0" tIns="0" rIns="0" bIns="0" rtlCol="0" anchor="ctr"/>
          <a:lstStyle/>
          <a:p>
            <a:pPr marL="0" indent="0" algn="ctr">
              <a:buNone/>
            </a:pPr>
            <a:r>
              <a:rPr lang="en-US" sz="2000" b="1" dirty="0">
                <a:solidFill>
                  <a:srgbClr val="0B2545"/>
                </a:solidFill>
                <a:latin typeface="Cambria" pitchFamily="34" charset="0"/>
                <a:ea typeface="Cambria" pitchFamily="34" charset="-122"/>
                <a:cs typeface="Cambria" pitchFamily="34" charset="-120"/>
              </a:rPr>
              <a:t>Data warehouse</a:t>
            </a:r>
            <a:endParaRPr lang="en-US" sz="2000" dirty="0"/>
          </a:p>
        </p:txBody>
      </p:sp>
      <p:sp>
        <p:nvSpPr>
          <p:cNvPr id="8" name="Text 5"/>
          <p:cNvSpPr txBox="1"/>
          <p:nvPr/>
        </p:nvSpPr>
        <p:spPr>
          <a:xfrm>
            <a:off x="822960" y="3246120"/>
            <a:ext cx="3063240" cy="2194560"/>
          </a:xfrm>
          <a:prstGeom prst="rect">
            <a:avLst/>
          </a:prstGeom>
          <a:noFill/>
          <a:ln/>
        </p:spPr>
        <p:txBody>
          <a:bodyPr wrap="square" rtlCol="0" anchor="t"/>
          <a:lstStyle/>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Données surtout structurées</a:t>
            </a:r>
            <a:endParaRPr lang="en-US" sz="1600" dirty="0"/>
          </a:p>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Besoin principal : reporting et BI</a:t>
            </a:r>
            <a:endParaRPr lang="en-US" sz="1600" dirty="0"/>
          </a:p>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Équipe orientée SQL, volume modéré</a:t>
            </a:r>
            <a:endParaRPr lang="en-US" sz="1600" dirty="0"/>
          </a:p>
        </p:txBody>
      </p:sp>
      <p:sp>
        <p:nvSpPr>
          <p:cNvPr id="9" name="Shape 6"/>
          <p:cNvSpPr/>
          <p:nvPr/>
        </p:nvSpPr>
        <p:spPr>
          <a:xfrm>
            <a:off x="4297680" y="1371600"/>
            <a:ext cx="3566160" cy="4206240"/>
          </a:xfrm>
          <a:prstGeom prst="roundRect">
            <a:avLst>
              <a:gd name="adj" fmla="val 2564"/>
            </a:avLst>
          </a:prstGeom>
          <a:solidFill>
            <a:srgbClr val="F1F6F8"/>
          </a:solidFill>
          <a:ln w="12700">
            <a:solidFill>
              <a:srgbClr val="F1F6F8"/>
            </a:solidFill>
            <a:prstDash val="solid"/>
          </a:ln>
        </p:spPr>
      </p:sp>
      <p:sp>
        <p:nvSpPr>
          <p:cNvPr id="10" name="Shape 7"/>
          <p:cNvSpPr/>
          <p:nvPr/>
        </p:nvSpPr>
        <p:spPr>
          <a:xfrm>
            <a:off x="5669280" y="1645920"/>
            <a:ext cx="822960" cy="822960"/>
          </a:xfrm>
          <a:prstGeom prst="ellipse">
            <a:avLst/>
          </a:prstGeom>
          <a:solidFill>
            <a:srgbClr val="F2A541"/>
          </a:solidFill>
          <a:ln w="12700">
            <a:solidFill>
              <a:srgbClr val="F2A541"/>
            </a:solidFill>
            <a:prstDash val="solid"/>
          </a:ln>
        </p:spPr>
      </p:sp>
      <p:pic>
        <p:nvPicPr>
          <p:cNvPr id="11" name="Image 1" descr="preencoded.png"/>
          <p:cNvPicPr>
            <a:picLocks noChangeAspect="1"/>
          </p:cNvPicPr>
          <p:nvPr/>
        </p:nvPicPr>
        <p:blipFill>
          <a:blip r:embed="rId4"/>
          <a:stretch>
            <a:fillRect/>
          </a:stretch>
        </p:blipFill>
        <p:spPr>
          <a:xfrm>
            <a:off x="5875020" y="1851660"/>
            <a:ext cx="411480" cy="411480"/>
          </a:xfrm>
          <a:prstGeom prst="rect">
            <a:avLst/>
          </a:prstGeom>
        </p:spPr>
      </p:pic>
      <p:sp>
        <p:nvSpPr>
          <p:cNvPr id="12" name="Text 8"/>
          <p:cNvSpPr txBox="1"/>
          <p:nvPr/>
        </p:nvSpPr>
        <p:spPr>
          <a:xfrm>
            <a:off x="4480560" y="2606040"/>
            <a:ext cx="3200400" cy="457200"/>
          </a:xfrm>
          <a:prstGeom prst="rect">
            <a:avLst/>
          </a:prstGeom>
          <a:noFill/>
          <a:ln/>
        </p:spPr>
        <p:txBody>
          <a:bodyPr wrap="square" lIns="0" tIns="0" rIns="0" bIns="0" rtlCol="0" anchor="ctr"/>
          <a:lstStyle/>
          <a:p>
            <a:pPr marL="0" indent="0" algn="ctr">
              <a:buNone/>
            </a:pPr>
            <a:r>
              <a:rPr lang="en-US" sz="2000" b="1" dirty="0">
                <a:solidFill>
                  <a:srgbClr val="0B2545"/>
                </a:solidFill>
                <a:latin typeface="Cambria" pitchFamily="34" charset="0"/>
                <a:ea typeface="Cambria" pitchFamily="34" charset="-122"/>
                <a:cs typeface="Cambria" pitchFamily="34" charset="-120"/>
              </a:rPr>
              <a:t>Data lake</a:t>
            </a:r>
            <a:endParaRPr lang="en-US" sz="2000" dirty="0"/>
          </a:p>
        </p:txBody>
      </p:sp>
      <p:sp>
        <p:nvSpPr>
          <p:cNvPr id="13" name="Text 9"/>
          <p:cNvSpPr txBox="1"/>
          <p:nvPr/>
        </p:nvSpPr>
        <p:spPr>
          <a:xfrm>
            <a:off x="4572000" y="3246120"/>
            <a:ext cx="3063240" cy="2194560"/>
          </a:xfrm>
          <a:prstGeom prst="rect">
            <a:avLst/>
          </a:prstGeom>
          <a:noFill/>
          <a:ln/>
        </p:spPr>
        <p:txBody>
          <a:bodyPr wrap="square" rtlCol="0" anchor="t"/>
          <a:lstStyle/>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Gros volumes de données brutes et variées</a:t>
            </a:r>
            <a:endParaRPr lang="en-US" sz="1600" dirty="0"/>
          </a:p>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Archivage à faible coût</a:t>
            </a:r>
            <a:endParaRPr lang="en-US" sz="1600" dirty="0"/>
          </a:p>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Exploration et data science</a:t>
            </a:r>
            <a:endParaRPr lang="en-US" sz="1600" dirty="0"/>
          </a:p>
        </p:txBody>
      </p:sp>
      <p:sp>
        <p:nvSpPr>
          <p:cNvPr id="14" name="Shape 10"/>
          <p:cNvSpPr/>
          <p:nvPr/>
        </p:nvSpPr>
        <p:spPr>
          <a:xfrm>
            <a:off x="8046720" y="1371600"/>
            <a:ext cx="3566160" cy="4206240"/>
          </a:xfrm>
          <a:prstGeom prst="roundRect">
            <a:avLst>
              <a:gd name="adj" fmla="val 2564"/>
            </a:avLst>
          </a:prstGeom>
          <a:solidFill>
            <a:srgbClr val="F1F6F8"/>
          </a:solidFill>
          <a:ln w="12700">
            <a:solidFill>
              <a:srgbClr val="F1F6F8"/>
            </a:solidFill>
            <a:prstDash val="solid"/>
          </a:ln>
        </p:spPr>
      </p:sp>
      <p:sp>
        <p:nvSpPr>
          <p:cNvPr id="15" name="Shape 11"/>
          <p:cNvSpPr/>
          <p:nvPr/>
        </p:nvSpPr>
        <p:spPr>
          <a:xfrm>
            <a:off x="9418320" y="1645920"/>
            <a:ext cx="822960" cy="822960"/>
          </a:xfrm>
          <a:prstGeom prst="ellipse">
            <a:avLst/>
          </a:prstGeom>
          <a:solidFill>
            <a:srgbClr val="0B2545"/>
          </a:solidFill>
          <a:ln w="12700">
            <a:solidFill>
              <a:srgbClr val="0B2545"/>
            </a:solidFill>
            <a:prstDash val="solid"/>
          </a:ln>
        </p:spPr>
      </p:sp>
      <p:pic>
        <p:nvPicPr>
          <p:cNvPr id="16" name="Image 2" descr="preencoded.png"/>
          <p:cNvPicPr>
            <a:picLocks noChangeAspect="1"/>
          </p:cNvPicPr>
          <p:nvPr/>
        </p:nvPicPr>
        <p:blipFill>
          <a:blip r:embed="rId5"/>
          <a:stretch>
            <a:fillRect/>
          </a:stretch>
        </p:blipFill>
        <p:spPr>
          <a:xfrm>
            <a:off x="9624060" y="1851660"/>
            <a:ext cx="411480" cy="411480"/>
          </a:xfrm>
          <a:prstGeom prst="rect">
            <a:avLst/>
          </a:prstGeom>
        </p:spPr>
      </p:pic>
      <p:sp>
        <p:nvSpPr>
          <p:cNvPr id="17" name="Text 12"/>
          <p:cNvSpPr txBox="1"/>
          <p:nvPr/>
        </p:nvSpPr>
        <p:spPr>
          <a:xfrm>
            <a:off x="8229600" y="2606040"/>
            <a:ext cx="3200400" cy="457200"/>
          </a:xfrm>
          <a:prstGeom prst="rect">
            <a:avLst/>
          </a:prstGeom>
          <a:noFill/>
          <a:ln/>
        </p:spPr>
        <p:txBody>
          <a:bodyPr wrap="square" lIns="0" tIns="0" rIns="0" bIns="0" rtlCol="0" anchor="ctr"/>
          <a:lstStyle/>
          <a:p>
            <a:pPr marL="0" indent="0" algn="ctr">
              <a:buNone/>
            </a:pPr>
            <a:r>
              <a:rPr lang="en-US" sz="2000" b="1" dirty="0">
                <a:solidFill>
                  <a:srgbClr val="0B2545"/>
                </a:solidFill>
                <a:latin typeface="Cambria" pitchFamily="34" charset="0"/>
                <a:ea typeface="Cambria" pitchFamily="34" charset="-122"/>
                <a:cs typeface="Cambria" pitchFamily="34" charset="-120"/>
              </a:rPr>
              <a:t>Data lakehouse</a:t>
            </a:r>
            <a:endParaRPr lang="en-US" sz="2000" dirty="0"/>
          </a:p>
        </p:txBody>
      </p:sp>
      <p:sp>
        <p:nvSpPr>
          <p:cNvPr id="18" name="Text 13"/>
          <p:cNvSpPr txBox="1"/>
          <p:nvPr/>
        </p:nvSpPr>
        <p:spPr>
          <a:xfrm>
            <a:off x="8321040" y="3246120"/>
            <a:ext cx="3063240" cy="2194560"/>
          </a:xfrm>
          <a:prstGeom prst="rect">
            <a:avLst/>
          </a:prstGeom>
          <a:noFill/>
          <a:ln/>
        </p:spPr>
        <p:txBody>
          <a:bodyPr wrap="square" rtlCol="0" anchor="t"/>
          <a:lstStyle/>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BI et IA sur les mêmes données</a:t>
            </a:r>
            <a:endParaRPr lang="en-US" sz="1600" dirty="0"/>
          </a:p>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Besoin de formats ouverts</a:t>
            </a:r>
            <a:endParaRPr lang="en-US" sz="1600" dirty="0"/>
          </a:p>
          <a:p>
            <a:pPr marL="342900" indent="-342900">
              <a:spcAft>
                <a:spcPts val="800"/>
              </a:spcAft>
              <a:buSzPct val="100000"/>
              <a:buChar char="•"/>
            </a:pPr>
            <a:r>
              <a:rPr lang="en-US" sz="1600" dirty="0">
                <a:solidFill>
                  <a:srgbClr val="1E293B"/>
                </a:solidFill>
                <a:latin typeface="Calibri" pitchFamily="34" charset="0"/>
                <a:ea typeface="Calibri" pitchFamily="34" charset="-122"/>
                <a:cs typeface="Calibri" pitchFamily="34" charset="-120"/>
              </a:rPr>
              <a:t>Nouveau projet de plateforme data</a:t>
            </a:r>
            <a:endParaRPr lang="en-US" sz="1600" dirty="0"/>
          </a:p>
        </p:txBody>
      </p:sp>
      <p:sp>
        <p:nvSpPr>
          <p:cNvPr id="19" name="Text 14"/>
          <p:cNvSpPr txBox="1"/>
          <p:nvPr/>
        </p:nvSpPr>
        <p:spPr>
          <a:xfrm>
            <a:off x="548640" y="5715000"/>
            <a:ext cx="11064240" cy="594360"/>
          </a:xfrm>
          <a:prstGeom prst="rect">
            <a:avLst/>
          </a:prstGeom>
          <a:noFill/>
          <a:ln/>
        </p:spPr>
        <p:txBody>
          <a:bodyPr wrap="square" lIns="0" tIns="0" rIns="0" bIns="0" rtlCol="0" anchor="ctr"/>
          <a:lstStyle/>
          <a:p>
            <a:pPr marL="0" indent="0">
              <a:buNone/>
            </a:pPr>
            <a:r>
              <a:rPr lang="en-US" sz="1400" i="1" dirty="0">
                <a:solidFill>
                  <a:srgbClr val="1B998B"/>
                </a:solidFill>
                <a:latin typeface="Calibri" pitchFamily="34" charset="0"/>
                <a:ea typeface="Calibri" pitchFamily="34" charset="-122"/>
                <a:cs typeface="Calibri" pitchFamily="34" charset="-120"/>
              </a:rPr>
              <a:t>Tendance actuelle : la plupart des nouvelles plateformes adoptent le lakehouse, souvent en commençant petit (DuckDB, Delta Lake) avant de passer à l'échelle.</a:t>
            </a:r>
            <a:endParaRPr lang="en-US" sz="1400"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2545"/>
        </a:solidFill>
        <a:effectLst/>
      </p:bgPr>
    </p:bg>
    <p:spTree>
      <p:nvGrpSpPr>
        <p:cNvPr id="1" name=""/>
        <p:cNvGrpSpPr/>
        <p:nvPr/>
      </p:nvGrpSpPr>
      <p:grpSpPr>
        <a:xfrm>
          <a:off x="0" y="0"/>
          <a:ext cx="0" cy="0"/>
          <a:chOff x="0" y="0"/>
          <a:chExt cx="0" cy="0"/>
        </a:xfrm>
      </p:grpSpPr>
      <p:sp>
        <p:nvSpPr>
          <p:cNvPr id="2" name="Text 0"/>
          <p:cNvSpPr txBox="1"/>
          <p:nvPr/>
        </p:nvSpPr>
        <p:spPr>
          <a:xfrm>
            <a:off x="640080" y="548640"/>
            <a:ext cx="5486400" cy="8229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À retenir</a:t>
            </a:r>
            <a:endParaRPr lang="en-US" sz="4000" dirty="0"/>
          </a:p>
        </p:txBody>
      </p:sp>
      <p:sp>
        <p:nvSpPr>
          <p:cNvPr id="3" name="Text 1"/>
          <p:cNvSpPr txBox="1"/>
          <p:nvPr/>
        </p:nvSpPr>
        <p:spPr>
          <a:xfrm>
            <a:off x="640080" y="1691640"/>
            <a:ext cx="640080" cy="640080"/>
          </a:xfrm>
          <a:prstGeom prst="rect">
            <a:avLst/>
          </a:prstGeom>
          <a:noFill/>
          <a:ln/>
        </p:spPr>
        <p:txBody>
          <a:bodyPr wrap="square" lIns="0" tIns="0" rIns="0" bIns="0" rtlCol="0" anchor="t"/>
          <a:lstStyle/>
          <a:p>
            <a:pPr marL="0" indent="0">
              <a:buNone/>
            </a:pPr>
            <a:r>
              <a:rPr lang="en-US" sz="3000" b="1" dirty="0">
                <a:solidFill>
                  <a:srgbClr val="F2A541"/>
                </a:solidFill>
                <a:latin typeface="Cambria" pitchFamily="34" charset="0"/>
                <a:ea typeface="Cambria" pitchFamily="34" charset="-122"/>
                <a:cs typeface="Cambria" pitchFamily="34" charset="-120"/>
              </a:rPr>
              <a:t>1</a:t>
            </a:r>
            <a:endParaRPr lang="en-US" sz="3000" dirty="0"/>
          </a:p>
        </p:txBody>
      </p:sp>
      <p:sp>
        <p:nvSpPr>
          <p:cNvPr id="4" name="Text 2"/>
          <p:cNvSpPr txBox="1"/>
          <p:nvPr/>
        </p:nvSpPr>
        <p:spPr>
          <a:xfrm>
            <a:off x="1325880" y="1691640"/>
            <a:ext cx="4846320" cy="41148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Data warehouse</a:t>
            </a:r>
            <a:endParaRPr lang="en-US" sz="2000" dirty="0"/>
          </a:p>
        </p:txBody>
      </p:sp>
      <p:sp>
        <p:nvSpPr>
          <p:cNvPr id="5" name="Text 3"/>
          <p:cNvSpPr txBox="1"/>
          <p:nvPr/>
        </p:nvSpPr>
        <p:spPr>
          <a:xfrm>
            <a:off x="1325880" y="2130552"/>
            <a:ext cx="4846320" cy="868680"/>
          </a:xfrm>
          <a:prstGeom prst="rect">
            <a:avLst/>
          </a:prstGeom>
          <a:noFill/>
          <a:ln/>
        </p:spPr>
        <p:txBody>
          <a:bodyPr wrap="square" lIns="0" tIns="0" rIns="0" bIns="0" rtlCol="0" anchor="t"/>
          <a:lstStyle/>
          <a:p>
            <a:pPr marL="0" indent="0">
              <a:buNone/>
            </a:pPr>
            <a:r>
              <a:rPr lang="en-US" sz="1500" dirty="0">
                <a:solidFill>
                  <a:srgbClr val="DCEBF0"/>
                </a:solidFill>
                <a:latin typeface="Calibri" pitchFamily="34" charset="0"/>
                <a:ea typeface="Calibri" pitchFamily="34" charset="-122"/>
                <a:cs typeface="Calibri" pitchFamily="34" charset="-120"/>
              </a:rPr>
              <a:t>Fiable et performant pour la BI, mais coûteux et limité aux données structurées.</a:t>
            </a:r>
            <a:endParaRPr lang="en-US" sz="1500" dirty="0"/>
          </a:p>
        </p:txBody>
      </p:sp>
      <p:sp>
        <p:nvSpPr>
          <p:cNvPr id="6" name="Text 4"/>
          <p:cNvSpPr txBox="1"/>
          <p:nvPr/>
        </p:nvSpPr>
        <p:spPr>
          <a:xfrm>
            <a:off x="640080" y="3154680"/>
            <a:ext cx="640080" cy="640080"/>
          </a:xfrm>
          <a:prstGeom prst="rect">
            <a:avLst/>
          </a:prstGeom>
          <a:noFill/>
          <a:ln/>
        </p:spPr>
        <p:txBody>
          <a:bodyPr wrap="square" lIns="0" tIns="0" rIns="0" bIns="0" rtlCol="0" anchor="t"/>
          <a:lstStyle/>
          <a:p>
            <a:pPr marL="0" indent="0">
              <a:buNone/>
            </a:pPr>
            <a:r>
              <a:rPr lang="en-US" sz="3000" b="1" dirty="0">
                <a:solidFill>
                  <a:srgbClr val="F2A541"/>
                </a:solidFill>
                <a:latin typeface="Cambria" pitchFamily="34" charset="0"/>
                <a:ea typeface="Cambria" pitchFamily="34" charset="-122"/>
                <a:cs typeface="Cambria" pitchFamily="34" charset="-120"/>
              </a:rPr>
              <a:t>2</a:t>
            </a:r>
            <a:endParaRPr lang="en-US" sz="3000" dirty="0"/>
          </a:p>
        </p:txBody>
      </p:sp>
      <p:sp>
        <p:nvSpPr>
          <p:cNvPr id="7" name="Text 5"/>
          <p:cNvSpPr txBox="1"/>
          <p:nvPr/>
        </p:nvSpPr>
        <p:spPr>
          <a:xfrm>
            <a:off x="1325880" y="3154680"/>
            <a:ext cx="4846320" cy="41148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Data lake</a:t>
            </a:r>
            <a:endParaRPr lang="en-US" sz="2000" dirty="0"/>
          </a:p>
        </p:txBody>
      </p:sp>
      <p:sp>
        <p:nvSpPr>
          <p:cNvPr id="8" name="Text 6"/>
          <p:cNvSpPr txBox="1"/>
          <p:nvPr/>
        </p:nvSpPr>
        <p:spPr>
          <a:xfrm>
            <a:off x="1325880" y="3593592"/>
            <a:ext cx="4846320" cy="868680"/>
          </a:xfrm>
          <a:prstGeom prst="rect">
            <a:avLst/>
          </a:prstGeom>
          <a:noFill/>
          <a:ln/>
        </p:spPr>
        <p:txBody>
          <a:bodyPr wrap="square" lIns="0" tIns="0" rIns="0" bIns="0" rtlCol="0" anchor="t"/>
          <a:lstStyle/>
          <a:p>
            <a:pPr marL="0" indent="0">
              <a:buNone/>
            </a:pPr>
            <a:r>
              <a:rPr lang="en-US" sz="1500" dirty="0">
                <a:solidFill>
                  <a:srgbClr val="DCEBF0"/>
                </a:solidFill>
                <a:latin typeface="Calibri" pitchFamily="34" charset="0"/>
                <a:ea typeface="Calibri" pitchFamily="34" charset="-122"/>
                <a:cs typeface="Calibri" pitchFamily="34" charset="-120"/>
              </a:rPr>
              <a:t>Stocke tout à faible coût, mais sans transactions ni garantie de qualité.</a:t>
            </a:r>
            <a:endParaRPr lang="en-US" sz="1500" dirty="0"/>
          </a:p>
        </p:txBody>
      </p:sp>
      <p:sp>
        <p:nvSpPr>
          <p:cNvPr id="9" name="Text 7"/>
          <p:cNvSpPr txBox="1"/>
          <p:nvPr/>
        </p:nvSpPr>
        <p:spPr>
          <a:xfrm>
            <a:off x="640080" y="4617720"/>
            <a:ext cx="640080" cy="640080"/>
          </a:xfrm>
          <a:prstGeom prst="rect">
            <a:avLst/>
          </a:prstGeom>
          <a:noFill/>
          <a:ln/>
        </p:spPr>
        <p:txBody>
          <a:bodyPr wrap="square" lIns="0" tIns="0" rIns="0" bIns="0" rtlCol="0" anchor="t"/>
          <a:lstStyle/>
          <a:p>
            <a:pPr marL="0" indent="0">
              <a:buNone/>
            </a:pPr>
            <a:r>
              <a:rPr lang="en-US" sz="3000" b="1" dirty="0">
                <a:solidFill>
                  <a:srgbClr val="F2A541"/>
                </a:solidFill>
                <a:latin typeface="Cambria" pitchFamily="34" charset="0"/>
                <a:ea typeface="Cambria" pitchFamily="34" charset="-122"/>
                <a:cs typeface="Cambria" pitchFamily="34" charset="-120"/>
              </a:rPr>
              <a:t>3</a:t>
            </a:r>
            <a:endParaRPr lang="en-US" sz="3000" dirty="0"/>
          </a:p>
        </p:txBody>
      </p:sp>
      <p:sp>
        <p:nvSpPr>
          <p:cNvPr id="10" name="Text 8"/>
          <p:cNvSpPr txBox="1"/>
          <p:nvPr/>
        </p:nvSpPr>
        <p:spPr>
          <a:xfrm>
            <a:off x="1325880" y="4617720"/>
            <a:ext cx="4846320" cy="41148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Data lakehouse</a:t>
            </a:r>
            <a:endParaRPr lang="en-US" sz="2000" dirty="0"/>
          </a:p>
        </p:txBody>
      </p:sp>
      <p:sp>
        <p:nvSpPr>
          <p:cNvPr id="11" name="Text 9"/>
          <p:cNvSpPr txBox="1"/>
          <p:nvPr/>
        </p:nvSpPr>
        <p:spPr>
          <a:xfrm>
            <a:off x="1325880" y="5056632"/>
            <a:ext cx="4846320" cy="868680"/>
          </a:xfrm>
          <a:prstGeom prst="rect">
            <a:avLst/>
          </a:prstGeom>
          <a:noFill/>
          <a:ln/>
        </p:spPr>
        <p:txBody>
          <a:bodyPr wrap="square" lIns="0" tIns="0" rIns="0" bIns="0" rtlCol="0" anchor="t"/>
          <a:lstStyle/>
          <a:p>
            <a:pPr marL="0" indent="0">
              <a:buNone/>
            </a:pPr>
            <a:r>
              <a:rPr lang="en-US" sz="1500" dirty="0">
                <a:solidFill>
                  <a:srgbClr val="DCEBF0"/>
                </a:solidFill>
                <a:latin typeface="Calibri" pitchFamily="34" charset="0"/>
                <a:ea typeface="Calibri" pitchFamily="34" charset="-122"/>
                <a:cs typeface="Calibri" pitchFamily="34" charset="-120"/>
              </a:rPr>
              <a:t>Ajoute transactions, schéma et performance au stockage ouvert du lake : une seule plateforme pour la BI et l'IA.</a:t>
            </a:r>
            <a:endParaRPr lang="en-US" sz="1500" dirty="0"/>
          </a:p>
        </p:txBody>
      </p:sp>
      <p:sp>
        <p:nvSpPr>
          <p:cNvPr id="12" name="Shape 10"/>
          <p:cNvSpPr/>
          <p:nvPr/>
        </p:nvSpPr>
        <p:spPr>
          <a:xfrm>
            <a:off x="6675120" y="1691640"/>
            <a:ext cx="4937760" cy="3017520"/>
          </a:xfrm>
          <a:prstGeom prst="roundRect">
            <a:avLst>
              <a:gd name="adj" fmla="val 3636"/>
            </a:avLst>
          </a:prstGeom>
          <a:solidFill>
            <a:srgbClr val="FFFFFF"/>
          </a:solidFill>
          <a:ln w="9525">
            <a:solidFill>
              <a:srgbClr val="E2E8F0"/>
            </a:solidFill>
            <a:prstDash val="solid"/>
          </a:ln>
          <a:effectLst>
            <a:outerShdw blurRad="101600" dist="25400" dir="5400000" algn="bl" rotWithShape="0">
              <a:srgbClr val="000000">
                <a:alpha val="15000"/>
              </a:srgbClr>
            </a:outerShdw>
          </a:effectLst>
        </p:spPr>
      </p:sp>
      <p:pic>
        <p:nvPicPr>
          <p:cNvPr id="13" name="Image 0" descr="/home/claude/deck/img/hex.png"/>
          <p:cNvPicPr>
            <a:picLocks noChangeAspect="1"/>
          </p:cNvPicPr>
          <p:nvPr/>
        </p:nvPicPr>
        <p:blipFill>
          <a:blip r:embed="rId3"/>
          <a:stretch>
            <a:fillRect/>
          </a:stretch>
        </p:blipFill>
        <p:spPr>
          <a:xfrm>
            <a:off x="6784848" y="1895511"/>
            <a:ext cx="4718304" cy="2609778"/>
          </a:xfrm>
          <a:prstGeom prst="rect">
            <a:avLst/>
          </a:prstGeom>
        </p:spPr>
      </p:pic>
      <p:sp>
        <p:nvSpPr>
          <p:cNvPr id="14" name="Text 11"/>
          <p:cNvSpPr txBox="1"/>
          <p:nvPr/>
        </p:nvSpPr>
        <p:spPr>
          <a:xfrm>
            <a:off x="6675120" y="4983480"/>
            <a:ext cx="4937760" cy="731520"/>
          </a:xfrm>
          <a:prstGeom prst="rect">
            <a:avLst/>
          </a:prstGeom>
          <a:noFill/>
          <a:ln/>
        </p:spPr>
        <p:txBody>
          <a:bodyPr wrap="square" lIns="0" tIns="0" rIns="0" bIns="0" rtlCol="0" anchor="t"/>
          <a:lstStyle/>
          <a:p>
            <a:pPr marL="0" indent="0">
              <a:buNone/>
            </a:pPr>
            <a:r>
              <a:rPr lang="en-US" sz="1500" i="1" dirty="0">
                <a:solidFill>
                  <a:srgbClr val="F2A541"/>
                </a:solidFill>
                <a:latin typeface="Calibri" pitchFamily="34" charset="0"/>
                <a:ea typeface="Calibri" pitchFamily="34" charset="-122"/>
                <a:cs typeface="Calibri" pitchFamily="34" charset="-120"/>
              </a:rPr>
              <a:t>Prochaine étape : les travaux pratiques avec DuckDB et Delta Lake.</a:t>
            </a:r>
            <a:endParaRPr lang="en-US" sz="15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TotalTime>
  <Words>2290</Words>
  <Application>Microsoft Office PowerPoint</Application>
  <PresentationFormat>Grand écran</PresentationFormat>
  <Paragraphs>350</Paragraphs>
  <Slides>24</Slides>
  <Notes>24</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24</vt:i4>
      </vt:variant>
    </vt:vector>
  </HeadingPairs>
  <TitlesOfParts>
    <vt:vector size="28" baseType="lpstr">
      <vt:lpstr>Arial</vt:lpstr>
      <vt:lpstr>Calibri</vt:lpstr>
      <vt:lpstr>Cambria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Warehouse, Data Lake et Data Lakehouse</dc:title>
  <dc:subject>PptxGenJS Presentation</dc:subject>
  <dc:creator>PptxGenJS</dc:creator>
  <cp:lastModifiedBy>Chmengui</cp:lastModifiedBy>
  <cp:revision>3</cp:revision>
  <dcterms:created xsi:type="dcterms:W3CDTF">2026-10-02T19:35:07Z</dcterms:created>
  <dcterms:modified xsi:type="dcterms:W3CDTF">2026-10-02T21:01:47Z</dcterms:modified>
</cp:coreProperties>
</file>