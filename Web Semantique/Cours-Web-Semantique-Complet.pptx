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9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6" r:id="rId28"/>
    <p:sldId id="297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282" r:id="rId66"/>
    <p:sldId id="283" r:id="rId67"/>
    <p:sldId id="284" r:id="rId68"/>
    <p:sldId id="285" r:id="rId69"/>
    <p:sldId id="286" r:id="rId70"/>
    <p:sldId id="287" r:id="rId71"/>
    <p:sldId id="288" r:id="rId72"/>
    <p:sldId id="289" r:id="rId73"/>
    <p:sldId id="290" r:id="rId74"/>
    <p:sldId id="335" r:id="rId7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60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"/>
            <a:ext cx="914" cy="219456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692640" y="1463040"/>
            <a:ext cx="2084832" cy="54864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692640" y="2011680"/>
            <a:ext cx="1426464" cy="1865376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66176" y="2011680"/>
            <a:ext cx="1426464" cy="1865376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607808" y="1463040"/>
            <a:ext cx="2084832" cy="54864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92640" y="-182880"/>
            <a:ext cx="2084832" cy="164592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19104" y="1463040"/>
            <a:ext cx="658368" cy="2414016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66176" y="3877056"/>
            <a:ext cx="2852928" cy="91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607808" y="1463040"/>
            <a:ext cx="658368" cy="2414016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607808" y="-182880"/>
            <a:ext cx="2084832" cy="164592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451238" y="-424282"/>
            <a:ext cx="482803" cy="4828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612880" y="129844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921594" y="3679546"/>
            <a:ext cx="395021" cy="39502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101584" y="371246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410298" y="1265530"/>
            <a:ext cx="395021" cy="39502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407347" y="1726387"/>
            <a:ext cx="570586" cy="570586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554480" y="4937760"/>
            <a:ext cx="914" cy="6858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554480" y="5452110"/>
            <a:ext cx="651510" cy="17145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554480" y="5623560"/>
            <a:ext cx="445770" cy="58293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08710" y="5623560"/>
            <a:ext cx="445770" cy="58293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02970" y="5452110"/>
            <a:ext cx="651510" cy="17145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554480" y="4937760"/>
            <a:ext cx="651510" cy="51435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000250" y="5452110"/>
            <a:ext cx="205740" cy="75438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08710" y="6206490"/>
            <a:ext cx="891540" cy="914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02970" y="5452110"/>
            <a:ext cx="205740" cy="75438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02970" y="4937760"/>
            <a:ext cx="651510" cy="51435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479042" y="4862322"/>
            <a:ext cx="150876" cy="1508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154555" y="5400675"/>
            <a:ext cx="102870" cy="10287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938528" y="6144768"/>
            <a:ext cx="123444" cy="1234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57275" y="6155055"/>
            <a:ext cx="102870" cy="10287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41248" y="5390388"/>
            <a:ext cx="123444" cy="1234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465326" y="5534406"/>
            <a:ext cx="178308" cy="17830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296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— WEB SÉMANTIQUE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26060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au Web Sémantique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822960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année Mastère Professionnel en Système d'Information Décisionnel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22960" y="4297680"/>
            <a:ext cx="27432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Chmengui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 COURS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0881360" cy="1005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" y="1819655"/>
            <a:ext cx="566928" cy="566928"/>
          </a:xfrm>
          <a:prstGeom prst="ellipse">
            <a:avLst/>
          </a:prstGeom>
          <a:solidFill>
            <a:srgbClr val="2E5F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81965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600200" y="1746503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Web au XML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0" y="1746503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Historique, HTML, SGML, XML, et les technologies satellites (DTD, XSL, DOM, SAX).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0881360" cy="1005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77240" y="3008375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3008375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12" dirty="0"/>
          </a:p>
        </p:txBody>
      </p:sp>
      <p:sp>
        <p:nvSpPr>
          <p:cNvPr id="15" name="Text 13"/>
          <p:cNvSpPr/>
          <p:nvPr/>
        </p:nvSpPr>
        <p:spPr>
          <a:xfrm>
            <a:off x="1600200" y="2935223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limites du Web actuel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852160" y="2935223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Web « syntaxique » ne suffit plus aux machines : vers le Web sémantique.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39"/>
            <a:ext cx="10881360" cy="10058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77240" y="4197096"/>
            <a:ext cx="566928" cy="566928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77240" y="4197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12" dirty="0"/>
          </a:p>
        </p:txBody>
      </p:sp>
      <p:sp>
        <p:nvSpPr>
          <p:cNvPr id="25" name="Text 23"/>
          <p:cNvSpPr/>
          <p:nvPr/>
        </p:nvSpPr>
        <p:spPr>
          <a:xfrm>
            <a:off x="1600200" y="4123944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 Partie II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852160" y="412394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RDF, RDF/XML, RDFS en détail, avec les URI, l'exemple Dublin Core, le graphe RDFS et OWL.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45720"/>
            <a:ext cx="914" cy="141732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149840" y="1017270"/>
            <a:ext cx="1346454" cy="35433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149840" y="1371600"/>
            <a:ext cx="921258" cy="120472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228582" y="1371600"/>
            <a:ext cx="921258" cy="120472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803386" y="1017270"/>
            <a:ext cx="1346454" cy="35433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49840" y="-45720"/>
            <a:ext cx="1346454" cy="106299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71098" y="1017270"/>
            <a:ext cx="425196" cy="155905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28582" y="2576322"/>
            <a:ext cx="1842516" cy="91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803386" y="1017270"/>
            <a:ext cx="425196" cy="155905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803386" y="-45720"/>
            <a:ext cx="1346454" cy="106299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993935" y="-201625"/>
            <a:ext cx="311810" cy="3118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389995" y="910971"/>
            <a:ext cx="212598" cy="2125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943539" y="2448763"/>
            <a:ext cx="255118" cy="2551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122283" y="2470023"/>
            <a:ext cx="212598" cy="2125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675827" y="889711"/>
            <a:ext cx="255118" cy="2551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965588" y="1187348"/>
            <a:ext cx="368503" cy="368503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1384280" y="5715000"/>
            <a:ext cx="914" cy="4572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1384280" y="6057900"/>
            <a:ext cx="434340" cy="1143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1384280" y="6172200"/>
            <a:ext cx="297180" cy="3886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087100" y="6172200"/>
            <a:ext cx="297180" cy="3886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949940" y="6057900"/>
            <a:ext cx="434340" cy="1143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1384280" y="5715000"/>
            <a:ext cx="434340" cy="3429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1681460" y="6057900"/>
            <a:ext cx="137160" cy="5029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087100" y="6560820"/>
            <a:ext cx="594360" cy="914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949940" y="6057900"/>
            <a:ext cx="137160" cy="5029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949940" y="5715000"/>
            <a:ext cx="434340" cy="3429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333988" y="5664708"/>
            <a:ext cx="100584" cy="1005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1784330" y="6023610"/>
            <a:ext cx="68580" cy="685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1640312" y="6519672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1052810" y="6526530"/>
            <a:ext cx="68580" cy="685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908792" y="6016752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1324844" y="6112764"/>
            <a:ext cx="118872" cy="11887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296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32004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Web au XML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2296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l'hypertexte aux langages de balisage structurés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HISTORIQUE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: du Web 1.0 au Web 3.0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240280"/>
            <a:ext cx="9966960" cy="0"/>
          </a:xfrm>
          <a:prstGeom prst="line">
            <a:avLst/>
          </a:prstGeom>
          <a:noFill/>
          <a:ln w="381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45920" y="2057400"/>
            <a:ext cx="365760" cy="365760"/>
          </a:xfrm>
          <a:prstGeom prst="ellipse">
            <a:avLst/>
          </a:prstGeom>
          <a:solidFill>
            <a:srgbClr val="5B65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1.0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2468880" cy="30175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94360" y="2743200"/>
            <a:ext cx="2468880" cy="64008"/>
          </a:xfrm>
          <a:prstGeom prst="rect">
            <a:avLst/>
          </a:prstGeom>
          <a:solidFill>
            <a:srgbClr val="5B6577"/>
          </a:solidFill>
          <a:ln w="12700">
            <a:solidFill>
              <a:srgbClr val="5B65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statique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HTML (texte, liens, images) publiées par les entreprises, consultées via http. Sites rarement mis à jour.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34840" y="2057400"/>
            <a:ext cx="365760" cy="365760"/>
          </a:xfrm>
          <a:prstGeom prst="ellipse">
            <a:avLst/>
          </a:prstGeom>
          <a:solidFill>
            <a:srgbClr val="2E5F8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38328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1.5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383280" y="2743200"/>
            <a:ext cx="2468880" cy="30175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2468880" cy="640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56616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dynamique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66160" y="34290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(PHP, JavaScript) + bases de données : pages dynamiques, apparition des forums.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223760" y="2057400"/>
            <a:ext cx="365760" cy="36576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7220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2.0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172200" y="2743200"/>
            <a:ext cx="2468880" cy="30175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246888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35508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participatif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5080" y="34290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internautes produisent le contenu : « consomm'acteur ». Phénomène plus sociologique que technique.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012680" y="2057400"/>
            <a:ext cx="365760" cy="365760"/>
          </a:xfrm>
          <a:prstGeom prst="ellipse">
            <a:avLst/>
          </a:prstGeom>
          <a:solidFill>
            <a:srgbClr val="F2A54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961120" y="1463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3.0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961120" y="2743200"/>
            <a:ext cx="2468880" cy="30175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961120" y="2743200"/>
            <a:ext cx="246888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144000" y="34290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connaissances sont formalisées pour être interprétées par les machines (métadonnées).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4360" y="5943600"/>
            <a:ext cx="11018520" cy="45720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94360" y="5943600"/>
            <a:ext cx="82296" cy="4572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50392" y="594360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2.0 correspond au Web tel qu'imaginé par Tim Berners-Lee : chacun peut publier et consommer de l'information.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4846320"/>
            <a:ext cx="2148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B5731A"/>
                </a:solidFill>
                <a:latin typeface="Calibri"/>
              </a:rPr>
              <a:t>Repères</a:t>
            </a:r>
          </a:p>
          <a:p>
            <a:r>
              <a:rPr sz="1100" b="0">
                <a:solidFill>
                  <a:srgbClr val="1F2937"/>
                </a:solidFill>
                <a:latin typeface="Calibri"/>
              </a:rPr>
              <a:t>1969 · ARPANET</a:t>
            </a:r>
          </a:p>
          <a:p>
            <a:r>
              <a:rPr sz="1100" b="0">
                <a:solidFill>
                  <a:srgbClr val="1F2937"/>
                </a:solidFill>
                <a:latin typeface="Calibri"/>
              </a:rPr>
              <a:t>1990 · premier navigateur Web</a:t>
            </a:r>
          </a:p>
          <a:p>
            <a:r>
              <a:rPr sz="1100" b="0">
                <a:solidFill>
                  <a:srgbClr val="1F2937"/>
                </a:solidFill>
                <a:latin typeface="Calibri"/>
              </a:rPr>
              <a:t>1994 · création du W3C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LE WEB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…HTML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traditionnel repose sur l'hypertexte : on a donc écrit le langage HTML (HyperText Markup Language).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 été conçu comme un langage spécifiant le contenu d'un document, avec d'importantes extensions d'hypertexte.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n'est pas conçu pour être un langage de traitement de texte WYSIWYG (comme Word) : un même document HTML peut être affiché par des navigateurs très différents.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HTML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HTML… notions et règles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76479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base du Web : un langage à balises permettant la présentation de documents et des liens simples entre documents.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HTML ont une marque de début et une marque de fin (certaines marques de fin sont facultatives).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HTML utilisent les caractères &lt; et &gt; comme délimiteurs.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15137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&lt;TITLE&gt;Cette commande donne un titre au document HTML&lt;/TITLE&gt;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8737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47823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commandes HTML peuvent être écrites en minuscules ou en majuscules.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50468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4132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rédigé en HTML doit être suffixé par .html ou .htm.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HTML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HTML… les en-têtes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 &lt;/HTML&gt;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1783080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de début et de fin du document HTML.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24780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 &lt;/HEAD&gt;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94760" y="2478024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non affichées concernant le document.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72968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 &lt;/TITLE&gt;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3172968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du document — apparaît dans la barre de titre du client WWW.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38679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...&gt;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3867912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Situées dans l'en-tête, ces commandes guident les moteurs de recherche pour indexer la page.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45628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 &lt;/BODY&gt;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4562856"/>
            <a:ext cx="7452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du document — toutes les informations affichées y sont contenues.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 insérer des commentaires : &lt;!-- Commentaires --&gt;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HTML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HTML… exemple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0881360" cy="2551176"/>
          </a:xfrm>
          <a:prstGeom prst="roundRect">
            <a:avLst>
              <a:gd name="adj" fmla="val 2867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1036929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&lt;TITLE&gt;Exemple de structure de document HTML&lt;/TITLE&gt;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NAME="Author" CONTENT="Cours HTML"&gt;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&lt;BASE HREF="/usr/home/chezmoi"&gt;&lt;/BASE&gt;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 ... Le document HTML ... &lt;/BODY&gt;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HTML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HTML…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laisse l'interprétation des éléments marqués au navigateur, ce qui donne une interprétation différente suivant le navigateur utilisé. Mais chacun y a ajouté des extensions propriétaires (ex. les « frames » de Netscape), si bien qu'on est arrivé à une foison de balises spécifiant l'apparence — au point de noyer le contenu 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SGML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…SGML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ce problème de séparation contenu/forme, on a développé un langage structuré : SGML (Standard Generalized Markup Language).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7121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SGML a été conçu comme un langage spécifiant le contenu d'un document, avec d'importantes extensions d'hypertexte — mais sans en spécifier la forme à l'origine.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SGML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SGML… notions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 d'un besoin élémentaire : rendre le stockage de données indépendant de tout fournisseur de logiciels.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679192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balises prédéfinies comme dans HTML : le développeur peut créer ses propres balises.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328416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DTD (Document Type Definition) est au cœur d'une application SGML 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3950208"/>
            <a:ext cx="64008" cy="6400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88720" y="38862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 définissant l'imbrication des éléments d'un document (obligatoires, optionnels, répétitifs…), avec deux types de données de base (#PCDATA).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76402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469087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Introduit la notion de document valide (conforme à la DTD), contrairement à HTML qui ne fait que vérifier la syntaxe des balises (document « bien formé »).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66013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58698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trop de fonctions (méta-langage permettant par exemple de définir les caractères de balisage) avec une syntaxe complexe.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SGML… → XML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SGML a été très utilisé pour le traitement de la documentation technique dans l'industrie (aviation, automobile, etc). Mais c'est un langage complexe — on a donc développé un nouveau langage : XML.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de départ de XML était de créer un langage ayant 80% de l'expressivité de SGML et 20% de sa complexité.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XML… notions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(eXtensible Markup Language) permet de générer des langages de balises pour structurer données et documents — il dérive de SGML, mais avec des règles moins strictes.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HTML, XML hérite l'utilisation des adresses Web (URL) pour pointer vers d'autres objets.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31927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SGML, il hérite des mécanismes d'adressage puissants, permettant par exemple de pointer vers des parties ou des plages de documents.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8853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197096"/>
            <a:ext cx="10332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est fondé sur Unicode, qui gère aussi bien les caractères accentués que les caractères asiatiques — contrairement à HTML et SGML, fortement liés à l'ASCII. C'est la clé de l'internationalisation.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XML… exemple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0881360" cy="4087368"/>
          </a:xfrm>
          <a:prstGeom prst="roundRect">
            <a:avLst>
              <a:gd name="adj" fmla="val 1790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1036929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&lt;catalogue&gt;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&lt;roller&gt;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&lt;marque&gt;RollerBlade&lt;/marque&gt;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&lt;modele&gt;Coyote&lt;/modele&gt;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&lt;/roller&gt;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&lt;roller&gt;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&lt;marque&gt;Mission&lt;/marque&gt;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&lt;modele&gt;RL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&lt;type&gt;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&lt;roulement&gt;ABEC3608&lt;/roulement&gt;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&lt;/type&gt;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&lt;/modele&gt;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&lt;/roller&gt;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&lt;/catalogue&gt;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DTD… exemple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0881360" cy="3319272"/>
          </a:xfrm>
          <a:prstGeom prst="roundRect">
            <a:avLst>
              <a:gd name="adj" fmla="val 2204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1036929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biblio[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&lt;!ELEMENT biblio (livre)*&gt;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&lt;!ELEMENT livre (titre, auteur, nb_pages)&gt;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&lt;!ATTLIST livre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(roman | nouvelles | poemes | theatre) #IMPLIED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 CDATA "fr"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&lt;!ELEMENT titre (#PCDATA)&gt;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&lt;!ELEMENT auteur (#PCDATA)&gt;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&lt;!ELEMENT nb_pages (#PCDATA)&gt;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]&gt;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XML… avantages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logique de type arborescent, semblable à HTML mais dénuée de toute information de présentation.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Représenté sous forme de fichier texte : un simple éditeur de texte permet son débogage.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31927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d'échange très pratique entre plates-formes différentes : format de stockage générique, déclinable dans des formats et types d'édition différents, et format d'échange à part entière.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XML… limites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créé est « bavard ». Cependant, l'espace disque étant de moins en moins coûteux et les méthodes de compression de plus en plus efficaces, cela ne représente pas un vrai problème : la répétition d'un tag (balise ouvrante / balise fermante) est justement le genre de redondance qui disparaît bien à la compression.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ÉCOSYSTÈME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Autour d'XML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existe un grand nombre d'autres recommandations et extensions autour d'XML 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213055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 Definition — décrit la grammaire d'un document XML (voir slide précédente).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299923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langage (non XML) pour localiser une portion d'un document XML.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XPointer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386791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du W3C permettant de désigner un fragment de document XML en ligne. Utilise la syntaxe XPath, enrichie d'options pour désigner des portions de document (range).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XLink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86000" y="473659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Spécification du W3C permettant de créer des liens entre fichiers XML ou portions de fichiers (via XPointer). Contrairement aux liens HTML, XLink permet de relier plus de deux fichiers.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ÉCOSYSTÈME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Autour d'XML — XSL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 (eXtensible Stylesheet Language) est le langage de description de feuilles de style du W3C associé à XML. Sa spécification est divisée en trois parties : XSLT (transformation), XPath (navigation) et XSL-FO (mise en forme).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2286000" cy="2331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5B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flipH="1">
            <a:off x="1517904" y="3163824"/>
            <a:ext cx="356616" cy="146304"/>
          </a:xfrm>
          <a:prstGeom prst="line">
            <a:avLst/>
          </a:prstGeom>
          <a:noFill/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874520" y="3163824"/>
            <a:ext cx="219456" cy="146304"/>
          </a:xfrm>
          <a:prstGeom prst="line">
            <a:avLst/>
          </a:prstGeom>
          <a:noFill/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 flipH="1">
            <a:off x="1316736" y="3456432"/>
            <a:ext cx="201168" cy="146304"/>
          </a:xfrm>
          <a:prstGeom prst="line">
            <a:avLst/>
          </a:prstGeom>
          <a:noFill/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517904" y="3456432"/>
            <a:ext cx="210312" cy="146304"/>
          </a:xfrm>
          <a:prstGeom prst="line">
            <a:avLst/>
          </a:prstGeom>
          <a:noFill/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645920" y="3017520"/>
            <a:ext cx="4572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325880" y="3310128"/>
            <a:ext cx="384048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901952" y="3310128"/>
            <a:ext cx="384048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143000" y="3602736"/>
            <a:ext cx="347472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554480" y="3602736"/>
            <a:ext cx="347472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XML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2697480"/>
            <a:ext cx="2286000" cy="2331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5B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 flipH="1">
            <a:off x="5724144" y="3163824"/>
            <a:ext cx="356616" cy="146304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080760" y="3163824"/>
            <a:ext cx="219456" cy="146304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 flipH="1">
            <a:off x="5522976" y="3456432"/>
            <a:ext cx="201168" cy="146304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724144" y="3456432"/>
            <a:ext cx="210312" cy="146304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852160" y="3017520"/>
            <a:ext cx="457200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532120" y="3310128"/>
            <a:ext cx="384048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108192" y="3310128"/>
            <a:ext cx="384048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349240" y="3602736"/>
            <a:ext cx="347472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760720" y="3602736"/>
            <a:ext cx="347472" cy="146304"/>
          </a:xfrm>
          <a:prstGeom prst="rect">
            <a:avLst/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93776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XSL-FO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0" y="2697480"/>
            <a:ext cx="2286000" cy="23317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5B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555480" y="2898648"/>
            <a:ext cx="1463040" cy="263347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555480" y="3260750"/>
            <a:ext cx="658368" cy="1020470"/>
          </a:xfrm>
          <a:prstGeom prst="rect">
            <a:avLst/>
          </a:prstGeom>
          <a:solidFill>
            <a:srgbClr val="D7E0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316261" y="3260750"/>
            <a:ext cx="702259" cy="460858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316261" y="3803904"/>
            <a:ext cx="702259" cy="477317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144000" y="4645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mise en forme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63240" y="3863340"/>
            <a:ext cx="1828800" cy="914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3017520" y="33604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(XSLT / XPath)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69480" y="3863340"/>
            <a:ext cx="1828800" cy="914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7223760" y="33604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(Formatting)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ÉCOSYSTÈME XML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Autour d'XML — DOM &amp; SAX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2E5F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257800" cy="365760"/>
          </a:xfrm>
          <a:prstGeom prst="rect">
            <a:avLst/>
          </a:prstGeom>
          <a:solidFill>
            <a:srgbClr val="2E5F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926080"/>
            <a:ext cx="47457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 un objet en mémoire de la totalité d'un document XML. Cette API permet l'accès direct à tous les nœuds de l'arbre (éléments, texte, attributs), pour les lire ou les modifier.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172200" y="19202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257800" cy="3657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API for XML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28232" y="2926080"/>
            <a:ext cx="47457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intéressante à DOM pour le traitement de documents longs : capture des événements (ouverture/fermeture de balise) au fil de la lecture, sans charger tout le document en mémoire.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45720"/>
            <a:ext cx="914" cy="141732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149840" y="1017270"/>
            <a:ext cx="1346454" cy="35433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149840" y="1371600"/>
            <a:ext cx="921258" cy="120472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228582" y="1371600"/>
            <a:ext cx="921258" cy="120472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803386" y="1017270"/>
            <a:ext cx="1346454" cy="35433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49840" y="-45720"/>
            <a:ext cx="1346454" cy="106299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71098" y="1017270"/>
            <a:ext cx="425196" cy="155905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28582" y="2576322"/>
            <a:ext cx="1842516" cy="91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803386" y="1017270"/>
            <a:ext cx="425196" cy="155905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803386" y="-45720"/>
            <a:ext cx="1346454" cy="106299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993935" y="-201625"/>
            <a:ext cx="311810" cy="3118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389995" y="910971"/>
            <a:ext cx="212598" cy="2125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943539" y="2448763"/>
            <a:ext cx="255118" cy="2551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122283" y="2470023"/>
            <a:ext cx="212598" cy="2125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675827" y="889711"/>
            <a:ext cx="255118" cy="2551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965588" y="1187348"/>
            <a:ext cx="368503" cy="368503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1384280" y="5715000"/>
            <a:ext cx="914" cy="4572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1384280" y="6057900"/>
            <a:ext cx="434340" cy="1143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1384280" y="6172200"/>
            <a:ext cx="297180" cy="3886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087100" y="6172200"/>
            <a:ext cx="297180" cy="3886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949940" y="6057900"/>
            <a:ext cx="434340" cy="1143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1384280" y="5715000"/>
            <a:ext cx="434340" cy="3429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1681460" y="6057900"/>
            <a:ext cx="137160" cy="5029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087100" y="6560820"/>
            <a:ext cx="594360" cy="914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949940" y="6057900"/>
            <a:ext cx="137160" cy="5029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949940" y="5715000"/>
            <a:ext cx="434340" cy="3429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333988" y="5664708"/>
            <a:ext cx="100584" cy="1005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1784330" y="6023610"/>
            <a:ext cx="68580" cy="685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1640312" y="6519672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1052810" y="6526530"/>
            <a:ext cx="68580" cy="685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908792" y="6016752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1324844" y="6112764"/>
            <a:ext cx="118872" cy="11887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296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32004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limites du Web actuel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2296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structure syntaxique ne suffit pas aux machines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CONSTAT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Web syntaxique…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actuel est syntaxique : la structure des ressources est bien définie, mais le contenu reste quasi inaccessible aux machines. Seuls les humains peuvent l'interpréter.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EXEMPLE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textuelle : les limites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d'informations sur un livre dont le sujet est Kateb Yacine.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textuelle  </a:t>
            </a: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de recherche ne s'intéresse, par exemple, qu'aux termes « livre » et « Kateb Yacine ».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862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obtenu  </a:t>
            </a:r>
            <a:r>
              <a:rPr lang="en-US" sz="13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retournera les livres écrits PAR cet auteur — mais pas nécessairement les livres qui PARLENT de lui, ni ne distinguera son rôle exact.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EXEMPLE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L'ambiguïté du vocabulaire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257800" cy="1380744"/>
          </a:xfrm>
          <a:prstGeom prst="roundRect">
            <a:avLst>
              <a:gd name="adj" fmla="val 5298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892808"/>
            <a:ext cx="47457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&lt;musique genre="classique"&gt;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&lt;titre&gt;Eine Kleine Nacht Music&lt;/titre&gt;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&lt;compositeur&gt;Mozart&lt;/compositeur&gt;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&lt;/musique&gt;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257800" cy="1380744"/>
          </a:xfrm>
          <a:prstGeom prst="roundRect">
            <a:avLst>
              <a:gd name="adj" fmla="val 5298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245352" y="1892808"/>
            <a:ext cx="474573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&lt;musique genre="classique"&gt;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&lt;titre&gt;Un autre morceau de Mozart&lt;/titre&gt;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&lt;auteur&gt;Mozart&lt;/auteur&gt;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&lt;/musique&gt;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documents décrivent le même type d'information musicale — mais avec des balises différentes (« compositeur » vs « auteur »).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l'on veut récupérer l'ensemble des morceaux écrits par Mozart ?  </a:t>
            </a: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se mettre d'accord sur le sens des mots !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 un Web « intelligent 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actuel doit changer d'orientation : d'un Web présentable, qui se contente d'afficher les informations disponibles, à un Web « intelligent », permettant aux machines de mieux exploiter les informations !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274320"/>
            <a:ext cx="914" cy="100584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332720" y="1028700"/>
            <a:ext cx="955548" cy="25146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332720" y="1280160"/>
            <a:ext cx="653796" cy="85496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78924" y="1280160"/>
            <a:ext cx="653796" cy="85496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377172" y="1028700"/>
            <a:ext cx="955548" cy="25146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332720" y="274320"/>
            <a:ext cx="955548" cy="75438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986516" y="1028700"/>
            <a:ext cx="301752" cy="110642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678924" y="2135124"/>
            <a:ext cx="1307592" cy="91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377172" y="1028700"/>
            <a:ext cx="301752" cy="110642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377172" y="274320"/>
            <a:ext cx="955548" cy="75438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222078" y="163678"/>
            <a:ext cx="221285" cy="22128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212830" y="953262"/>
            <a:ext cx="150876" cy="1508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895990" y="2044598"/>
            <a:ext cx="181051" cy="18105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603486" y="2059686"/>
            <a:ext cx="150876" cy="15087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286646" y="938174"/>
            <a:ext cx="181051" cy="18105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0201961" y="1149401"/>
            <a:ext cx="261518" cy="26151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PERSPECTIVE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1945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The Semantic Web is an extension of the current web in which information is given well defined meaning, better enabling computers and people to work in cooperation. »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68680" y="4754880"/>
            <a:ext cx="10972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Tim Berners-Lee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326880" y="1188720"/>
            <a:ext cx="1737360" cy="822960"/>
          </a:xfrm>
          <a:prstGeom prst="line">
            <a:avLst/>
          </a:prstGeom>
          <a:noFill/>
          <a:ln w="19050">
            <a:solidFill>
              <a:srgbClr val="3C5A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 flipV="1">
            <a:off x="10058400" y="2011680"/>
            <a:ext cx="1005840" cy="1280160"/>
          </a:xfrm>
          <a:prstGeom prst="line">
            <a:avLst/>
          </a:prstGeom>
          <a:noFill/>
          <a:ln w="19050">
            <a:solidFill>
              <a:srgbClr val="3C5A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1554480" cy="640080"/>
          </a:xfrm>
          <a:prstGeom prst="line">
            <a:avLst/>
          </a:prstGeom>
          <a:noFill/>
          <a:ln w="19050">
            <a:solidFill>
              <a:srgbClr val="3C5A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flipV="1">
            <a:off x="8503920" y="1188720"/>
            <a:ext cx="822960" cy="1463040"/>
          </a:xfrm>
          <a:prstGeom prst="line">
            <a:avLst/>
          </a:prstGeom>
          <a:noFill/>
          <a:ln w="19050">
            <a:solidFill>
              <a:srgbClr val="3C5A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0" y="3291840"/>
            <a:ext cx="1097280" cy="365760"/>
          </a:xfrm>
          <a:prstGeom prst="line">
            <a:avLst/>
          </a:prstGeom>
          <a:noFill/>
          <a:ln w="19050">
            <a:solidFill>
              <a:srgbClr val="3C5A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64240" y="2011680"/>
            <a:ext cx="91440" cy="1645920"/>
          </a:xfrm>
          <a:prstGeom prst="line">
            <a:avLst/>
          </a:prstGeom>
          <a:noFill/>
          <a:ln w="19050">
            <a:solidFill>
              <a:srgbClr val="3C5A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80576" y="1042416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917936" y="1865376"/>
            <a:ext cx="292608" cy="29260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912096" y="3145536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357616" y="2505456"/>
            <a:ext cx="292608" cy="29260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009376" y="3511296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· PARTIE II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Sémantique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RDF, syntaxe RDF/XML et RDF Schema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2960" y="3931920"/>
            <a:ext cx="45720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2ème année Mastère Professionnel en Ingénierie des Systèmes d'Informations Décisionnels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Enseignante</a:t>
            </a: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Safa Chmengui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du cours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11018520" cy="91440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86868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69164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Web sémantique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1945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Définition, objectifs, principes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11018520" cy="91440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94360" y="2788920"/>
            <a:ext cx="868680" cy="91440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78892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691640" y="2880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couches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3291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URI, XML, RDF, ontologie, logique, preuve, confiance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11018520" cy="91440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94360" y="3886200"/>
            <a:ext cx="868680" cy="914400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691640" y="3977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4389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triplets, graphe, syntaxe RDF/XML, conteneurs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4983480"/>
            <a:ext cx="11018520" cy="91440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94360" y="4983480"/>
            <a:ext cx="868680" cy="9144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594360" y="4983480"/>
            <a:ext cx="868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691640" y="5074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Schema (RDFS)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91640" y="5486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sous-classes, propriétés, domaine et co-domaine</a:t>
            </a:r>
            <a:endParaRPr lang="en-US" sz="1600" dirty="0"/>
          </a:p>
        </p:txBody>
      </p:sp>
      <p:sp>
        <p:nvSpPr>
          <p:cNvPr id="29" name="Oval 28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WEB SÉMANTIQUE 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: un Web conçu pour les humains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 du Web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simplicité, un simple navigateur suffit, peu de connaissances informatiques requises.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langage de présentation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il décrit l'affichage, pas le sens des données.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non interprétable par les machines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informations et services « cachés » dans le code HTML.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Web actuel limite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recherche, l'extraction, la maintenance et la génération d'information.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80960" y="1645920"/>
            <a:ext cx="3931920" cy="201168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86384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l'humain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21031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Misérables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Victor Hugo, 1862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680960" y="3840480"/>
            <a:ext cx="3931920" cy="20116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86384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la machine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42976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&lt;h1&gt;Les Misérables&lt;/h1&gt;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&lt;p&gt;Victor Hugo, 1862&lt;/p&gt;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du texte, sans sens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5760720"/>
            <a:ext cx="6675120" cy="54864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94360" y="5760720"/>
            <a:ext cx="82296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0392" y="5760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du Web sémantique : pallier ces limites en rendant le sens explicite.</a:t>
            </a:r>
            <a:endParaRPr lang="en-US" sz="1500" dirty="0"/>
          </a:p>
        </p:txBody>
      </p:sp>
      <p:sp>
        <p:nvSpPr>
          <p:cNvPr id="19" name="Oval 18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sémantique : définition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1101852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10469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Le Web sémantique n'est pas un Web distinct mais un prolongement du Web que l'on connaît, dans lequel on attribue à l'information une signification clairement définie, ce qui permet aux ordinateurs et aux humains de travailler en plus étroite collaboration. »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3566160" cy="26517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35661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639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 du Web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Connaissances formalisées à l'aide de langages interprétables par les machines, et non plus en langue naturelle.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15968" y="3474720"/>
            <a:ext cx="3566160" cy="26517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315968" y="3474720"/>
            <a:ext cx="35661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498848" y="3639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explicite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98848" y="411480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explicite le contenu sémantique des ressources (documents, pages, services) via des métadonnées.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566160" cy="26517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046720" y="3474720"/>
            <a:ext cx="35661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9600" y="3639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Humains + machines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4114800"/>
            <a:ext cx="3200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où humains et agents logiciels communiquent sur une base sémantique commune.</a:t>
            </a:r>
            <a:endParaRPr lang="en-US" sz="1800" dirty="0"/>
          </a:p>
        </p:txBody>
      </p:sp>
      <p:sp>
        <p:nvSpPr>
          <p:cNvPr id="23" name="Oval 2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et principes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permettant à des agents logiciels d'aider les utilisateurs dans l'accès aux ressources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le réseau d'hyperliens entre pages par un réseau de liens entre données structurées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tout le potentiel du Web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les machines réaliser seules les tâches fastidieuses : recherche, association d'informations, action sur le Web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0760" y="1645920"/>
            <a:ext cx="0" cy="448056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9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210312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ensemble de technologies rendant le contenu du Web exploitable par les programmes et agents logiciels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peuvent rechercher, filtrer et afficher l'information correspondant au besoin de l'utilisateur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d'une couche de modélisation des données → un Web des données :</a:t>
            </a:r>
            <a:endParaRPr lang="en-US" sz="1700" dirty="0"/>
          </a:p>
          <a:p>
            <a:pPr marL="457200" lvl="1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sur le Web</a:t>
            </a:r>
            <a:endParaRPr lang="en-US" sz="1700" dirty="0"/>
          </a:p>
          <a:p>
            <a:pPr marL="457200" lvl="1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machines y ont accès</a:t>
            </a:r>
            <a:endParaRPr lang="en-US" sz="1700" dirty="0"/>
          </a:p>
          <a:p>
            <a:pPr marL="457200" lvl="1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technologies pour l'intégration des données</a:t>
            </a:r>
            <a:endParaRPr lang="en-US" sz="1700" dirty="0"/>
          </a:p>
        </p:txBody>
      </p:sp>
      <p:sp>
        <p:nvSpPr>
          <p:cNvPr id="14" name="Oval 13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Web sémantique en couches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5394960"/>
            <a:ext cx="3493008" cy="585216"/>
          </a:xfrm>
          <a:prstGeom prst="rect">
            <a:avLst/>
          </a:prstGeom>
          <a:solidFill>
            <a:srgbClr val="E8912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5394960"/>
            <a:ext cx="3493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Unicode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0" y="5394960"/>
            <a:ext cx="3493008" cy="585216"/>
          </a:xfrm>
          <a:prstGeom prst="rect">
            <a:avLst/>
          </a:prstGeom>
          <a:solidFill>
            <a:srgbClr val="8A3B1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114800" y="5394960"/>
            <a:ext cx="3493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460388" y="4754880"/>
            <a:ext cx="6147420" cy="585216"/>
          </a:xfrm>
          <a:prstGeom prst="rect">
            <a:avLst/>
          </a:prstGeom>
          <a:solidFill>
            <a:srgbClr val="D938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460388" y="4754880"/>
            <a:ext cx="61474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+ NS + XML Schema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347539" y="4114800"/>
            <a:ext cx="4373118" cy="585216"/>
          </a:xfrm>
          <a:prstGeom prst="rect">
            <a:avLst/>
          </a:prstGeom>
          <a:solidFill>
            <a:srgbClr val="F2B70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347539" y="4114800"/>
            <a:ext cx="43731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+ RDF Schema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220608" y="3474720"/>
            <a:ext cx="3500049" cy="585216"/>
          </a:xfrm>
          <a:prstGeom prst="rect">
            <a:avLst/>
          </a:prstGeom>
          <a:solidFill>
            <a:srgbClr val="F7E3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220608" y="3474720"/>
            <a:ext cx="350004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Ontologie (vocabulaire)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107759" y="2834640"/>
            <a:ext cx="2612898" cy="585216"/>
          </a:xfrm>
          <a:prstGeom prst="rect">
            <a:avLst/>
          </a:prstGeom>
          <a:solidFill>
            <a:srgbClr val="8DB6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107759" y="2834640"/>
            <a:ext cx="261289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Logique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987869" y="2194560"/>
            <a:ext cx="1732788" cy="585216"/>
          </a:xfrm>
          <a:prstGeom prst="rect">
            <a:avLst/>
          </a:prstGeom>
          <a:solidFill>
            <a:srgbClr val="8FC4F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87869" y="2194560"/>
            <a:ext cx="17327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867979" y="1554480"/>
            <a:ext cx="1739829" cy="585216"/>
          </a:xfrm>
          <a:prstGeom prst="rect">
            <a:avLst/>
          </a:prstGeom>
          <a:solidFill>
            <a:srgbClr val="F6C9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867979" y="1554480"/>
            <a:ext cx="173982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Confiance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75521" y="2194560"/>
            <a:ext cx="832287" cy="2505456"/>
          </a:xfrm>
          <a:prstGeom prst="rect">
            <a:avLst/>
          </a:prstGeom>
          <a:solidFill>
            <a:srgbClr val="F3F4F6"/>
          </a:solidFill>
          <a:ln w="12700">
            <a:solidFill>
              <a:srgbClr val="5B65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 rot="16200000">
            <a:off x="5938937" y="3031145"/>
            <a:ext cx="2505456" cy="832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numérique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01000" y="160020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+ Unicode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identifier et coder les données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(+ espaces de noms, XML Schema)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structurer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+ RDF Schema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décrire le sens des données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Ontologie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vocabulaire commun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règles, déduction de nouveaux faits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valider les inférences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crédibilité des résultats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numérique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sécurise les couches RDF à preuve</a:t>
            </a:r>
            <a:endParaRPr lang="en-US" sz="1400" dirty="0"/>
          </a:p>
        </p:txBody>
      </p:sp>
      <p:sp>
        <p:nvSpPr>
          <p:cNvPr id="28" name="Oval 27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couches, une par une (1/2)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394960" cy="21031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URI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 codées par le standard Unicode et possèdent une adresse URI (Uniform Resource Identifier).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21031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XML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bien structurer les données, on utilise un langage de balises : XML (eXtensible Markup Language), avec espaces de noms (NS) et XML Schema.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5394960" cy="21945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53949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RDF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+ RDF Schema (Resource Description Framework) : organiser plus finement l'information du Web par une description sémantique des données.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217920" y="3931920"/>
            <a:ext cx="5394960" cy="21945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53949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ontologie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une sémantique et un vocabulaire communs aux données du Web, ce qui évite les conflits de partage et d'intégration.</a:t>
            </a:r>
            <a:endParaRPr lang="en-US" sz="1900" dirty="0"/>
          </a:p>
        </p:txBody>
      </p:sp>
      <p:sp>
        <p:nvSpPr>
          <p:cNvPr id="25" name="Oval 24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couches, une par une (2/2)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566160" cy="329184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566160" cy="6400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logique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 d'expression de règles. Ils permettent de déduire de nouveaux faits à partir des faits existants.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15968" y="1600200"/>
            <a:ext cx="3566160" cy="329184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15968" y="1600200"/>
            <a:ext cx="3566160" cy="64008"/>
          </a:xfrm>
          <a:prstGeom prst="rect">
            <a:avLst/>
          </a:prstGeom>
          <a:solidFill>
            <a:srgbClr val="C2573F"/>
          </a:solidFill>
          <a:ln w="12700">
            <a:solidFill>
              <a:srgbClr val="C2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98848" y="1764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preuve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98848" y="22402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les moyens de démontrer la validité des inférences produites par les agents.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566160" cy="329184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66160" cy="64008"/>
          </a:xfrm>
          <a:prstGeom prst="rect">
            <a:avLst/>
          </a:prstGeom>
          <a:solidFill>
            <a:srgbClr val="9C3B38"/>
          </a:solidFill>
          <a:ln w="12700">
            <a:solidFill>
              <a:srgbClr val="9C3B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0" y="1764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Couche confiance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22402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la crédibilité des résultats des agents : cryptographie des messages, signatures électroniques.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212080"/>
            <a:ext cx="1101852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5212080"/>
            <a:ext cx="82296" cy="7315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0392" y="521208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cours, on étudie les couches 2 à 4 : XML (rappel), RDF puis RDF Schema (ontologies légères).</a:t>
            </a:r>
            <a:endParaRPr lang="en-US" sz="1700" dirty="0"/>
          </a:p>
        </p:txBody>
      </p:sp>
      <p:sp>
        <p:nvSpPr>
          <p:cNvPr id="24" name="Oval 23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Description Framework : décrire des ressources par des triplets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: qu'est-ce que c'est 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de l'activité Web sémantique du W3C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créer des métadonnées (norme : w3.org/RDF).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conceptuel pour décrire des ressources sur le Web.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toute entité que l'on veut décrire, même non accessible sur le Web (une personne, une photo, une page, une classe…).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de métadonnées simple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décrire les ressources et les relations entre elles.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Interopérabilité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applications qui partagent des informations interprétables par les machines.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 XML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(mais ce n'est pas la seule).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0" y="1600200"/>
            <a:ext cx="3931920" cy="448056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9095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RDF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2860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des catalogues de ressources (contenu et relations)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la sémantique des données d'un document XML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la découverte de ressources sur le Web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des agents intelligents</a:t>
            </a:r>
            <a:endParaRPr lang="en-US" sz="1600" dirty="0"/>
          </a:p>
        </p:txBody>
      </p:sp>
      <p:sp>
        <p:nvSpPr>
          <p:cNvPr id="13" name="Oval 1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MODÈLE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RDF : la déclaration (triplet)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RDF est un ensemble de déclarations (statements).</a:t>
            </a:r>
            <a:endParaRPr lang="en-US" sz="18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déclaration = un triplet de 3 éléments :</a:t>
            </a:r>
            <a:endParaRPr lang="en-US" sz="1800" dirty="0"/>
          </a:p>
          <a:p>
            <a:pPr marL="457200" lvl="1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 ressource décrite</a:t>
            </a:r>
            <a:endParaRPr lang="en-US" sz="1800" dirty="0"/>
          </a:p>
          <a:p>
            <a:pPr marL="457200" lvl="1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Prédicat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 propriété</a:t>
            </a:r>
            <a:endParaRPr lang="en-US" sz="1800" dirty="0"/>
          </a:p>
          <a:p>
            <a:pPr marL="457200" lvl="1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 valeur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2286000"/>
            <a:ext cx="210312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26680" y="1892808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Prédicat (propriété)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828800"/>
            <a:ext cx="1920240" cy="91440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71500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(ressource)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92640" y="1828800"/>
            <a:ext cx="1920240" cy="91440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7383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(valeur)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a un créateur (creator) dont la valeur est « Berners-Lee ».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931920" y="5692140"/>
            <a:ext cx="420624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623560" y="5298948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0" y="5257800"/>
            <a:ext cx="210312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874520" y="52578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5303520"/>
            <a:ext cx="2377440" cy="7772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183880" y="5303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Berners-Lee</a:t>
            </a:r>
            <a:endParaRPr lang="en-US" sz="1300" dirty="0"/>
          </a:p>
        </p:txBody>
      </p:sp>
      <p:sp>
        <p:nvSpPr>
          <p:cNvPr id="24" name="Oval 23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MODÈLE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Ressources, prédicats et objets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3566160" cy="45262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5661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ressources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ressource peut être 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du Web (page, partie de page, site, document)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 non accessible par le Web (livre, personne, classe)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identifiée par une URI.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15968" y="1600200"/>
            <a:ext cx="3566160" cy="45262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15968" y="1600200"/>
            <a:ext cx="35661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98848" y="1764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prédicats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98848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propriété décrit une ressource. Elle peut être 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caractéristique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attribut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relation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signification définit les valeurs permises, les types de ressources décrites et ses liens avec les autres propriétés.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566160" cy="45262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46720" y="1600200"/>
            <a:ext cx="35661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0" y="17647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objets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0" y="224028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d'une déclaration peut être :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autre ressource, désignée par une URI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littéral : une chaîne ou un type primitif XML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B57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littéral termine le graphe : on ne peut pas continuer à partir de lui.</a:t>
            </a:r>
            <a:endParaRPr lang="en-US" sz="1800" dirty="0"/>
          </a:p>
        </p:txBody>
      </p:sp>
      <p:sp>
        <p:nvSpPr>
          <p:cNvPr id="21" name="Oval 20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MODÈLE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graphe RDF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ovale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 sujet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ovale ou rectangle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l'objet (rectangle si c'est un littéral)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orienté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sujet vers l'objet, étiqueté par le prédicat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même triplet, deux écritures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2377440" cy="420624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(ressource)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71800" y="3474720"/>
            <a:ext cx="864108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108960" y="34747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http://www.w3.org/index.html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2377440" cy="420624"/>
          </a:xfrm>
          <a:prstGeom prst="rect">
            <a:avLst/>
          </a:prstGeom>
          <a:solidFill>
            <a:srgbClr val="B0413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Prédicat (propriété)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71800" y="3931920"/>
            <a:ext cx="864108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108960" y="39319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http://purl.org/dc/elements/1.1/creator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389120"/>
            <a:ext cx="2377440" cy="420624"/>
          </a:xfrm>
          <a:prstGeom prst="rect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(valeur)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71800" y="4389120"/>
            <a:ext cx="8641080" cy="420624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108960" y="43891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http://www.w3.org/persid/80145  ou  « Berners-Lee »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5577840"/>
            <a:ext cx="420624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966460" y="5184648"/>
            <a:ext cx="1051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dc:creator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80" y="5120640"/>
            <a:ext cx="3291840" cy="91440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43000" y="51206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http://www.w3.org/index.html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95360" y="5166360"/>
            <a:ext cx="2468880" cy="82296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641080" y="5166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Berners-Lee</a:t>
            </a:r>
            <a:endParaRPr lang="en-US" sz="1300" dirty="0"/>
          </a:p>
        </p:txBody>
      </p:sp>
      <p:sp>
        <p:nvSpPr>
          <p:cNvPr id="29" name="Oval 28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MODÈLE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: une page décrite par plusieurs triplets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 flipV="1">
            <a:off x="2743200" y="2276375"/>
            <a:ext cx="2110662" cy="555437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792691" y="2307205"/>
            <a:ext cx="20116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monsite:creation-date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7258871" y="2256199"/>
            <a:ext cx="1932015" cy="55813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699098" y="2270092"/>
            <a:ext cx="1051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dc:creator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58168" y="3552883"/>
            <a:ext cx="1994392" cy="81253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86150" y="3913428"/>
            <a:ext cx="113842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dc:language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651760"/>
            <a:ext cx="3200400" cy="10058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26280" y="2651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http://www.w3.org/rdf.html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1645920"/>
            <a:ext cx="2011680" cy="73152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AVR 2016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0" y="1554480"/>
            <a:ext cx="2834640" cy="82296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82396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http://www.w3.org/persid/80145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4297680"/>
            <a:ext cx="1463040" cy="73152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098280" y="42976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5760720"/>
            <a:ext cx="365760" cy="219456"/>
          </a:xfrm>
          <a:prstGeom prst="ellipse">
            <a:avLst/>
          </a:prstGeom>
          <a:solidFill>
            <a:srgbClr val="E4F0F8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1188720" y="5733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5760720"/>
            <a:ext cx="365760" cy="219456"/>
          </a:xfrm>
          <a:prstGeom prst="rect">
            <a:avLst/>
          </a:prstGeom>
          <a:solidFill>
            <a:srgbClr val="FFF3DB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743200" y="57332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littéral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5870448"/>
            <a:ext cx="4114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160520" y="57332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572000"/>
            <a:ext cx="6949440" cy="68580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31520" y="4572000"/>
            <a:ext cx="82296" cy="6858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87552" y="45720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triplets partageant le même sujet : le graphe est l'ensemble de tous les triplets.</a:t>
            </a:r>
            <a:endParaRPr lang="en-US" sz="1600" dirty="0"/>
          </a:p>
        </p:txBody>
      </p:sp>
      <p:sp>
        <p:nvSpPr>
          <p:cNvPr id="32" name="Oval 3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abstraite et syntaxes concrètes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394960" cy="20116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abstraite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Conceptuelle, indépendante de l'implémentation, semi-formelle : elle favorise la communication.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20116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concrète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l'implémentation et l'échange effectif de données. Un triplet peut être codé en : Notation 3, Turtle, RDF/XML.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Triplet (sujet, prédicat, objet)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4389120"/>
            <a:ext cx="3474720" cy="822960"/>
          </a:xfrm>
          <a:prstGeom prst="rect">
            <a:avLst/>
          </a:prstGeom>
          <a:solidFill>
            <a:srgbClr val="F6F8FB"/>
          </a:solidFill>
          <a:ln w="254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9436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#LesMisérables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3474720" cy="822960"/>
          </a:xfrm>
          <a:prstGeom prst="rect">
            <a:avLst/>
          </a:prstGeom>
          <a:solidFill>
            <a:srgbClr val="F6F8FB"/>
          </a:solidFill>
          <a:ln w="25400">
            <a:solidFill>
              <a:srgbClr val="B041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4340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#auteur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4340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prédicat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2440" y="4389120"/>
            <a:ext cx="3474720" cy="822960"/>
          </a:xfrm>
          <a:prstGeom prst="rect">
            <a:avLst/>
          </a:prstGeom>
          <a:solidFill>
            <a:srgbClr val="F6F8FB"/>
          </a:solidFill>
          <a:ln w="25400">
            <a:solidFill>
              <a:srgbClr val="B573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09244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7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 Victor Hugo 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92440" y="5257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5760720"/>
            <a:ext cx="11018520" cy="54864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94360" y="5760720"/>
            <a:ext cx="82296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50392" y="576072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nœuds ovales = ressources · les arcs = propriétés (relations) · les rectangles = valeurs littérales.</a:t>
            </a:r>
            <a:endParaRPr lang="en-US" sz="1500" dirty="0"/>
          </a:p>
        </p:txBody>
      </p:sp>
      <p:sp>
        <p:nvSpPr>
          <p:cNvPr id="30" name="Oval 29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RDF/XML : structure générale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&lt;rdf:RDF&gt;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élément racine. Il indique que le document est RDF et déclare l'espace de noms RDF (et les autres espaces de noms utilisés).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&lt;rdf:Description&gt;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contient la déclaration de plusieurs triplets relatifs à un seul sujet.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26791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92240" y="1709928"/>
            <a:ext cx="493776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&lt;rdf:RDF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xmlns:rdf="http://www.w3.org/1999/02/22-rdf-syntax-ns#"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xmlns:local="http://www.MonDomaine.dz/Vocabulary#"&gt;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&lt;rdf:Description rdf:about="URI-du-sujet"&gt;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propriétés et relations du sujet --&gt;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&lt;/rdf:Description&gt;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&lt;/rdf:RDF&gt;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754880"/>
            <a:ext cx="11018520" cy="59436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94360" y="4754880"/>
            <a:ext cx="82296" cy="5943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0392" y="4754880"/>
            <a:ext cx="10652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du cours :  RDF ::= [&lt;rdf:RDF&gt;] description [&lt;/rdf:RDF&gt;]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5532120"/>
            <a:ext cx="11018520" cy="64008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4360" y="5532120"/>
            <a:ext cx="82296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0392" y="553212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RDF/XML, les attributs s'écrivent rdf:about et rdf:resource (le support de cours omet parfois le préfixe rdf:).</a:t>
            </a:r>
            <a:endParaRPr lang="en-US" sz="1500" dirty="0"/>
          </a:p>
        </p:txBody>
      </p:sp>
      <p:sp>
        <p:nvSpPr>
          <p:cNvPr id="18" name="Oval 17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RDF/XML : description avec une seule propriété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6675120" cy="2915107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6309360" cy="269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&lt;rdf:RDF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xmlns:rdf="http://www.w3.org/1999/02/22-rdf-syntax-ns#"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xmlns:local="http://www.MonDomaine.dz/Vocabulary#"&gt;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&lt;rdf:Description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rdf:about="http://www.polymtl.ca/Profs#MichelGagnon"&gt;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&lt;local:email&gt;MichelGagnon@yahoo.fr&lt;/local:email&gt;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&lt;/rdf:Description&gt;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&lt;/rdf:RDF&gt;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8634519" y="2468880"/>
            <a:ext cx="306924" cy="1010293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787981" y="2836866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3474720"/>
            <a:ext cx="182880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635240" y="3474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#MichelGagnon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1737360"/>
            <a:ext cx="2926080" cy="73152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63524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MichelGagnon@yahoo.fr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754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rdf:about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l'URI du sujet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&lt;local:email&gt;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prédicat ; son contenu textuel est un littéral</a:t>
            </a:r>
            <a:endParaRPr lang="en-US" sz="1700" dirty="0"/>
          </a:p>
        </p:txBody>
      </p:sp>
      <p:sp>
        <p:nvSpPr>
          <p:cNvPr id="18" name="Oval 17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RDF/XML : description avec plusieurs propriétés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6675120" cy="159791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6309360" cy="137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rdf:about="http://www.polymtl.dz/Profs#MichelGagnon"&gt;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&lt;local:email&gt;MichelGagnon@yahoo.fr&lt;/local:email&gt;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&lt;local:adresse&gt;12 rue liberté M'sila&lt;/local:adresse&gt;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9225152" y="2286000"/>
            <a:ext cx="625102" cy="252701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26223" y="2183750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11174" y="3093284"/>
            <a:ext cx="681491" cy="289996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0440" y="3192562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80960" y="2377440"/>
            <a:ext cx="173736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26680" y="2377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#MichelGagnon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92640" y="1600200"/>
            <a:ext cx="2011680" cy="68580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738360" y="1600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MichelGagnon@yahoo.fr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3383280"/>
            <a:ext cx="2011680" cy="68580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73836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rue liberté M'sila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5661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description décrit un même sujet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autant de propriétés que nécessaire.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propriété = un triplet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(même sujet, propriété différente).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générale 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&lt;rdf:Description rdf:about="URI"&gt; (&lt;propriété&gt;valeur&lt;/propriété&gt;)* &lt;/rdf:Description&gt;</a:t>
            </a:r>
            <a:endParaRPr lang="en-US" sz="1700" dirty="0"/>
          </a:p>
        </p:txBody>
      </p:sp>
      <p:sp>
        <p:nvSpPr>
          <p:cNvPr id="22" name="Oval 2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RDF/XML : description avec une relation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6675120" cy="1342339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6309360" cy="11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rdf:about="http://www.polymtl.dz/Profs#MichelGagnon"&gt;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&lt;local:createur rdf:resource="http://www.Gagnon.com"/&gt;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3360420"/>
            <a:ext cx="6400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208008" y="2967228"/>
            <a:ext cx="87782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2926080"/>
            <a:ext cx="173736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635240" y="29260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#MichelGagnon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2926080"/>
            <a:ext cx="164592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012680" y="29260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Gagnon.com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29184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l'objet est une ressource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(et non un texte), on utilise l'attribut rdf:resource avec l'URI de l'objet.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balise est alors vide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(&lt;local:createur …/&gt;) : la valeur est portée par l'attribut.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937760"/>
            <a:ext cx="11018520" cy="11887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4937760"/>
            <a:ext cx="1101852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5102352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Propriété ou relation 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577840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= valeur littérale dans le contenu de la balise. Relation = lien vers une autre ressource via rdf:resource.</a:t>
            </a:r>
            <a:endParaRPr lang="en-US" sz="1500" dirty="0"/>
          </a:p>
        </p:txBody>
      </p:sp>
      <p:sp>
        <p:nvSpPr>
          <p:cNvPr id="22" name="Oval 2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RDF/XML : description avec plusieurs relations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6766560" cy="1853489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6400800" cy="163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rdf:about="http://www.polymtl.dz/Profs#MichelGagnon"&gt;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&lt;local:createur rdf:resource="http://www.Gagnon.com"/&gt;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&lt;local:responsable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rdf:resource="http://www.polymtl.dz/Profs#dgi"/&gt;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9128760" y="2198505"/>
            <a:ext cx="1040889" cy="428602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210293" y="2202494"/>
            <a:ext cx="87782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1724" y="3171269"/>
            <a:ext cx="1015084" cy="398072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00626" y="3306297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468880"/>
            <a:ext cx="173736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635240" y="2468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#MichelGagnon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66960" y="1554480"/>
            <a:ext cx="1645920" cy="7772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012680" y="15544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Gagnon.com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66960" y="3429000"/>
            <a:ext cx="1645920" cy="7772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012680" y="3429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Profs#dgi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générale 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(&lt;relation rdf:resource="URI-objet"/&gt;)*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relation = un triplet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dont l'objet est une autre ressource.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mélanger propriétés et relations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la même description.</a:t>
            </a:r>
            <a:endParaRPr lang="en-US" sz="1700" dirty="0"/>
          </a:p>
        </p:txBody>
      </p:sp>
      <p:sp>
        <p:nvSpPr>
          <p:cNvPr id="22" name="Oval 2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RDF/XML : cas général (propriétés + relations imbriquées)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943600" cy="26988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5577840" cy="2479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 rdf:about="…/Profs#MichelGagnon"&gt;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&lt;local:email&gt;MichelGagnon@yahoo.fr&lt;/local:email&gt;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&lt;local:adresse&gt;12 rue liberté M'sila&lt;/local:adresse&gt;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&lt;local:createur rdf:resource="http://www.Gagnon.com"/&gt;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&lt;local:responsable&gt;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&lt;rdf:Description rdf:about="…/Profs#dgi"&gt;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&lt;local:nbrEffectif&gt;5&lt;/local:nbrEffectif&gt;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&lt;local:dateCreation&gt;12/12/2014&lt;/local:dateCreation&gt;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&lt;/rdf:Description&gt;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&lt;/local:responsable&gt;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V="1">
            <a:off x="8073253" y="2011680"/>
            <a:ext cx="47209" cy="731734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411058" y="2240387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7815" y="3566025"/>
            <a:ext cx="56278" cy="1097415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10153" y="3977572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566160"/>
            <a:ext cx="0" cy="210312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156448" y="4572000"/>
            <a:ext cx="87782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3154680"/>
            <a:ext cx="10972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869680" y="3017520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V="1">
            <a:off x="10789920" y="2011680"/>
            <a:ext cx="0" cy="73152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744200" y="224028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nbrEffectif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>
            <a:off x="10712548" y="3566025"/>
            <a:ext cx="56278" cy="1097415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649247" y="3977572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dateCréation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2743200"/>
            <a:ext cx="1645920" cy="82296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269480" y="27432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#MichelGagnon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463040"/>
            <a:ext cx="219456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08660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MichelGagnon@yahoo.fr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4663440"/>
            <a:ext cx="219456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086600" y="4663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rue liberté M'sila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5669280"/>
            <a:ext cx="1645920" cy="5486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269480" y="5669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Gagnon.com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66960" y="2743200"/>
            <a:ext cx="1645920" cy="82296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012680" y="27432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Profs#dgi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58400" y="1463040"/>
            <a:ext cx="146304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1010412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784080" y="4663440"/>
            <a:ext cx="182880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829800" y="4663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12/12/2014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4572000"/>
            <a:ext cx="5943600" cy="91440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594360" y="4572000"/>
            <a:ext cx="82296" cy="9144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50392" y="45720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relation peut contenir directement une nouvelle &lt;rdf:Description&gt; : l'objet est décrit « à la volée ».</a:t>
            </a:r>
            <a:endParaRPr lang="en-US" sz="1500" dirty="0"/>
          </a:p>
        </p:txBody>
      </p:sp>
      <p:sp>
        <p:nvSpPr>
          <p:cNvPr id="40" name="Oval 39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 anonyme (nœud vide)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Parfois on ne peut pas identifier la ressource : on ne connaît que les valeurs de ses propriétés.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 représente par un nœud vide (ressource anonyme) : une &lt;rdf:Description&gt; sans rdf:about.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6126480" cy="210906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5760720" cy="188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&lt;local:nom&gt;Gagnon&lt;/local:nom&gt;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&lt;local:prenom&gt;Michel&lt;/local:prenom&gt;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&lt;local:email&gt;MichelGagnon@yahoo.fr&lt;/local:email&gt;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&lt;local:adresse&gt;12 rue liberté M'sila&lt;/local:adresse&gt;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&lt;local:createur rdf:resource="http://www.Gagnon.com"/&gt;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8346729" y="3017520"/>
            <a:ext cx="1692077" cy="816865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35567" y="3288792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8395527" y="3633952"/>
            <a:ext cx="1297113" cy="290732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41164" y="3642158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056" y="4039111"/>
            <a:ext cx="1280584" cy="44158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40868" y="392403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84574" y="4149188"/>
            <a:ext cx="1308066" cy="383399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81407" y="4203727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31653" y="4231014"/>
            <a:ext cx="1838580" cy="1014389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748023" y="4601049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3657600"/>
            <a:ext cx="91440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5B657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543800" y="3657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468880"/>
            <a:ext cx="182880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73836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3154680"/>
            <a:ext cx="182880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73836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92640" y="3840480"/>
            <a:ext cx="182880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73836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MichelGagnon@yahoo.fr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92640" y="4526280"/>
            <a:ext cx="1828800" cy="548640"/>
          </a:xfrm>
          <a:prstGeom prst="rect">
            <a:avLst/>
          </a:prstGeom>
          <a:solidFill>
            <a:srgbClr val="FFF3DB"/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738360" y="4526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rue liberté M'sila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92640" y="5212080"/>
            <a:ext cx="1828800" cy="5486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9738360" y="5212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Gagnon.com</a:t>
            </a:r>
            <a:endParaRPr lang="en-US" sz="1100" dirty="0"/>
          </a:p>
        </p:txBody>
      </p:sp>
      <p:sp>
        <p:nvSpPr>
          <p:cNvPr id="34" name="Oval 33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Identificateur de nœud (rdf:nodeID)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l'imbrication des descriptions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rend le document RDF plus lisible.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donne un identifiant local au nœud, réutilisable pour ajouter d'autres triplets.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11018520" cy="2620213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10652760" cy="2400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 rdf:nodeID="p304"&gt;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&lt;local:worksAt rdf:resource="http://www.polymtl.ca/Vocabulary#dgi"/&gt;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&lt;local:hasName&gt;Michel Gagnon&lt;/local:hasName&gt;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 rdf:nodeID="p304"&gt;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&lt;local:hasHomePage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rdf:resource="http://www.professeurs.polymtl.ca/michel.gagnon"/&gt;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5440680"/>
            <a:ext cx="11018520" cy="64008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94360" y="5440680"/>
            <a:ext cx="82296" cy="64008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0392" y="544068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blocs décrivent le même nœud « p304 » : leurs triplets s'additionnent (3 triplets au total).</a:t>
            </a:r>
            <a:endParaRPr lang="en-US" sz="1600" dirty="0"/>
          </a:p>
        </p:txBody>
      </p:sp>
      <p:sp>
        <p:nvSpPr>
          <p:cNvPr id="15" name="Oval 14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SYNTAXE RDF/XML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Typer les ressources : rdf:type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ressources ne sont pas de même nature : professeur, département, page personnelle…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RDF, on ajoute une propriété entre la ressource et son type : rdf:type (complément RDFS).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5760720" cy="2915107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5394960" cy="2695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rdf:about="…/Profs#MichelGagnon"&gt;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&lt;rdf:type rdf:resource="…/Vocabulary#Enseignant"/&gt;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&lt;local:worksAt&gt;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&lt;rdf:Description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rdf:about="…/Vocabulary#dgi"&gt;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&lt;rdf:type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rdf:resource="…/Vocabulary#Department"/&gt;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&lt;/rdf:Description&gt;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&lt;/local:worksAt&gt;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 flipV="1">
            <a:off x="8366760" y="2377440"/>
            <a:ext cx="0" cy="100584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3817620"/>
            <a:ext cx="54864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281160" y="34061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35640" y="4251960"/>
            <a:ext cx="0" cy="86868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881360" y="4549140"/>
            <a:ext cx="5486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1645920"/>
            <a:ext cx="1737360" cy="73152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543800" y="1645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#enseignant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3383280"/>
            <a:ext cx="228600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69480" y="3383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Profs#MichelGagnon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00" y="3383280"/>
            <a:ext cx="155448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104120" y="33832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Profs#dgi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0" y="5120640"/>
            <a:ext cx="1554480" cy="73152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104120" y="5120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#département</a:t>
            </a:r>
            <a:endParaRPr lang="en-US" sz="1100" dirty="0"/>
          </a:p>
        </p:txBody>
      </p:sp>
      <p:sp>
        <p:nvSpPr>
          <p:cNvPr id="26" name="Oval 25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CONTENEURS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conteneurs RDF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conteneur indique qu'une ressource en regroupe d'autres ; chaque élément est un membre.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un livre à plusieurs auteurs ; la liste des étudiants d'un groupe.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est relié à ses membres par rdf:_1, rdf:_2, rdf:_3… à travers une ressource supplémentaire, typée par l'une des trois classes ci-dessous.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3566160" cy="24688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94360" y="3657600"/>
            <a:ext cx="35661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rdf:Bag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2976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non ordonné. Une propriété a plusieurs valeurs sans que l'ordre ait un sens.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15968" y="3657600"/>
            <a:ext cx="3566160" cy="24688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15968" y="3657600"/>
            <a:ext cx="35661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498848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rdf:Seq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98848" y="42976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ordonné. L'ordre d'apparition des valeurs a un sens.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46720" y="3657600"/>
            <a:ext cx="3566160" cy="24688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5661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rdf:Alt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429768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: on s'attend à ce qu'une seule soit choisie (ex. sites de téléchargement).</a:t>
            </a:r>
            <a:endParaRPr lang="en-US" sz="1800" dirty="0"/>
          </a:p>
        </p:txBody>
      </p:sp>
      <p:sp>
        <p:nvSpPr>
          <p:cNvPr id="22" name="Oval 2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CONTENEURS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rdf:Bag : groupe non ordonné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 non ordonné de ressources ou de littéraux : plusieurs valeurs sans ordre significatif.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lister les enseignants d'un département.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5943600" cy="2443277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852928"/>
            <a:ext cx="5577840" cy="2223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 rdf:about="…#ProfsDepartement"&gt;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&lt;local:intervenant&gt;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&lt;rdf:Bag&gt;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&lt;rdf:li rdf:resource="…/Profs#MarieSteMarie"/&gt;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&lt;rdf:li rdf:resource="…/Profs#JeanStJean"/&gt;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&lt;rdf:li rdf:resource="…/Profs#MichelGagnon"/&gt;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&lt;/rdf:Bag&gt;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&lt;/local:intervenant&gt;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4000500"/>
            <a:ext cx="45720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38160" y="3607308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10050513" y="3272362"/>
            <a:ext cx="617494" cy="421464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153520" y="3345934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32394" y="4012106"/>
            <a:ext cx="92055" cy="1461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72681" y="3875677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7761" y="4312329"/>
            <a:ext cx="641028" cy="457877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152535" y="4404108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611880"/>
            <a:ext cx="1463040" cy="7772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95160" y="3611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#département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3611880"/>
            <a:ext cx="1463040" cy="77724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15400" y="3611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rdf:Bag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269748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46988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MarieSteM.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24160" y="370332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69880" y="3703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JeanStJean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424160" y="470916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469880" y="4709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MichelGagnon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5669280"/>
            <a:ext cx="11018520" cy="54864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94360" y="5669280"/>
            <a:ext cx="82296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0392" y="5669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rdf:li est un raccourci de rdf:_1, rdf:_2, rdf:_3 (numérotation automatique). Le support écrit directement rdf:_1, rdf:_2…</a:t>
            </a:r>
            <a:endParaRPr lang="en-US" sz="1500" dirty="0"/>
          </a:p>
        </p:txBody>
      </p:sp>
      <p:sp>
        <p:nvSpPr>
          <p:cNvPr id="33" name="Oval 3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CONTENEURS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rdf:Seq : groupe ordonné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 ordonné de ressources ou de littéraux : l'ordre d'apparition a un sens.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lister les enseignants du département par ordre de grade.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5943600" cy="2443277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852928"/>
            <a:ext cx="5577840" cy="2223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 rdf:about="…#ProfsDepartement"&gt;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&lt;local:intervenant&gt;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&lt;rdf:Seq&gt;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&lt;rdf:_1 rdf:resource="…/Profs#MarieSteMarie"/&gt;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&lt;rdf:_2 rdf:resource="…/Profs#JeanStJean"/&gt;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&lt;rdf:_3 rdf:resource="…/Profs#MichelGagnon"/&gt;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&lt;/rdf:Seq&gt;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&lt;/local:intervenant&gt;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4000500"/>
            <a:ext cx="45720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38160" y="3607308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10050513" y="3272362"/>
            <a:ext cx="617494" cy="421464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153520" y="3345934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32394" y="4012106"/>
            <a:ext cx="92055" cy="1461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72681" y="3875677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7761" y="4312329"/>
            <a:ext cx="641028" cy="457877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152535" y="4404108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611880"/>
            <a:ext cx="1463040" cy="7772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95160" y="3611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#département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3611880"/>
            <a:ext cx="1463040" cy="77724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15400" y="3611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rdf:Seq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269748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46988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MarieSteM.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24160" y="370332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69880" y="3703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JeanStJean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424160" y="470916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469880" y="4709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MichelGagnon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5669280"/>
            <a:ext cx="11018520" cy="54864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94360" y="5669280"/>
            <a:ext cx="82296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0392" y="5669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 _1 est le premier de la liste : changer l'ordre change le sens (le grade le plus élevé en premier, par ex.).</a:t>
            </a:r>
            <a:endParaRPr lang="en-US" sz="1500" dirty="0"/>
          </a:p>
        </p:txBody>
      </p:sp>
      <p:sp>
        <p:nvSpPr>
          <p:cNvPr id="33" name="Oval 3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· CONTENEURS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rdf:Alt : alternatives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conteneur d'alternatives parmi lesquelles une seule est censée être sélectionnée.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les sites de téléchargement d'un paquet logiciel.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5943600" cy="2443277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852928"/>
            <a:ext cx="5577840" cy="2223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&lt;rdf:Description rdf:about="http://www.x.org/package/x11"&gt;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&lt;local:loadSite&gt;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&lt;rdf:Alt&gt;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&lt;rdf:_1 rdf:resource="http://ftp.x.org"/&gt;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&lt;rdf:_2 rdf:resource="http://www.ftp.cs.purdue.edu"/&gt;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&lt;rdf:_3 rdf:resource="http://www.ftp.eu.net"/&gt;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&lt;/rdf:Alt&gt;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&lt;/local:loadSite&gt;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&lt;/rdf:Description&gt;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4000500"/>
            <a:ext cx="45720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138160" y="3607308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10050513" y="3272362"/>
            <a:ext cx="617494" cy="421464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153520" y="3345934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32394" y="4012106"/>
            <a:ext cx="92055" cy="1461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72681" y="3875677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037761" y="4312329"/>
            <a:ext cx="641028" cy="457877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152535" y="4404108"/>
            <a:ext cx="411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611880"/>
            <a:ext cx="1463040" cy="77724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95160" y="3611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package/x11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3611880"/>
            <a:ext cx="1463040" cy="77724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915400" y="36118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rdf:Alt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0" y="269748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46988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ftp.x.org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24160" y="370332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69880" y="37033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ftp.cs.purdue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424160" y="4709160"/>
            <a:ext cx="1234440" cy="6400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469880" y="4709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ftp.eu.net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5669280"/>
            <a:ext cx="11018520" cy="54864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94360" y="5669280"/>
            <a:ext cx="82296" cy="5486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0392" y="5669280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membre est généralement le choix par défaut.</a:t>
            </a:r>
            <a:endParaRPr lang="en-US" sz="1500" dirty="0"/>
          </a:p>
        </p:txBody>
      </p:sp>
      <p:sp>
        <p:nvSpPr>
          <p:cNvPr id="33" name="Oval 3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Schema (RDFS)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vocabulaire pour typer les ressources et les propriétés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RDFS ? Les limites de RDF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394960" cy="21945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permet de…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Déclarer des propriétés et des relations sur des ressources, et spécifier leur type (rdf:type).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21945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64008"/>
          </a:xfrm>
          <a:prstGeom prst="rect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…mais pas de décrire les types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ne décrit pas les types des propriétés (relations) ni des ressources.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sans réponse en RDF seul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" y="45262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valeurs sont autorisées pour une propriété ?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propriétés sont autorisées sur une ressource ?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sont les liens entre les ressources ?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hiérarchie entre les types (spécialisation / généralisation) 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55280" y="4526280"/>
            <a:ext cx="365760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955280" y="45262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de vocabulaire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la solution : RDFS</a:t>
            </a:r>
            <a:endParaRPr lang="en-US" sz="2000" dirty="0"/>
          </a:p>
        </p:txBody>
      </p:sp>
      <p:sp>
        <p:nvSpPr>
          <p:cNvPr id="21" name="Oval 20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définition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sert à exprimer un vocabulaire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Pour des raisons historiques on dit « RDFS » (par analogie avec XML Schema) ; on parle aussi de RDF Vocabulary Language.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système de typage pour RDF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comparable à l'approche orientée objet :</a:t>
            </a:r>
            <a:endParaRPr lang="en-US" sz="18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et instances</a:t>
            </a:r>
            <a:endParaRPr lang="en-US" sz="18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des classes</a:t>
            </a:r>
            <a:endParaRPr lang="en-US" sz="18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des classes (spécialisation / généralisation)</a:t>
            </a:r>
            <a:endParaRPr lang="en-US" sz="1800" dirty="0"/>
          </a:p>
          <a:p>
            <a:pPr marL="457200" lvl="1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pas de méthodes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1600200"/>
            <a:ext cx="4023360" cy="210312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 noms RDFS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0" y="2148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http://www.w3.org/2000/01/rdf-schema#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préfixe : rdfs: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3931920"/>
            <a:ext cx="4023360" cy="2194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0" y="3931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 →  des faits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 →  le vocabulaire pour les décrire</a:t>
            </a:r>
            <a:endParaRPr lang="en-US" sz="1900" dirty="0"/>
          </a:p>
        </p:txBody>
      </p:sp>
      <p:sp>
        <p:nvSpPr>
          <p:cNvPr id="16" name="Oval 15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les classes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est un type (une catégorie) qui regroupe des instances (objets, ressources) partageant les mêmes caractéristiques.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est identifiée par une URI. Exemples : Enseignant, Étudiant, Personne.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 déclare avec rdfs:Class :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11018520" cy="83119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355848"/>
            <a:ext cx="10652760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&lt;rdfs:Class rdf:about="http://www.polymtl.ca/Vocabulary#Enseignant"/&gt;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&lt;rdfs:Class rdf:about="http://www.polymtl.ca/Vocabulary#Departement"/&gt;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5326380"/>
            <a:ext cx="219456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98848" y="4933188"/>
            <a:ext cx="87782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rdf:type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63040" y="4892040"/>
            <a:ext cx="2377440" cy="86868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508760" y="4892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Profs#MichelGagnon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4892040"/>
            <a:ext cx="2194560" cy="86868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080760" y="4892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5852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5852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200" dirty="0"/>
          </a:p>
        </p:txBody>
      </p:sp>
      <p:sp>
        <p:nvSpPr>
          <p:cNvPr id="20" name="Oval 19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les sous-classes (rdfs:subClassOf)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rdfs:subClassOf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une classe est une sous-classe d'une autre.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 est sous-classe de C′ et qu'une ressource est de type C, on déduit automatiquement qu'elle est aussi de type C′.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rdfs:subClassOf est transitive.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6400800" cy="108676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4270248"/>
            <a:ext cx="6035040" cy="86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&lt;rdfs:Class rdf:about="#MaitreAssistant"&gt;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&lt;rdfs:subClassOf rdf:resource="#Enseignant"/&gt;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&lt;/rdfs:Class&gt;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9509760" y="2377440"/>
            <a:ext cx="0" cy="73152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646920" y="26060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subClassOf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9509760" y="3840480"/>
            <a:ext cx="0" cy="73152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46920" y="406908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subClassOf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645920"/>
            <a:ext cx="2194560" cy="73152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5820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0" y="3108960"/>
            <a:ext cx="2194560" cy="73152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58200" y="3108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4572000"/>
            <a:ext cx="2194560" cy="731520"/>
          </a:xfrm>
          <a:prstGeom prst="ellipse">
            <a:avLst/>
          </a:prstGeom>
          <a:solidFill>
            <a:srgbClr val="E3F5EC"/>
          </a:solidFill>
          <a:ln w="22225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58200" y="4572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MaîtreAssistant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394960"/>
            <a:ext cx="640080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94360" y="5394960"/>
            <a:ext cx="82296" cy="7315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50392" y="539496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Transitivité : un MaîtreAssistant est aussi un Enseignant, donc une Personne.</a:t>
            </a:r>
            <a:endParaRPr lang="en-US" sz="1500" dirty="0"/>
          </a:p>
        </p:txBody>
      </p:sp>
      <p:sp>
        <p:nvSpPr>
          <p:cNvPr id="25" name="Oval 24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les propriétés, domaine et co-domaine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propriété caractérise les instances d'une classe. Elle est définie par un nom, un domaine (types de ressources qui la portent) et un co-domaine / rang (valeurs autorisées).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rdfs:domain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définit le domaine ; rdfs:range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201168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3246120"/>
            <a:ext cx="201168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6060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3246120"/>
            <a:ext cx="201168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1772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Co-domaine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657600"/>
            <a:ext cx="2011680" cy="41148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3657600"/>
            <a:ext cx="2011680" cy="41148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060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3657600"/>
            <a:ext cx="2011680" cy="41148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177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(Literal)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40690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06040" y="40690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60604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40690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1772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3246120"/>
            <a:ext cx="4754880" cy="1263701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040880" y="3355848"/>
            <a:ext cx="4389120" cy="104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&lt;rdf:Property rdf:about="#responsable"&gt;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&lt;rdfs:domain rdf:resource="#Enseignant"/&gt;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&lt;rdfs:range  rdf:resource="#Departement"/&gt;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&lt;/rdf:Property&gt;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4983480"/>
            <a:ext cx="11018520" cy="86868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94360" y="4983480"/>
            <a:ext cx="82296" cy="868680"/>
          </a:xfrm>
          <a:prstGeom prst="rect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50392" y="498348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et co-domaine servent à déduire des types (inférence) : ils ne bloquent pas les données invalides. Pour interdire, il faut OWL.</a:t>
            </a:r>
            <a:endParaRPr lang="en-US" sz="1500" dirty="0"/>
          </a:p>
        </p:txBody>
      </p:sp>
      <p:sp>
        <p:nvSpPr>
          <p:cNvPr id="33" name="Oval 3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les sous-propriétés (rdfs:subPropertyOf)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P′ est une sous-propriété de P : si deux ressources r1 et r2 sont liées par P′, elles le sont aussi par P.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père est une sous-propriété de parent.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108960"/>
            <a:ext cx="5120640" cy="1086764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218688"/>
            <a:ext cx="4754880" cy="867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&lt;rdf:Property rdf:about="#pere"&gt;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&lt;rdfs:subPropertyOf rdf:resource="#parent"/&gt;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&lt;/rdf:Property&gt;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560320"/>
            <a:ext cx="20116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41080" y="2167128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pèreDe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194560"/>
            <a:ext cx="1463040" cy="73152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2940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#Pierre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0" y="2194560"/>
            <a:ext cx="1463040" cy="73152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0412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#Lisa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3200400"/>
            <a:ext cx="0" cy="54864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046720" y="4297680"/>
            <a:ext cx="2011680" cy="0"/>
          </a:xfrm>
          <a:prstGeom prst="line">
            <a:avLst/>
          </a:prstGeom>
          <a:noFill/>
          <a:ln w="22225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3904488"/>
            <a:ext cx="87782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931920"/>
            <a:ext cx="1463040" cy="73152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2940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#Pierre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58400" y="3931920"/>
            <a:ext cx="1463040" cy="731520"/>
          </a:xfrm>
          <a:prstGeom prst="ellipse">
            <a:avLst/>
          </a:prstGeom>
          <a:solidFill>
            <a:srgbClr val="E4F0F8"/>
          </a:solidFill>
          <a:ln w="22225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10412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#Lisa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4663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4480560"/>
            <a:ext cx="5120640" cy="164592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94360" y="4480560"/>
            <a:ext cx="512064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4645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Autre exemple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7240" y="51206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et co-chauffeur sont deux sous-propriétés possibles de conducteur.</a:t>
            </a:r>
            <a:endParaRPr lang="en-US" sz="1500" dirty="0"/>
          </a:p>
        </p:txBody>
      </p:sp>
      <p:sp>
        <p:nvSpPr>
          <p:cNvPr id="31" name="Oval 30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les littéraux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394960" cy="17373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rdfs:Literal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des valeurs constantes : chaînes, entiers… À utiliser comme co-domaine d'une propriété à valeur simple.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173736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rdf:XMLLiteral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constante correspondant à un document XML bien formé.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11018520" cy="1342339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3767328"/>
            <a:ext cx="10652760" cy="1122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&lt;rdf:Property rdf:about="#email"&gt;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&lt;rdfs:domain rdf:resource="#Personne"/&gt;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&lt;rdfs:range  rdf:resource="http://www.w3.org/2000/01/rdf-schema#Literal"/&gt;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&lt;/rdf:Property&gt;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212080"/>
            <a:ext cx="11018520" cy="82296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94360" y="5212080"/>
            <a:ext cx="82296" cy="8229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0392" y="521208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support, l'exemple XMLLiteral est écrit pour #email : en pratique on choisit XMLLiteral seulement pour une valeur qui est elle-même du XML.</a:t>
            </a:r>
            <a:endParaRPr lang="en-US" sz="1500" dirty="0"/>
          </a:p>
        </p:txBody>
      </p:sp>
      <p:sp>
        <p:nvSpPr>
          <p:cNvPr id="22" name="Oval 2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 · NOTIONS DE BASE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: documenter le vocabulaire (rdfs:comment)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rdfs:comment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propriété qui permet de commenter une ressource ou une propriété.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 fréquent : rdfs:label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un nom lisible par un humain.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11018520" cy="2620213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944368"/>
            <a:ext cx="10652760" cy="2400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&lt;rdfs:Class rdf:about="http://www.polymtl.ca/Vocabulary#Enseignant"&gt;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&lt;rdfs:comment&gt;classe des enseignants&lt;/rdfs:comment&gt;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&lt;/rdfs:Class&gt;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&lt;rdf:Property rdf:about="#email"&gt;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&lt;rdfs:comment&gt;spécifier l'email d'une personne&lt;/rdfs:comment&gt;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&lt;rdfs:domain rdf:resource="#Personne"/&gt;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&lt;rdfs:range  rdf:resource="http://www.w3.org/2000/01/rdf-schema#Literal"/&gt;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&lt;/rdf:Property&gt;</a:t>
            </a:r>
            <a:endParaRPr lang="en-US" sz="1300" dirty="0"/>
          </a:p>
        </p:txBody>
      </p:sp>
      <p:sp>
        <p:nvSpPr>
          <p:cNvPr id="12" name="Oval 11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Syntaxe du support : à écrire correctement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486400" cy="502920"/>
          </a:xfrm>
          <a:prstGeom prst="rect">
            <a:avLst/>
          </a:prstGeom>
          <a:solidFill>
            <a:srgbClr val="1B2A4A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support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5486400" cy="502920"/>
          </a:xfrm>
          <a:prstGeom prst="rect">
            <a:avLst/>
          </a:prstGeom>
          <a:solidFill>
            <a:srgbClr val="1B2A4A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21792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correcte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2112264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1122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rdfs:property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112264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217920" y="211226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rdf:Property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262432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624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rdfs:class  /  rdfs:Class (casse)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2624328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0" y="2624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rdfs:Class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136392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1363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rdfs:subclassof  /  rdfs:SubProperty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3136392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217920" y="31363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rdfs:subClassOf  /  rdfs:subPropertyOf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364845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484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rdfs:Comment  /  Rdf :domain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0760" y="364845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217920" y="36484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rdfs:comment  /  rdfs:domain, rdfs:range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4360" y="4160520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1520" y="4160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about=…  /  rdf:ressource=…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80760" y="4160520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17920" y="4160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rdf:about=…  /  rdf:resource=…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4672584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31520" y="46725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rdfs:XMLLiteral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80760" y="4672584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217920" y="46725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rdf:XMLLiteral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4360" y="5184648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31520" y="51846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4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Balises ouvertes mais non fermées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80760" y="5184648"/>
            <a:ext cx="5486400" cy="502920"/>
          </a:xfrm>
          <a:prstGeom prst="rect">
            <a:avLst/>
          </a:prstGeom>
          <a:solidFill>
            <a:srgbClr val="F6F8FB"/>
          </a:solidFill>
          <a:ln w="635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217920" y="51846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Chaque balise ouvrante est refermée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" y="5852160"/>
            <a:ext cx="11018520" cy="457200"/>
          </a:xfrm>
          <a:prstGeom prst="rect">
            <a:avLst/>
          </a:prstGeom>
          <a:solidFill>
            <a:srgbClr val="FFF6E5"/>
          </a:solidFill>
          <a:ln w="12700">
            <a:solidFill>
              <a:srgbClr val="FFF6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94360" y="5852160"/>
            <a:ext cx="82296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50392" y="585216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RDF/XML est du XML : les noms sont sensibles à la casse et le document doit être bien formé.</a:t>
            </a:r>
            <a:endParaRPr lang="en-US" sz="1500" dirty="0"/>
          </a:p>
        </p:txBody>
      </p:sp>
      <p:sp>
        <p:nvSpPr>
          <p:cNvPr id="44" name="Oval 43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45720"/>
            <a:ext cx="914" cy="141732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149840" y="1017270"/>
            <a:ext cx="1346454" cy="35433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149840" y="1371600"/>
            <a:ext cx="921258" cy="120472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228582" y="1371600"/>
            <a:ext cx="921258" cy="120472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803386" y="1017270"/>
            <a:ext cx="1346454" cy="35433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149840" y="-45720"/>
            <a:ext cx="1346454" cy="106299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71098" y="1017270"/>
            <a:ext cx="425196" cy="155905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28582" y="2576322"/>
            <a:ext cx="1842516" cy="914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803386" y="1017270"/>
            <a:ext cx="425196" cy="1559052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803386" y="-45720"/>
            <a:ext cx="1346454" cy="1062990"/>
          </a:xfrm>
          <a:prstGeom prst="line">
            <a:avLst/>
          </a:prstGeom>
          <a:noFill/>
          <a:ln w="15875">
            <a:solidFill>
              <a:srgbClr val="2E86AB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993935" y="-201625"/>
            <a:ext cx="311810" cy="3118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1389995" y="910971"/>
            <a:ext cx="212598" cy="2125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943539" y="2448763"/>
            <a:ext cx="255118" cy="2551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122283" y="2470023"/>
            <a:ext cx="212598" cy="21259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675827" y="889711"/>
            <a:ext cx="255118" cy="25511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9965588" y="1187348"/>
            <a:ext cx="368503" cy="368503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1384280" y="5715000"/>
            <a:ext cx="914" cy="4572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1384280" y="6057900"/>
            <a:ext cx="434340" cy="1143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1384280" y="6172200"/>
            <a:ext cx="297180" cy="3886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1087100" y="6172200"/>
            <a:ext cx="297180" cy="3886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949940" y="6057900"/>
            <a:ext cx="434340" cy="1143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11384280" y="5715000"/>
            <a:ext cx="434340" cy="3429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1681460" y="6057900"/>
            <a:ext cx="137160" cy="5029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1087100" y="6560820"/>
            <a:ext cx="594360" cy="914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949940" y="6057900"/>
            <a:ext cx="137160" cy="50292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949940" y="5715000"/>
            <a:ext cx="434340" cy="342900"/>
          </a:xfrm>
          <a:prstGeom prst="line">
            <a:avLst/>
          </a:prstGeom>
          <a:noFill/>
          <a:ln w="15875">
            <a:solidFill>
              <a:srgbClr val="2E5F8A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1333988" y="5664708"/>
            <a:ext cx="100584" cy="1005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1784330" y="6023610"/>
            <a:ext cx="68580" cy="685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1640312" y="6519672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1052810" y="6526530"/>
            <a:ext cx="68580" cy="685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908792" y="6016752"/>
            <a:ext cx="82296" cy="822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1324844" y="6112764"/>
            <a:ext cx="118872" cy="118872"/>
          </a:xfrm>
          <a:prstGeom prst="ellipse">
            <a:avLst/>
          </a:prstGeom>
          <a:solidFill>
            <a:srgbClr val="F2A541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2296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2960" y="32004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&amp; RDF Schema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2296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un sens explicite et structuré aux ressources du Web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IDENTIFICATION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URI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: Uniform Resource Identifier. Pour chaque entité (ressource), il faut choisir une chaîne de texte unique, sous l'une des formes suivantes 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E5F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423160"/>
            <a:ext cx="8869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http://www.monsite.fr/LesMiserablesLeRoman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3136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3136392"/>
            <a:ext cx="8869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43200" y="313639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urn:ietf:rfc:2141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38496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URI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849624"/>
            <a:ext cx="8869680" cy="54864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743200" y="3849624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tag:websemantique.org,2005-04-25:De_Gaulle,Charles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IDENTIFICATION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URI — avantages et inconvénients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257800" cy="320040"/>
          </a:xfrm>
          <a:prstGeom prst="rect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816352"/>
            <a:ext cx="91440" cy="9144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78992" y="2688336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peut créer n'importe quelles méta-données sur n'importe quelle ressource, s'il connaît son URI.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78992" y="3648456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possible d'agréger des méta-données venant d'endroits différents sur une même ressource, puisqu'elles réfèrent à la même URI.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5257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5257800" cy="320040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Inconvénients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46520" y="2816352"/>
            <a:ext cx="91440" cy="9144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02552" y="2688336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d'un URI existant.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776472"/>
            <a:ext cx="91440" cy="9144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02552" y="3648456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d'un nouvel URI.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RDF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(1) — le triplet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Normalisé par le W3C, RDF est un modèle conceptuel permettant de décrire des choses simplement et sans ambiguïté, à l'aide de déclarations composées d'un sujet, d'un verbe et d'un complément (ex. « Cette page a pour auteur François Martin »).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651760"/>
            <a:ext cx="2865120" cy="960120"/>
          </a:xfrm>
          <a:prstGeom prst="roundRect">
            <a:avLst>
              <a:gd name="adj" fmla="val 7619"/>
            </a:avLst>
          </a:prstGeom>
          <a:solidFill>
            <a:srgbClr val="2E5F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2798064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3182112"/>
            <a:ext cx="2645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chose décrite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3296" y="3131820"/>
            <a:ext cx="338328" cy="914"/>
          </a:xfrm>
          <a:prstGeom prst="line">
            <a:avLst/>
          </a:prstGeom>
          <a:noFill/>
          <a:ln w="254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48200" y="2651760"/>
            <a:ext cx="2865120" cy="960120"/>
          </a:xfrm>
          <a:prstGeom prst="roundRect">
            <a:avLst>
              <a:gd name="adj" fmla="val 7619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48200" y="2798064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PROPRIÉTÉ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7928" y="3182112"/>
            <a:ext cx="2645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relation / le verbe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9896" y="3131820"/>
            <a:ext cx="338328" cy="914"/>
          </a:xfrm>
          <a:prstGeom prst="line">
            <a:avLst/>
          </a:prstGeom>
          <a:noFill/>
          <a:ln w="254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924800" y="2651760"/>
            <a:ext cx="2865120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924800" y="2798064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34528" y="3182112"/>
            <a:ext cx="2645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complément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977640"/>
            <a:ext cx="28651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463040" y="397764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www.monsite.fr/cettepage.html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8200" y="3977640"/>
            <a:ext cx="28651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39640" y="397764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Auteur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24800" y="3977640"/>
            <a:ext cx="2865120" cy="502920"/>
          </a:xfrm>
          <a:prstGeom prst="roundRect">
            <a:avLst>
              <a:gd name="adj" fmla="val 10909"/>
            </a:avLst>
          </a:prstGeom>
          <a:solidFill>
            <a:srgbClr val="EAF1F8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16240" y="397764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François Martin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46634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Cette page a pour auteur François Martin »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RDF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(2) — exemple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Affirmation : « Socrate est un homme »  →  &lt;Socrate&gt; &lt;est&gt; &lt;un homme&gt;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0881360" cy="2039112"/>
          </a:xfrm>
          <a:prstGeom prst="roundRect">
            <a:avLst>
              <a:gd name="adj" fmla="val 3587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2395728"/>
            <a:ext cx="1036929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&lt;?xml version="1.0" encoding="iso-8859-1"?&gt;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&lt;rdf:RDF xmlns:rdf="http://www.w3.org/1999/02/22-rdf-syntax-ns#"&gt;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&lt;rdf:Description about="http://grandshommes.org/Socrate"&gt;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&lt;rdf:type resource="http://description.org/schema/animaux/Homme"/&gt;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&lt;/rdf:Description&gt;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&lt;/rdf:RDF&gt;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syntaxe RDF/XML ci-dessus — il existe aussi une syntaxe abrégée équivalente, dite N3.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RDF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(3) — exemple annoté (Dublin Core)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746443" cy="4087368"/>
          </a:xfrm>
          <a:prstGeom prst="roundRect">
            <a:avLst>
              <a:gd name="adj" fmla="val 1790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1B2A4A">
                <a:alpha val="2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04672" y="1892808"/>
            <a:ext cx="6234379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&lt;?xml version="1.0"?&gt;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&lt;rdf:RDF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xmlns:rdf="http://www.w3.org/1999/02/22-rdf-syntax-ns#"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xmlns:dc="http://purl.org/dc/elements/1.1/"&gt;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&lt;rdf:Description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about="http://xml.coverpages.org/RadioTV-NewsML-en-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20020224.pdf"&gt;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&lt;dc:creator&gt;M. Onishi&lt;/dc:creator&gt;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&lt;dc:title&gt;RadioTV-NewsML in Japan&lt;/dc:title&gt;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&lt;dc:date&gt;2002-02-21&lt;/dc:date&gt;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&lt;dc:type&gt;Text&lt;/dc:type&gt;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&lt;dc:format&gt;application/pdf&lt;/dc:format&gt;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&lt;/rdf:Description&gt;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&lt;/rdf:RDF&gt;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5123" y="1673352"/>
            <a:ext cx="3814877" cy="365760"/>
          </a:xfrm>
          <a:prstGeom prst="roundRect">
            <a:avLst>
              <a:gd name="adj" fmla="val 15000"/>
            </a:avLst>
          </a:prstGeom>
          <a:solidFill>
            <a:srgbClr val="2E5F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06563" y="1673352"/>
            <a:ext cx="3631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RDF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7349947" y="1856232"/>
            <a:ext cx="265176" cy="372618"/>
          </a:xfrm>
          <a:prstGeom prst="line">
            <a:avLst/>
          </a:prstGeom>
          <a:noFill/>
          <a:ln w="12700">
            <a:solidFill>
              <a:srgbClr val="2E5F8A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15123" y="2258568"/>
            <a:ext cx="3814877" cy="365760"/>
          </a:xfrm>
          <a:prstGeom prst="roundRect">
            <a:avLst>
              <a:gd name="adj" fmla="val 15000"/>
            </a:avLst>
          </a:prstGeom>
          <a:solidFill>
            <a:srgbClr val="2E86A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06563" y="2258568"/>
            <a:ext cx="3631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de noms rdf et dc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7349947" y="2441448"/>
            <a:ext cx="265176" cy="123444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615123" y="3429000"/>
            <a:ext cx="3814877" cy="3657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06563" y="3429000"/>
            <a:ext cx="3631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about » précise la ressource décrite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7349947" y="3348990"/>
            <a:ext cx="265176" cy="262890"/>
          </a:xfrm>
          <a:prstGeom prst="line">
            <a:avLst/>
          </a:prstGeom>
          <a:noFill/>
          <a:ln w="12700">
            <a:solidFill>
              <a:srgbClr val="F2A541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615123" y="4114800"/>
            <a:ext cx="3814877" cy="365760"/>
          </a:xfrm>
          <a:prstGeom prst="roundRect">
            <a:avLst>
              <a:gd name="adj" fmla="val 15000"/>
            </a:avLst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06563" y="4114800"/>
            <a:ext cx="3631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« creator 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 flipV="1">
            <a:off x="7349947" y="4021074"/>
            <a:ext cx="265176" cy="276606"/>
          </a:xfrm>
          <a:prstGeom prst="line">
            <a:avLst/>
          </a:prstGeom>
          <a:noFill/>
          <a:ln w="12700">
            <a:solidFill>
              <a:srgbClr val="2F9E6E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615123" y="4754880"/>
            <a:ext cx="3814877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06563" y="4754880"/>
            <a:ext cx="36319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: M. Onishi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 flipV="1">
            <a:off x="7349947" y="4021074"/>
            <a:ext cx="265176" cy="916686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Dublin Core est un vocabulaire (ontologie) servant à décrire des œuvres littéraires ou artistiques sur tout type de support.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RDF SCHEMA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Schéma et OWL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Schéma permet 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226771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définir un nouveau vocabulaire : des ressources avec leurs propriétés, et les valeurs possibles de ces propriétés ;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1455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construire une ontologie simple (notion de sous-classe, d'instance de classe).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" y="3931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(Web Ontology Language) est une extension de RDF Schéma, offrant une expressivité logique plus riche.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RDF SCHEMA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Schéma — exemple de graphe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3474720"/>
            <a:ext cx="8229600" cy="2743200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257800" y="1645920"/>
            <a:ext cx="17373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25780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rdfs:Resource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49240" y="2395728"/>
            <a:ext cx="1554480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349240" y="23957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rdf:Property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09260" y="3017520"/>
            <a:ext cx="123444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09260" y="3017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4dd:player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75788" y="3776472"/>
            <a:ext cx="1234440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875788" y="37764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ex:Sports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09260" y="3776472"/>
            <a:ext cx="1234440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509260" y="37764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ex:Tennis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42732" y="3776472"/>
            <a:ext cx="1234440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142732" y="37764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ex:Person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00700" y="4937760"/>
            <a:ext cx="10515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6B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600700" y="49377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5577840" y="2093976"/>
            <a:ext cx="914" cy="292608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10912" y="2139696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10912" y="213969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rdfs:subClassOf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 flipV="1">
            <a:off x="3493008" y="2057400"/>
            <a:ext cx="1856232" cy="17007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854196" y="2807208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854196" y="28072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rdfs:subClassOf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6903720" y="2057400"/>
            <a:ext cx="1856232" cy="170078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264908" y="2807208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264908" y="28072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rdfs:subClassOf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 flipV="1">
            <a:off x="6126480" y="2825496"/>
            <a:ext cx="914" cy="192024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559552" y="2820924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559552" y="282092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rdf:type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 flipV="1">
            <a:off x="3813048" y="3364992"/>
            <a:ext cx="1810512" cy="338328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151376" y="3433572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151376" y="343357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rdf:domain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6629400" y="3364992"/>
            <a:ext cx="1810512" cy="338328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967728" y="3433572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967728" y="343357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rdf:range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3858768" y="3995928"/>
            <a:ext cx="1901952" cy="182880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242816" y="3986784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4242816" y="398678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rdf:type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 flipV="1">
            <a:off x="6446520" y="4197096"/>
            <a:ext cx="2039112" cy="758952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899148" y="4475988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6899148" y="447598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rdf:type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4178808"/>
            <a:ext cx="914" cy="758952"/>
          </a:xfrm>
          <a:prstGeom prst="line">
            <a:avLst/>
          </a:prstGeom>
          <a:noFill/>
          <a:ln w="19050">
            <a:solidFill>
              <a:srgbClr val="2F9E6E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54" name="Connector 53"/>
          <p:cNvCxnSpPr/>
          <p:nvPr/>
        </p:nvCxnSpPr>
        <p:spPr>
          <a:xfrm flipH="1">
            <a:off x="5440680" y="3355848"/>
            <a:ext cx="365760" cy="256032"/>
          </a:xfrm>
          <a:prstGeom prst="line">
            <a:avLst/>
          </a:prstGeom>
          <a:ln w="19050">
            <a:solidFill>
              <a:srgbClr val="2F9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40680" y="3611880"/>
            <a:ext cx="0" cy="941832"/>
          </a:xfrm>
          <a:prstGeom prst="line">
            <a:avLst/>
          </a:prstGeom>
          <a:ln w="19050">
            <a:solidFill>
              <a:srgbClr val="2F9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440680" y="4553712"/>
            <a:ext cx="228600" cy="0"/>
          </a:xfrm>
          <a:prstGeom prst="line">
            <a:avLst/>
          </a:prstGeom>
          <a:ln w="19050">
            <a:solidFill>
              <a:srgbClr val="2F9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hape 45"/>
          <p:cNvSpPr/>
          <p:nvPr/>
        </p:nvSpPr>
        <p:spPr>
          <a:xfrm>
            <a:off x="5669280" y="4448556"/>
            <a:ext cx="914400" cy="201168"/>
          </a:xfrm>
          <a:prstGeom prst="rect">
            <a:avLst/>
          </a:prstGeom>
          <a:solidFill>
            <a:srgbClr val="E9EE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5669280" y="44485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4dd:player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440680" y="5760720"/>
            <a:ext cx="137160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5440680" y="5760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四次元太郎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5303520"/>
            <a:ext cx="914" cy="438912"/>
          </a:xfrm>
          <a:prstGeom prst="line">
            <a:avLst/>
          </a:prstGeom>
          <a:noFill/>
          <a:ln w="12700">
            <a:solidFill>
              <a:srgbClr val="5B6B8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5559552" y="5422392"/>
            <a:ext cx="1133856" cy="2011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559552" y="54223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v:name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COMPLÉMENTS · BILAN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 et RDF Schéma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Web Sémantique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257800" cy="320040"/>
          </a:xfrm>
          <a:prstGeom prst="rect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91440" cy="9144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078992" y="2642616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Rendent le contenu Web compréhensible par les machines.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776472"/>
            <a:ext cx="91440" cy="9144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78992" y="3648456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moteurs d'inférence peuvent établir des déductions puissantes grâce aux ontologies construites avec RDF Schéma ou OWL.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782312"/>
            <a:ext cx="91440" cy="9144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78992" y="4654296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l'intermédiaire des « espaces de noms », le vocabulaire utilisé n'est pas figé et peut être complété.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78308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4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172200" y="178308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72200" y="2103120"/>
            <a:ext cx="5257800" cy="320040"/>
          </a:xfrm>
          <a:prstGeom prst="rect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172200" y="17830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Inconvénients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46520" y="2770632"/>
            <a:ext cx="91440" cy="9144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02552" y="2642616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Nécessité d'une entente sur le vocabulaire.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3776472"/>
            <a:ext cx="91440" cy="91440"/>
          </a:xfrm>
          <a:prstGeom prst="ellipse">
            <a:avLst/>
          </a:prstGeom>
          <a:solidFill>
            <a:srgbClr val="B041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702552" y="3648456"/>
            <a:ext cx="4453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fastidieux pour les créateurs de site ?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: RDF et RDFS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01852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Sémantique · Partie II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394960" cy="29260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5394960" cy="64008"/>
          </a:xfrm>
          <a:prstGeom prst="rect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224028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triplets (sujet, prédicat, objet) → un graphe. Syntaxes : RDF/XML, Turtle, N3. Conteneurs Bag, Seq, Alt. rdf:type pour typer les ressources.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394960" cy="2926080"/>
          </a:xfrm>
          <a:prstGeom prst="rect">
            <a:avLst/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5394960" cy="64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pour décrire des ontologies légères : classes et sous-classes, propriétés et sous-propriétés, domaine et co-domaine, littéraux, commentaires.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9436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RDFS permet de 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51663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classes et sous-classes, et les propriétés d'une classe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relations entre classes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Restreindre domaine et co-domaine d'une propriété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décrire des ontologies légères (pour plus d'expressivité : OWL)</a:t>
            </a:r>
            <a:endParaRPr lang="en-US" sz="1400" dirty="0"/>
          </a:p>
        </p:txBody>
      </p:sp>
      <p:sp>
        <p:nvSpPr>
          <p:cNvPr id="19" name="Oval 18"/>
          <p:cNvSpPr/>
          <p:nvPr/>
        </p:nvSpPr>
        <p:spPr>
          <a:xfrm>
            <a:off x="11475720" y="438912"/>
            <a:ext cx="146304" cy="1463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6496</Words>
  <Application>Microsoft Office PowerPoint</Application>
  <PresentationFormat>Grand écran</PresentationFormat>
  <Paragraphs>1049</Paragraphs>
  <Slides>74</Slides>
  <Notes>34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Cambria</vt:lpstr>
      <vt:lpstr>Consolas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Chmengui</cp:lastModifiedBy>
  <cp:revision>3</cp:revision>
  <dcterms:created xsi:type="dcterms:W3CDTF">2026-09-17T11:01:46Z</dcterms:created>
  <dcterms:modified xsi:type="dcterms:W3CDTF">2026-10-09T19:35:41Z</dcterms:modified>
</cp:coreProperties>
</file>