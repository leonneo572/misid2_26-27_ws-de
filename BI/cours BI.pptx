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4"/>
  </p:sldMasterIdLst>
  <p:notesMasterIdLst>
    <p:notesMasterId r:id="rId178"/>
  </p:notesMasterIdLst>
  <p:handoutMasterIdLst>
    <p:handoutMasterId r:id="rId179"/>
  </p:handoutMasterIdLst>
  <p:sldIdLst>
    <p:sldId id="286" r:id="rId5"/>
    <p:sldId id="287" r:id="rId6"/>
    <p:sldId id="288" r:id="rId7"/>
    <p:sldId id="289" r:id="rId8"/>
    <p:sldId id="431" r:id="rId9"/>
    <p:sldId id="259" r:id="rId10"/>
    <p:sldId id="261" r:id="rId11"/>
    <p:sldId id="258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432" r:id="rId21"/>
    <p:sldId id="276" r:id="rId22"/>
    <p:sldId id="277" r:id="rId23"/>
    <p:sldId id="278" r:id="rId24"/>
    <p:sldId id="279" r:id="rId25"/>
    <p:sldId id="282" r:id="rId26"/>
    <p:sldId id="283" r:id="rId27"/>
    <p:sldId id="284" r:id="rId28"/>
    <p:sldId id="285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433" r:id="rId39"/>
    <p:sldId id="434" r:id="rId40"/>
    <p:sldId id="300" r:id="rId41"/>
    <p:sldId id="301" r:id="rId42"/>
    <p:sldId id="435" r:id="rId43"/>
    <p:sldId id="438" r:id="rId44"/>
    <p:sldId id="437" r:id="rId45"/>
    <p:sldId id="436" r:id="rId46"/>
    <p:sldId id="305" r:id="rId47"/>
    <p:sldId id="306" r:id="rId48"/>
    <p:sldId id="307" r:id="rId49"/>
    <p:sldId id="308" r:id="rId50"/>
    <p:sldId id="439" r:id="rId51"/>
    <p:sldId id="309" r:id="rId52"/>
    <p:sldId id="310" r:id="rId53"/>
    <p:sldId id="311" r:id="rId54"/>
    <p:sldId id="312" r:id="rId55"/>
    <p:sldId id="313" r:id="rId56"/>
    <p:sldId id="325" r:id="rId57"/>
    <p:sldId id="326" r:id="rId58"/>
    <p:sldId id="327" r:id="rId59"/>
    <p:sldId id="329" r:id="rId60"/>
    <p:sldId id="330" r:id="rId61"/>
    <p:sldId id="440" r:id="rId62"/>
    <p:sldId id="332" r:id="rId63"/>
    <p:sldId id="333" r:id="rId64"/>
    <p:sldId id="336" r:id="rId65"/>
    <p:sldId id="337" r:id="rId66"/>
    <p:sldId id="338" r:id="rId67"/>
    <p:sldId id="441" r:id="rId68"/>
    <p:sldId id="442" r:id="rId69"/>
    <p:sldId id="443" r:id="rId70"/>
    <p:sldId id="448" r:id="rId71"/>
    <p:sldId id="447" r:id="rId72"/>
    <p:sldId id="445" r:id="rId73"/>
    <p:sldId id="446" r:id="rId74"/>
    <p:sldId id="449" r:id="rId75"/>
    <p:sldId id="450" r:id="rId76"/>
    <p:sldId id="451" r:id="rId77"/>
    <p:sldId id="452" r:id="rId78"/>
    <p:sldId id="454" r:id="rId79"/>
    <p:sldId id="339" r:id="rId80"/>
    <p:sldId id="455" r:id="rId81"/>
    <p:sldId id="456" r:id="rId82"/>
    <p:sldId id="458" r:id="rId83"/>
    <p:sldId id="453" r:id="rId84"/>
    <p:sldId id="459" r:id="rId85"/>
    <p:sldId id="460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5" r:id="rId122"/>
    <p:sldId id="376" r:id="rId123"/>
    <p:sldId id="377" r:id="rId124"/>
    <p:sldId id="378" r:id="rId125"/>
    <p:sldId id="379" r:id="rId126"/>
    <p:sldId id="380" r:id="rId127"/>
    <p:sldId id="381" r:id="rId128"/>
    <p:sldId id="382" r:id="rId129"/>
    <p:sldId id="383" r:id="rId130"/>
    <p:sldId id="384" r:id="rId131"/>
    <p:sldId id="385" r:id="rId132"/>
    <p:sldId id="386" r:id="rId133"/>
    <p:sldId id="387" r:id="rId134"/>
    <p:sldId id="388" r:id="rId135"/>
    <p:sldId id="389" r:id="rId136"/>
    <p:sldId id="390" r:id="rId137"/>
    <p:sldId id="391" r:id="rId138"/>
    <p:sldId id="392" r:id="rId139"/>
    <p:sldId id="393" r:id="rId140"/>
    <p:sldId id="394" r:id="rId141"/>
    <p:sldId id="395" r:id="rId142"/>
    <p:sldId id="396" r:id="rId143"/>
    <p:sldId id="397" r:id="rId144"/>
    <p:sldId id="398" r:id="rId145"/>
    <p:sldId id="399" r:id="rId146"/>
    <p:sldId id="400" r:id="rId147"/>
    <p:sldId id="401" r:id="rId148"/>
    <p:sldId id="402" r:id="rId149"/>
    <p:sldId id="403" r:id="rId150"/>
    <p:sldId id="404" r:id="rId151"/>
    <p:sldId id="405" r:id="rId152"/>
    <p:sldId id="406" r:id="rId153"/>
    <p:sldId id="407" r:id="rId154"/>
    <p:sldId id="408" r:id="rId155"/>
    <p:sldId id="409" r:id="rId156"/>
    <p:sldId id="410" r:id="rId157"/>
    <p:sldId id="411" r:id="rId158"/>
    <p:sldId id="412" r:id="rId159"/>
    <p:sldId id="413" r:id="rId160"/>
    <p:sldId id="414" r:id="rId161"/>
    <p:sldId id="415" r:id="rId162"/>
    <p:sldId id="416" r:id="rId163"/>
    <p:sldId id="417" r:id="rId164"/>
    <p:sldId id="418" r:id="rId165"/>
    <p:sldId id="419" r:id="rId166"/>
    <p:sldId id="420" r:id="rId167"/>
    <p:sldId id="421" r:id="rId168"/>
    <p:sldId id="422" r:id="rId169"/>
    <p:sldId id="423" r:id="rId170"/>
    <p:sldId id="424" r:id="rId171"/>
    <p:sldId id="425" r:id="rId172"/>
    <p:sldId id="426" r:id="rId173"/>
    <p:sldId id="427" r:id="rId174"/>
    <p:sldId id="428" r:id="rId175"/>
    <p:sldId id="429" r:id="rId176"/>
    <p:sldId id="430" r:id="rId177"/>
  </p:sldIdLst>
  <p:sldSz cx="9144000" cy="6858000" type="screen4x3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9F51CA-A656-413B-A429-4D9FB00DAE95}" v="1" dt="2020-10-24T10:25:15.2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63" Type="http://schemas.openxmlformats.org/officeDocument/2006/relationships/slide" Target="slides/slide59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viewProps" Target="view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theme" Target="theme/theme1.xml"/><Relationship Id="rId6" Type="http://schemas.openxmlformats.org/officeDocument/2006/relationships/slide" Target="slides/slide2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openxmlformats.org/officeDocument/2006/relationships/slide" Target="slides/slide10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slide" Target="slides/slide100.xml"/><Relationship Id="rId120" Type="http://schemas.openxmlformats.org/officeDocument/2006/relationships/slide" Target="slides/slide116.xml"/><Relationship Id="rId125" Type="http://schemas.openxmlformats.org/officeDocument/2006/relationships/slide" Target="slides/slide121.xml"/><Relationship Id="rId141" Type="http://schemas.openxmlformats.org/officeDocument/2006/relationships/slide" Target="slides/slide137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162" Type="http://schemas.openxmlformats.org/officeDocument/2006/relationships/slide" Target="slides/slide158.xml"/><Relationship Id="rId183" Type="http://schemas.openxmlformats.org/officeDocument/2006/relationships/tableStyles" Target="tableStyle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15" Type="http://schemas.openxmlformats.org/officeDocument/2006/relationships/slide" Target="slides/slide111.xml"/><Relationship Id="rId131" Type="http://schemas.openxmlformats.org/officeDocument/2006/relationships/slide" Target="slides/slide127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notesMaster" Target="notesMasters/notesMaster1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79" Type="http://schemas.openxmlformats.org/officeDocument/2006/relationships/handoutMaster" Target="handoutMasters/handoutMaster1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48" Type="http://schemas.openxmlformats.org/officeDocument/2006/relationships/slide" Target="slides/slide144.xml"/><Relationship Id="rId164" Type="http://schemas.openxmlformats.org/officeDocument/2006/relationships/slide" Target="slides/slide160.xml"/><Relationship Id="rId169" Type="http://schemas.openxmlformats.org/officeDocument/2006/relationships/slide" Target="slides/slide165.xml"/><Relationship Id="rId185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80" Type="http://schemas.openxmlformats.org/officeDocument/2006/relationships/presProps" Target="presProps.xml"/><Relationship Id="rId26" Type="http://schemas.openxmlformats.org/officeDocument/2006/relationships/slide" Target="slides/slide22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6" Type="http://schemas.openxmlformats.org/officeDocument/2006/relationships/slide" Target="slides/slide12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" Type="http://schemas.openxmlformats.org/officeDocument/2006/relationships/customXml" Target="../customXml/item1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nsaf HAMMAMI" userId="S::insaf.hammami@tek-up.de::66bbe4a7-37ae-4c0d-a58d-5e06e8cab005" providerId="AD" clId="Web-{C09F51CA-A656-413B-A429-4D9FB00DAE95}"/>
    <pc:docChg chg="modSld">
      <pc:chgData name="Insaf HAMMAMI" userId="S::insaf.hammami@tek-up.de::66bbe4a7-37ae-4c0d-a58d-5e06e8cab005" providerId="AD" clId="Web-{C09F51CA-A656-413B-A429-4D9FB00DAE95}" dt="2020-10-24T10:25:15.228" v="0" actId="1076"/>
      <pc:docMkLst>
        <pc:docMk/>
      </pc:docMkLst>
      <pc:sldChg chg="modSp">
        <pc:chgData name="Insaf HAMMAMI" userId="S::insaf.hammami@tek-up.de::66bbe4a7-37ae-4c0d-a58d-5e06e8cab005" providerId="AD" clId="Web-{C09F51CA-A656-413B-A429-4D9FB00DAE95}" dt="2020-10-24T10:25:15.228" v="0" actId="1076"/>
        <pc:sldMkLst>
          <pc:docMk/>
          <pc:sldMk cId="0" sldId="258"/>
        </pc:sldMkLst>
        <pc:picChg chg="mod">
          <ac:chgData name="Insaf HAMMAMI" userId="S::insaf.hammami@tek-up.de::66bbe4a7-37ae-4c0d-a58d-5e06e8cab005" providerId="AD" clId="Web-{C09F51CA-A656-413B-A429-4D9FB00DAE95}" dt="2020-10-24T10:25:15.228" v="0" actId="1076"/>
          <ac:picMkLst>
            <pc:docMk/>
            <pc:sldMk cId="0" sldId="258"/>
            <ac:picMk id="2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7F27B1E-8DAA-4EDC-9FC8-BB1DD88E0611}" type="datetimeFigureOut">
              <a:rPr lang="fr-FR" smtClean="0"/>
              <a:pPr/>
              <a:t>24/10/2020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9646238-A0BB-495C-A1B8-7FFB2A76D7E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3346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8B1C4C8F-BF6E-4CF7-A074-B30AB94D0B85}" type="datetimeFigureOut">
              <a:rPr lang="fr-FR" smtClean="0"/>
              <a:pPr/>
              <a:t>24/10/2020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15FA2739-A759-4C0D-9712-4C7B0672AFB2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4508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FA2739-A759-4C0D-9712-4C7B0672AFB2}" type="slidenum">
              <a:rPr lang="fr-FR" smtClean="0"/>
              <a:pPr/>
              <a:t>41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22" name="Sous-titr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1CBE1-C4A6-4757-9DEB-687443CBF560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20" name="Espace réservé du pied de pag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9B3E1-3311-410D-92AE-AFA2ED1991D9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5F307-E6C4-46EA-9E77-441800C23156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851F1-D7BD-427F-ABC1-EA03553A3C1D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D2C32-C831-4BDA-82F2-D99136190F77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0A09B-6128-4ABF-AB07-A158330D5DA7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4BAA1-1653-4EB7-A097-A706494D93F7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463E2-2B09-4A2E-B7E1-E6DFF9783408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1790D7-A590-4B64-8804-DF4DF92CDBC3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9" name="Organigramme : Processu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Organigramme : Processu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B5AEC-3821-4EB6-9205-E57766295E3D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4C321-C123-4A47-B2AC-C8D77E540E94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cteurs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Bouée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Espace réservé du titre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9" name="Espace réservé du texte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24" name="Espace réservé de la date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3BC8FDA-D212-4881-A7CC-1902598A8BF0}" type="datetime1">
              <a:rPr lang="fr-FR" smtClean="0"/>
              <a:pPr/>
              <a:t>24/10/2020</a:t>
            </a:fld>
            <a:endParaRPr lang="fr-BE"/>
          </a:p>
        </p:txBody>
      </p:sp>
      <p:sp>
        <p:nvSpPr>
          <p:cNvPr id="10" name="Espace réservé du pied de page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fr-BE"/>
          </a:p>
        </p:txBody>
      </p:sp>
      <p:sp>
        <p:nvSpPr>
          <p:cNvPr id="22" name="Espace réservé du numéro de diapositiv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7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7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7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7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7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7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7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7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214414" y="1000108"/>
            <a:ext cx="7406640" cy="1615060"/>
          </a:xfrm>
        </p:spPr>
        <p:txBody>
          <a:bodyPr>
            <a:normAutofit/>
          </a:bodyPr>
          <a:lstStyle/>
          <a:p>
            <a:r>
              <a:rPr lang="fr-FR" sz="5400" dirty="0"/>
              <a:t>Entrepôt de données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85852" y="2857496"/>
            <a:ext cx="6286544" cy="571504"/>
          </a:xfrm>
        </p:spPr>
        <p:txBody>
          <a:bodyPr>
            <a:normAutofit fontScale="92500"/>
          </a:bodyPr>
          <a:lstStyle/>
          <a:p>
            <a:r>
              <a:rPr lang="fr-FR" dirty="0">
                <a:solidFill>
                  <a:srgbClr val="FF0000"/>
                </a:solidFill>
              </a:rPr>
              <a:t>S</a:t>
            </a:r>
            <a:r>
              <a:rPr lang="fr-FR" dirty="0"/>
              <a:t>ystème d’</a:t>
            </a:r>
            <a:r>
              <a:rPr lang="fr-FR" dirty="0">
                <a:solidFill>
                  <a:srgbClr val="FF0000"/>
                </a:solidFill>
              </a:rPr>
              <a:t>I</a:t>
            </a:r>
            <a:r>
              <a:rPr lang="fr-FR" dirty="0"/>
              <a:t>nformation d’</a:t>
            </a:r>
            <a:r>
              <a:rPr lang="fr-FR" dirty="0">
                <a:solidFill>
                  <a:srgbClr val="FF0000"/>
                </a:solidFill>
              </a:rPr>
              <a:t>A</a:t>
            </a:r>
            <a:r>
              <a:rPr lang="fr-FR" dirty="0"/>
              <a:t>ide à la </a:t>
            </a:r>
            <a:r>
              <a:rPr lang="fr-FR" dirty="0">
                <a:solidFill>
                  <a:srgbClr val="FF0000"/>
                </a:solidFill>
              </a:rPr>
              <a:t>D</a:t>
            </a:r>
            <a:r>
              <a:rPr lang="fr-FR" dirty="0"/>
              <a:t>écision</a:t>
            </a:r>
          </a:p>
        </p:txBody>
      </p:sp>
      <p:sp>
        <p:nvSpPr>
          <p:cNvPr id="6" name="Sous-titre 2"/>
          <p:cNvSpPr txBox="1">
            <a:spLocks/>
          </p:cNvSpPr>
          <p:nvPr/>
        </p:nvSpPr>
        <p:spPr>
          <a:xfrm>
            <a:off x="7000892" y="6286520"/>
            <a:ext cx="2071702" cy="357190"/>
          </a:xfrm>
          <a:prstGeom prst="rect">
            <a:avLst/>
          </a:prstGeom>
        </p:spPr>
        <p:txBody>
          <a:bodyPr tIns="0">
            <a:normAutofit/>
          </a:bodyPr>
          <a:lstStyle/>
          <a:p>
            <a:pPr marL="27432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kumimoji="0" lang="fr-FR" sz="2000" b="0" i="0" u="none" strike="noStrike" kern="1200" cap="none" spc="0" normalizeH="0" baseline="0" noProof="0" dirty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2017/2018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/>
              <a:t>Objectifs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>
              <a:lnSpc>
                <a:spcPct val="170000"/>
              </a:lnSpc>
            </a:pPr>
            <a:r>
              <a:rPr lang="fr-FR" dirty="0"/>
              <a:t>Comprendre l'importance de l'information dans </a:t>
            </a:r>
            <a:r>
              <a:rPr lang="fr-FR"/>
              <a:t>les métiers.</a:t>
            </a:r>
            <a:endParaRPr lang="fr-FR" dirty="0"/>
          </a:p>
          <a:p>
            <a:pPr>
              <a:lnSpc>
                <a:spcPct val="170000"/>
              </a:lnSpc>
            </a:pPr>
            <a:r>
              <a:rPr lang="fr-FR" dirty="0"/>
              <a:t>Analyser les limites des systèmes de production existants pour les besoins en traitement de l'information, notamment dans les applications décisionnelles.</a:t>
            </a:r>
          </a:p>
          <a:p>
            <a:pPr>
              <a:lnSpc>
                <a:spcPct val="170000"/>
              </a:lnSpc>
            </a:pPr>
            <a:r>
              <a:rPr lang="fr-FR" dirty="0"/>
              <a:t>Introduire le concept d'entrepôt de données comme une solution alternative et en décrire les propriétés.</a:t>
            </a:r>
          </a:p>
          <a:p>
            <a:pPr>
              <a:lnSpc>
                <a:spcPct val="170000"/>
              </a:lnSpc>
            </a:pPr>
            <a:r>
              <a:rPr lang="fr-FR" dirty="0"/>
              <a:t>Distinguer les différents niveaux de stockage de données qui composent une architecture à base d'entrepôt </a:t>
            </a:r>
          </a:p>
          <a:p>
            <a:pPr>
              <a:lnSpc>
                <a:spcPct val="170000"/>
              </a:lnSpc>
            </a:pPr>
            <a:r>
              <a:rPr lang="fr-FR" dirty="0"/>
              <a:t>Comprendre les étapes de la construction de ces niveaux de stockage.</a:t>
            </a:r>
          </a:p>
          <a:p>
            <a:pPr>
              <a:lnSpc>
                <a:spcPct val="170000"/>
              </a:lnSpc>
            </a:pPr>
            <a:r>
              <a:rPr lang="fr-FR" dirty="0"/>
              <a:t>Comprendre  les concepts du modèle de données multidimensionnel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</a:t>
            </a:fld>
            <a:endParaRPr lang="fr-B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Plan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Systèmes d’information &amp; Aide à la décision</a:t>
            </a:r>
          </a:p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Introduction aux entrepôts de données</a:t>
            </a:r>
            <a:endParaRPr lang="fr-FR" dirty="0"/>
          </a:p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Conception des entrepôts de données</a:t>
            </a:r>
            <a:endParaRPr lang="fr-FR" dirty="0"/>
          </a:p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ETL : Extraction, Transformation et Chargement de données</a:t>
            </a:r>
            <a:endParaRPr lang="fr-FR" dirty="0"/>
          </a:p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Outils d’analyse et de </a:t>
            </a:r>
            <a:r>
              <a:rPr lang="fr-FR" b="1" dirty="0" err="1"/>
              <a:t>reporting</a:t>
            </a:r>
            <a:endParaRPr lang="fr-FR" dirty="0"/>
          </a:p>
          <a:p>
            <a:pPr marL="596646" lvl="0" indent="-514350">
              <a:buFont typeface="+mj-lt"/>
              <a:buAutoNum type="arabicPeriod"/>
            </a:pPr>
            <a:r>
              <a:rPr lang="fr-FR" b="1" dirty="0"/>
              <a:t>Mise en œuvre d’entrepôt de données</a:t>
            </a:r>
            <a:endParaRPr lang="fr-FR" dirty="0"/>
          </a:p>
          <a:p>
            <a:pPr marL="596646" indent="-514350">
              <a:buFont typeface="+mj-lt"/>
              <a:buAutoNum type="arabicPeriod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</a:t>
            </a:fld>
            <a:endParaRPr lang="fr-B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6478" y="2857496"/>
            <a:ext cx="6907522" cy="2286000"/>
          </a:xfrm>
        </p:spPr>
        <p:txBody>
          <a:bodyPr>
            <a:normAutofit/>
          </a:bodyPr>
          <a:lstStyle/>
          <a:p>
            <a:pPr algn="ctr"/>
            <a:r>
              <a:rPr lang="fr-FR" sz="3200" dirty="0"/>
              <a:t>Systèmes d’information </a:t>
            </a:r>
            <a:br>
              <a:rPr lang="fr-FR" sz="3200" dirty="0"/>
            </a:br>
            <a:r>
              <a:rPr lang="fr-FR" sz="3200" dirty="0"/>
              <a:t>&amp; </a:t>
            </a:r>
            <a:br>
              <a:rPr lang="fr-FR" sz="3200" dirty="0"/>
            </a:br>
            <a:r>
              <a:rPr lang="fr-FR" sz="3200" dirty="0"/>
              <a:t>Aide à la décision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Chapitre 1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</a:t>
            </a:fld>
            <a:endParaRPr lang="fr-B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Eléments de contenu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SI opérant vs SI de pilotage</a:t>
            </a:r>
          </a:p>
          <a:p>
            <a:pPr lvl="0"/>
            <a:r>
              <a:rPr lang="fr-FR" dirty="0"/>
              <a:t>Caractéristiques d'un SIAD</a:t>
            </a:r>
          </a:p>
          <a:p>
            <a:pPr lvl="0"/>
            <a:r>
              <a:rPr lang="fr-FR" dirty="0"/>
              <a:t>Architecture d'un SIAD</a:t>
            </a:r>
          </a:p>
          <a:p>
            <a:pPr lvl="0"/>
            <a:r>
              <a:rPr lang="fr-FR" dirty="0"/>
              <a:t>Systèmes transactionnels vs Systèmes décisionnels</a:t>
            </a:r>
          </a:p>
          <a:p>
            <a:pPr lvl="1"/>
            <a:r>
              <a:rPr lang="fr-FR" dirty="0"/>
              <a:t>BD Production / Entrepôt de données</a:t>
            </a:r>
          </a:p>
          <a:p>
            <a:pPr lvl="1"/>
            <a:r>
              <a:rPr lang="fr-FR" dirty="0"/>
              <a:t>OLTP / OLAP</a:t>
            </a:r>
          </a:p>
          <a:p>
            <a:pPr lvl="1"/>
            <a:r>
              <a:rPr lang="fr-FR" dirty="0"/>
              <a:t>BD relationnelles / BD multidimensionnelles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</a:t>
            </a:fld>
            <a:endParaRPr lang="fr-B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714374"/>
            <a:ext cx="7200000" cy="5796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</a:t>
            </a:fld>
            <a:endParaRPr lang="fr-B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24" y="361509"/>
            <a:ext cx="7200000" cy="5577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</a:t>
            </a:fld>
            <a:endParaRPr lang="fr-B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425067"/>
            <a:ext cx="7200000" cy="5450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</a:t>
            </a:fld>
            <a:endParaRPr lang="fr-B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24" y="442690"/>
            <a:ext cx="7381903" cy="5510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</a:t>
            </a:fld>
            <a:endParaRPr lang="fr-B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4" y="251769"/>
            <a:ext cx="7286653" cy="5787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</a:t>
            </a:fld>
            <a:endParaRPr lang="fr-B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4" y="423312"/>
            <a:ext cx="7246429" cy="5863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</a:t>
            </a:fld>
            <a:endParaRPr lang="fr-BE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4" y="384235"/>
            <a:ext cx="7272366" cy="56355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</a:t>
            </a:fld>
            <a:endParaRPr lang="fr-BE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505857"/>
            <a:ext cx="7134252" cy="5723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</a:t>
            </a:fld>
            <a:endParaRPr lang="fr-BE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0150" y="532128"/>
            <a:ext cx="7514128" cy="55400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</a:t>
            </a:fld>
            <a:endParaRPr lang="fr-BE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3" y="417487"/>
            <a:ext cx="7200000" cy="5726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</a:t>
            </a:fld>
            <a:endParaRPr lang="fr-BE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7775" y="800100"/>
            <a:ext cx="7200000" cy="56939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</a:t>
            </a:fld>
            <a:endParaRPr lang="fr-BE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</a:t>
            </a:fld>
            <a:endParaRPr lang="fr-BE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71802" y="2924175"/>
            <a:ext cx="4924425" cy="393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214422"/>
            <a:ext cx="598170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57290" y="500042"/>
            <a:ext cx="24193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18</a:t>
            </a:fld>
            <a:endParaRPr lang="fr-B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14290"/>
            <a:ext cx="7429552" cy="5381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8604"/>
            <a:ext cx="7200000" cy="5731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19</a:t>
            </a:fld>
            <a:endParaRPr lang="fr-BE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20</a:t>
            </a:fld>
            <a:endParaRPr lang="fr-B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71480"/>
            <a:ext cx="7200000" cy="5492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428604"/>
            <a:ext cx="7200000" cy="5435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21</a:t>
            </a:fld>
            <a:endParaRPr lang="fr-BE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71480"/>
            <a:ext cx="7200000" cy="5558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22</a:t>
            </a:fld>
            <a:endParaRPr lang="fr-BE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357166"/>
            <a:ext cx="7200000" cy="573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23</a:t>
            </a:fld>
            <a:endParaRPr lang="fr-BE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500042"/>
            <a:ext cx="7200000" cy="5517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Espace réservé du numéro de diapositiv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24</a:t>
            </a:fld>
            <a:endParaRPr lang="fr-BE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25</a:t>
            </a:fld>
            <a:endParaRPr lang="fr-BE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00042"/>
            <a:ext cx="7072339" cy="56168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26</a:t>
            </a:fld>
            <a:endParaRPr lang="fr-BE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486679" cy="59082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27</a:t>
            </a:fld>
            <a:endParaRPr lang="fr-BE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85728"/>
            <a:ext cx="7200000" cy="57263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28</a:t>
            </a:fld>
            <a:endParaRPr lang="fr-BE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428604"/>
            <a:ext cx="7200000" cy="5730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29</a:t>
            </a:fld>
            <a:endParaRPr lang="fr-BE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28604"/>
            <a:ext cx="7200000" cy="5358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30</a:t>
            </a:fld>
            <a:endParaRPr lang="fr-BE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500042"/>
            <a:ext cx="7200000" cy="5616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31</a:t>
            </a:fld>
            <a:endParaRPr lang="fr-B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500042"/>
            <a:ext cx="7687590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32</a:t>
            </a:fld>
            <a:endParaRPr lang="fr-B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500042"/>
            <a:ext cx="7200000" cy="5621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33</a:t>
            </a:fld>
            <a:endParaRPr lang="fr-BE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3" y="357166"/>
            <a:ext cx="7523505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34</a:t>
            </a:fld>
            <a:endParaRPr lang="fr-BE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85728"/>
            <a:ext cx="6858048" cy="5942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6478" y="2857496"/>
            <a:ext cx="6907522" cy="2286000"/>
          </a:xfrm>
        </p:spPr>
        <p:txBody>
          <a:bodyPr>
            <a:normAutofit/>
          </a:bodyPr>
          <a:lstStyle/>
          <a:p>
            <a:pPr lvl="0" algn="ctr"/>
            <a:r>
              <a:rPr lang="fr-FR" sz="3200" dirty="0"/>
              <a:t>Introduction </a:t>
            </a:r>
            <a:br>
              <a:rPr lang="fr-FR" sz="3200" dirty="0"/>
            </a:br>
            <a:r>
              <a:rPr lang="fr-FR" sz="3200" dirty="0"/>
              <a:t>aux </a:t>
            </a:r>
            <a:br>
              <a:rPr lang="fr-FR" sz="3200" dirty="0"/>
            </a:br>
            <a:r>
              <a:rPr lang="fr-FR" sz="3200" dirty="0"/>
              <a:t>entrepôts de données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Chapitre 2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35</a:t>
            </a:fld>
            <a:endParaRPr lang="fr-BE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Eléments de contenu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24472"/>
          </a:xfrm>
        </p:spPr>
        <p:txBody>
          <a:bodyPr>
            <a:normAutofit fontScale="77500" lnSpcReduction="20000"/>
          </a:bodyPr>
          <a:lstStyle/>
          <a:p>
            <a:pPr lvl="0"/>
            <a:r>
              <a:rPr lang="fr-FR" dirty="0"/>
              <a:t>Définition </a:t>
            </a:r>
          </a:p>
          <a:p>
            <a:pPr lvl="0"/>
            <a:r>
              <a:rPr lang="fr-FR" dirty="0"/>
              <a:t>Caractéristiques d’un ED</a:t>
            </a:r>
          </a:p>
          <a:p>
            <a:pPr lvl="0"/>
            <a:r>
              <a:rPr lang="fr-FR" dirty="0"/>
              <a:t>Comparaison BD de production et ED</a:t>
            </a:r>
          </a:p>
          <a:p>
            <a:pPr lvl="0"/>
            <a:r>
              <a:rPr lang="fr-FR" dirty="0"/>
              <a:t>Exemples d’utilisation d’un ED</a:t>
            </a:r>
          </a:p>
          <a:p>
            <a:pPr lvl="0"/>
            <a:r>
              <a:rPr lang="fr-FR" dirty="0"/>
              <a:t>Notion de Magasin de Données(Data </a:t>
            </a:r>
            <a:r>
              <a:rPr lang="fr-FR" dirty="0" err="1"/>
              <a:t>Mart</a:t>
            </a:r>
            <a:r>
              <a:rPr lang="fr-FR" dirty="0"/>
              <a:t>)</a:t>
            </a:r>
          </a:p>
          <a:p>
            <a:pPr lvl="0"/>
            <a:r>
              <a:rPr lang="fr-FR" dirty="0"/>
              <a:t>Architecture d’un ED</a:t>
            </a:r>
          </a:p>
          <a:p>
            <a:pPr lvl="1"/>
            <a:r>
              <a:rPr lang="fr-FR" dirty="0"/>
              <a:t>Données sources</a:t>
            </a:r>
          </a:p>
          <a:p>
            <a:pPr lvl="1"/>
            <a:r>
              <a:rPr lang="fr-FR" dirty="0" err="1"/>
              <a:t>Méta-données</a:t>
            </a:r>
            <a:endParaRPr lang="fr-FR" dirty="0"/>
          </a:p>
          <a:p>
            <a:pPr lvl="1"/>
            <a:r>
              <a:rPr lang="fr-FR" dirty="0"/>
              <a:t>Extraction, Transformation et Chargement (ETL)</a:t>
            </a:r>
          </a:p>
          <a:p>
            <a:pPr lvl="0"/>
            <a:r>
              <a:rPr lang="fr-FR" dirty="0"/>
              <a:t>Cycle de développement d'un ED</a:t>
            </a:r>
          </a:p>
          <a:p>
            <a:pPr lvl="0"/>
            <a:r>
              <a:rPr lang="fr-FR" dirty="0"/>
              <a:t>Exploitation d’un ED</a:t>
            </a:r>
          </a:p>
          <a:p>
            <a:pPr lvl="0"/>
            <a:r>
              <a:rPr lang="fr-FR" dirty="0"/>
              <a:t>Utilisateurs d’un ED</a:t>
            </a:r>
          </a:p>
          <a:p>
            <a:pPr lvl="0"/>
            <a:r>
              <a:rPr lang="fr-FR" dirty="0"/>
              <a:t>Techniques d’utilisation d’un ED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36</a:t>
            </a:fld>
            <a:endParaRPr lang="fr-BE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37</a:t>
            </a:fld>
            <a:endParaRPr lang="fr-BE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372102"/>
            <a:ext cx="7167590" cy="57715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38</a:t>
            </a:fld>
            <a:endParaRPr lang="fr-BE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1714488"/>
            <a:ext cx="6934200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571480"/>
            <a:ext cx="22860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39</a:t>
            </a:fld>
            <a:endParaRPr lang="fr-B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57166"/>
            <a:ext cx="65913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43038" y="1357313"/>
            <a:ext cx="7013218" cy="4643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40</a:t>
            </a:fld>
            <a:endParaRPr lang="fr-B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57166"/>
            <a:ext cx="65913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1571612"/>
            <a:ext cx="7024119" cy="4929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41</a:t>
            </a:fld>
            <a:endParaRPr lang="fr-B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57166"/>
            <a:ext cx="65913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85852" y="1428736"/>
            <a:ext cx="7482857" cy="4981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42</a:t>
            </a:fld>
            <a:endParaRPr lang="fr-BE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57166"/>
            <a:ext cx="65913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214422"/>
            <a:ext cx="7715304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43</a:t>
            </a:fld>
            <a:endParaRPr lang="fr-BE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571480"/>
            <a:ext cx="7722054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44</a:t>
            </a:fld>
            <a:endParaRPr lang="fr-BE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5" y="428604"/>
            <a:ext cx="7622721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45</a:t>
            </a:fld>
            <a:endParaRPr lang="fr-BE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4" y="354060"/>
            <a:ext cx="7215215" cy="56466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46</a:t>
            </a:fld>
            <a:endParaRPr lang="fr-BE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28604"/>
            <a:ext cx="7349328" cy="53102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47</a:t>
            </a:fld>
            <a:endParaRPr lang="fr-BE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071678"/>
            <a:ext cx="6877050" cy="3833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500042"/>
            <a:ext cx="73723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48</a:t>
            </a:fld>
            <a:endParaRPr lang="fr-BE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500042"/>
            <a:ext cx="7239027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49</a:t>
            </a:fld>
            <a:endParaRPr lang="fr-BE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49" y="428604"/>
            <a:ext cx="7431654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50</a:t>
            </a:fld>
            <a:endParaRPr lang="fr-BE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1" y="428604"/>
            <a:ext cx="7662563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51</a:t>
            </a:fld>
            <a:endParaRPr lang="fr-BE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571480"/>
            <a:ext cx="7579599" cy="5673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52</a:t>
            </a:fld>
            <a:endParaRPr lang="fr-BE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47774" y="402198"/>
            <a:ext cx="7271313" cy="5812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53</a:t>
            </a:fld>
            <a:endParaRPr lang="fr-BE"/>
          </a:p>
        </p:txBody>
      </p:sp>
      <p:pic>
        <p:nvPicPr>
          <p:cNvPr id="378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57166"/>
            <a:ext cx="7640876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54</a:t>
            </a:fld>
            <a:endParaRPr lang="fr-BE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428604"/>
            <a:ext cx="7398958" cy="5410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55</a:t>
            </a:fld>
            <a:endParaRPr lang="fr-BE"/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399" y="500042"/>
            <a:ext cx="7400866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56</a:t>
            </a:fld>
            <a:endParaRPr lang="fr-BE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14290"/>
            <a:ext cx="7500990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57</a:t>
            </a:fld>
            <a:endParaRPr lang="fr-BE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4" y="289455"/>
            <a:ext cx="7500968" cy="571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36478" y="2857496"/>
            <a:ext cx="6907522" cy="2286000"/>
          </a:xfrm>
        </p:spPr>
        <p:txBody>
          <a:bodyPr>
            <a:normAutofit/>
          </a:bodyPr>
          <a:lstStyle/>
          <a:p>
            <a:pPr lvl="0" algn="ctr"/>
            <a:r>
              <a:rPr lang="fr-FR" sz="3200" dirty="0"/>
              <a:t>Conception </a:t>
            </a:r>
            <a:br>
              <a:rPr lang="fr-FR" sz="3200" dirty="0"/>
            </a:br>
            <a:r>
              <a:rPr lang="fr-FR" sz="3200" dirty="0"/>
              <a:t>des </a:t>
            </a:r>
            <a:br>
              <a:rPr lang="fr-FR" sz="3200" dirty="0"/>
            </a:br>
            <a:r>
              <a:rPr lang="fr-FR" sz="3200" dirty="0"/>
              <a:t>entrepôt de données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solidFill>
                  <a:srgbClr val="FF0000"/>
                </a:solidFill>
              </a:rPr>
              <a:t>Chapitre 3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58</a:t>
            </a:fld>
            <a:endParaRPr lang="fr-BE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59</a:t>
            </a:fld>
            <a:endParaRPr lang="fr-BE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57324" y="500042"/>
            <a:ext cx="7390789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60</a:t>
            </a:fld>
            <a:endParaRPr lang="fr-BE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5" y="1266825"/>
            <a:ext cx="6686550" cy="432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61</a:t>
            </a:fld>
            <a:endParaRPr lang="fr-BE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649" y="214290"/>
            <a:ext cx="8729935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62</a:t>
            </a:fld>
            <a:endParaRPr lang="fr-BE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285728"/>
            <a:ext cx="8715436" cy="6143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63</a:t>
            </a:fld>
            <a:endParaRPr lang="fr-BE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0" y="500041"/>
            <a:ext cx="7529542" cy="577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64</a:t>
            </a:fld>
            <a:endParaRPr lang="fr-BE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38095"/>
            <a:ext cx="7553325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214422"/>
            <a:ext cx="7540947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65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1" y="1285860"/>
            <a:ext cx="7751783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66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75" y="1352550"/>
            <a:ext cx="7582236" cy="4791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67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266845"/>
            <a:ext cx="7677150" cy="501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68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33739" y="1228727"/>
            <a:ext cx="6924475" cy="5343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69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3" y="1214422"/>
            <a:ext cx="7687131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70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6838" y="1195388"/>
            <a:ext cx="7203100" cy="5019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71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28724" y="1057274"/>
            <a:ext cx="7371345" cy="52292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72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3" y="1071546"/>
            <a:ext cx="7608147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73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1071546"/>
            <a:ext cx="7669012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74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71538" y="1285860"/>
            <a:ext cx="784860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75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52538" y="1085850"/>
            <a:ext cx="7570024" cy="5343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76</a:t>
            </a:fld>
            <a:endParaRPr lang="fr-BE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63456"/>
            <a:ext cx="7772724" cy="6208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77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86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071546"/>
            <a:ext cx="7429552" cy="5311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78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142984"/>
            <a:ext cx="737507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79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1071546"/>
            <a:ext cx="7249105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80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57290" y="1214422"/>
            <a:ext cx="7594752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81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7" y="1285860"/>
            <a:ext cx="7500990" cy="4214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82</a:t>
            </a:fld>
            <a:endParaRPr lang="fr-BE"/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85728"/>
            <a:ext cx="779145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3" y="1071546"/>
            <a:ext cx="6877887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83</a:t>
            </a:fld>
            <a:endParaRPr lang="fr-BE"/>
          </a:p>
        </p:txBody>
      </p:sp>
      <p:pic>
        <p:nvPicPr>
          <p:cNvPr id="542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3975" y="209051"/>
            <a:ext cx="7391429" cy="57440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84</a:t>
            </a:fld>
            <a:endParaRPr lang="fr-BE"/>
          </a:p>
        </p:txBody>
      </p:sp>
      <p:pic>
        <p:nvPicPr>
          <p:cNvPr id="552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9224" y="296518"/>
            <a:ext cx="7367618" cy="5475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85</a:t>
            </a:fld>
            <a:endParaRPr lang="fr-BE"/>
          </a:p>
        </p:txBody>
      </p:sp>
      <p:pic>
        <p:nvPicPr>
          <p:cNvPr id="563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8787" y="357166"/>
            <a:ext cx="8506617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86</a:t>
            </a:fld>
            <a:endParaRPr lang="fr-BE"/>
          </a:p>
        </p:txBody>
      </p:sp>
      <p:pic>
        <p:nvPicPr>
          <p:cNvPr id="573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4" y="433781"/>
            <a:ext cx="7215215" cy="5500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87</a:t>
            </a:fld>
            <a:endParaRPr lang="fr-BE"/>
          </a:p>
        </p:txBody>
      </p:sp>
      <p:pic>
        <p:nvPicPr>
          <p:cNvPr id="593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024" y="447570"/>
            <a:ext cx="7086627" cy="5476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88</a:t>
            </a:fld>
            <a:endParaRPr lang="fr-BE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0" y="403149"/>
            <a:ext cx="7243790" cy="5578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89</a:t>
            </a:fld>
            <a:endParaRPr lang="fr-BE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571480"/>
            <a:ext cx="7502892" cy="5095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90</a:t>
            </a:fld>
            <a:endParaRPr lang="fr-BE"/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714356"/>
            <a:ext cx="7612808" cy="4724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91</a:t>
            </a:fld>
            <a:endParaRPr lang="fr-BE"/>
          </a:p>
        </p:txBody>
      </p:sp>
      <p:pic>
        <p:nvPicPr>
          <p:cNvPr id="634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06" y="714356"/>
            <a:ext cx="8731044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92</a:t>
            </a:fld>
            <a:endParaRPr lang="fr-BE"/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4" y="642918"/>
            <a:ext cx="7472289" cy="499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93</a:t>
            </a:fld>
            <a:endParaRPr lang="fr-BE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714356"/>
            <a:ext cx="7924832" cy="4705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94</a:t>
            </a:fld>
            <a:endParaRPr lang="fr-BE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9639" y="428604"/>
            <a:ext cx="8437203" cy="57992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95</a:t>
            </a:fld>
            <a:endParaRPr lang="fr-BE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2550" y="428604"/>
            <a:ext cx="7687000" cy="5162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96</a:t>
            </a:fld>
            <a:endParaRPr lang="fr-BE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70041" y="500042"/>
            <a:ext cx="8245363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97</a:t>
            </a:fld>
            <a:endParaRPr lang="fr-BE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7271" y="604832"/>
            <a:ext cx="7686974" cy="4895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98</a:t>
            </a:fld>
            <a:endParaRPr lang="fr-BE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450" y="327087"/>
            <a:ext cx="7186640" cy="5673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99</a:t>
            </a:fld>
            <a:endParaRPr lang="fr-BE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024" y="196378"/>
            <a:ext cx="7443817" cy="57091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100</a:t>
            </a:fld>
            <a:endParaRPr lang="fr-BE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428604"/>
            <a:ext cx="7353328" cy="5514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101</a:t>
            </a:fld>
            <a:endParaRPr lang="fr-BE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3974" y="357166"/>
            <a:ext cx="7261417" cy="55578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102</a:t>
            </a:fld>
            <a:endParaRPr lang="fr-BE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4924" y="428604"/>
            <a:ext cx="7350947" cy="5400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103</a:t>
            </a:fld>
            <a:endParaRPr lang="fr-BE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449" y="428604"/>
            <a:ext cx="7219463" cy="54673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104</a:t>
            </a:fld>
            <a:endParaRPr lang="fr-BE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199" y="714356"/>
            <a:ext cx="7637799" cy="4838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105</a:t>
            </a:fld>
            <a:endParaRPr lang="fr-BE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499" y="500042"/>
            <a:ext cx="7458185" cy="5176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106</a:t>
            </a:fld>
            <a:endParaRPr lang="fr-BE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500042"/>
            <a:ext cx="8317097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107</a:t>
            </a:fld>
            <a:endParaRPr lang="fr-BE"/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5" y="500042"/>
            <a:ext cx="7504962" cy="5234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108</a:t>
            </a:fld>
            <a:endParaRPr lang="fr-BE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4" y="443015"/>
            <a:ext cx="7305703" cy="54529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109</a:t>
            </a:fld>
            <a:endParaRPr lang="fr-BE"/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57166"/>
            <a:ext cx="7833467" cy="600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110</a:t>
            </a:fld>
            <a:endParaRPr lang="fr-BE"/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28725" y="285728"/>
            <a:ext cx="7586692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111</a:t>
            </a:fld>
            <a:endParaRPr lang="fr-BE"/>
          </a:p>
        </p:txBody>
      </p: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90624" y="288545"/>
            <a:ext cx="7239027" cy="5893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112</a:t>
            </a:fld>
            <a:endParaRPr lang="fr-BE"/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0224" y="279100"/>
            <a:ext cx="6557990" cy="6221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113</a:t>
            </a:fld>
            <a:endParaRPr lang="fr-BE"/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4" y="303845"/>
            <a:ext cx="7234265" cy="5754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114</a:t>
            </a:fld>
            <a:endParaRPr lang="fr-BE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57350" y="1419225"/>
            <a:ext cx="582930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115</a:t>
            </a:fld>
            <a:endParaRPr lang="fr-BE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800100"/>
            <a:ext cx="65913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116</a:t>
            </a:fld>
            <a:endParaRPr lang="fr-BE"/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450" y="981075"/>
            <a:ext cx="651510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117</a:t>
            </a:fld>
            <a:endParaRPr lang="fr-BE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5" y="1000125"/>
            <a:ext cx="661035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118</a:t>
            </a:fld>
            <a:endParaRPr lang="fr-BE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66825" y="1457325"/>
            <a:ext cx="661035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119</a:t>
            </a:fld>
            <a:endParaRPr lang="fr-BE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3975" y="1095375"/>
            <a:ext cx="6496050" cy="466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120</a:t>
            </a:fld>
            <a:endParaRPr lang="fr-BE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933450"/>
            <a:ext cx="6553200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121</a:t>
            </a:fld>
            <a:endParaRPr lang="fr-BE"/>
          </a:p>
        </p:txBody>
      </p:sp>
      <p:pic>
        <p:nvPicPr>
          <p:cNvPr id="942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5" y="1285875"/>
            <a:ext cx="657225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122</a:t>
            </a:fld>
            <a:endParaRPr lang="fr-BE"/>
          </a:p>
        </p:txBody>
      </p:sp>
      <p:pic>
        <p:nvPicPr>
          <p:cNvPr id="952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8775" y="952500"/>
            <a:ext cx="58864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123</a:t>
            </a:fld>
            <a:endParaRPr lang="fr-BE"/>
          </a:p>
        </p:txBody>
      </p:sp>
      <p:pic>
        <p:nvPicPr>
          <p:cNvPr id="962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9675" y="971550"/>
            <a:ext cx="6724650" cy="491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124</a:t>
            </a:fld>
            <a:endParaRPr lang="fr-BE"/>
          </a:p>
        </p:txBody>
      </p:sp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0" y="1000125"/>
            <a:ext cx="628650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125</a:t>
            </a:fld>
            <a:endParaRPr lang="fr-BE"/>
          </a:p>
        </p:txBody>
      </p:sp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5" y="1100154"/>
            <a:ext cx="6572250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126</a:t>
            </a:fld>
            <a:endParaRPr lang="fr-BE"/>
          </a:p>
        </p:txBody>
      </p:sp>
      <p:pic>
        <p:nvPicPr>
          <p:cNvPr id="993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5" y="933450"/>
            <a:ext cx="7677150" cy="499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127</a:t>
            </a:fld>
            <a:endParaRPr lang="fr-BE"/>
          </a:p>
        </p:txBody>
      </p:sp>
      <p:pic>
        <p:nvPicPr>
          <p:cNvPr id="1003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942975"/>
            <a:ext cx="7239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128</a:t>
            </a:fld>
            <a:endParaRPr lang="fr-BE"/>
          </a:p>
        </p:txBody>
      </p:sp>
      <p:pic>
        <p:nvPicPr>
          <p:cNvPr id="1013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90575" y="1057275"/>
            <a:ext cx="756285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129</a:t>
            </a:fld>
            <a:endParaRPr lang="fr-BE"/>
          </a:p>
        </p:txBody>
      </p:sp>
      <p:pic>
        <p:nvPicPr>
          <p:cNvPr id="1024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33475" y="1219200"/>
            <a:ext cx="687705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130</a:t>
            </a:fld>
            <a:endParaRPr lang="fr-BE"/>
          </a:p>
        </p:txBody>
      </p:sp>
      <p:pic>
        <p:nvPicPr>
          <p:cNvPr id="1034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1525" y="952500"/>
            <a:ext cx="760095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131</a:t>
            </a:fld>
            <a:endParaRPr lang="fr-BE"/>
          </a:p>
        </p:txBody>
      </p:sp>
      <p:pic>
        <p:nvPicPr>
          <p:cNvPr id="1044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0100" y="847725"/>
            <a:ext cx="75438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132</a:t>
            </a:fld>
            <a:endParaRPr lang="fr-BE"/>
          </a:p>
        </p:txBody>
      </p:sp>
      <p:pic>
        <p:nvPicPr>
          <p:cNvPr id="1054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5825" y="1114425"/>
            <a:ext cx="737235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133</a:t>
            </a:fld>
            <a:endParaRPr lang="fr-BE"/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75" y="495300"/>
            <a:ext cx="840105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134</a:t>
            </a:fld>
            <a:endParaRPr lang="fr-BE"/>
          </a:p>
        </p:txBody>
      </p:sp>
      <p:pic>
        <p:nvPicPr>
          <p:cNvPr id="1075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50" y="942975"/>
            <a:ext cx="71247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135</a:t>
            </a:fld>
            <a:endParaRPr lang="fr-BE"/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1238250"/>
            <a:ext cx="7086600" cy="438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136</a:t>
            </a:fld>
            <a:endParaRPr lang="fr-BE"/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50" y="1895486"/>
            <a:ext cx="6286500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137</a:t>
            </a:fld>
            <a:endParaRPr lang="fr-BE"/>
          </a:p>
        </p:txBody>
      </p:sp>
      <p:pic>
        <p:nvPicPr>
          <p:cNvPr id="583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4925" y="1314450"/>
            <a:ext cx="65341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138</a:t>
            </a:fld>
            <a:endParaRPr lang="fr-BE"/>
          </a:p>
        </p:txBody>
      </p:sp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75" y="1181100"/>
            <a:ext cx="657225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139</a:t>
            </a:fld>
            <a:endParaRPr lang="fr-BE"/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95425" y="1314450"/>
            <a:ext cx="61531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140</a:t>
            </a:fld>
            <a:endParaRPr lang="fr-BE"/>
          </a:p>
        </p:txBody>
      </p:sp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0175" y="1343025"/>
            <a:ext cx="6343650" cy="417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141</a:t>
            </a:fld>
            <a:endParaRPr lang="fr-BE"/>
          </a:p>
        </p:txBody>
      </p:sp>
      <p:pic>
        <p:nvPicPr>
          <p:cNvPr id="1136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828675"/>
            <a:ext cx="6591300" cy="520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142</a:t>
            </a:fld>
            <a:endParaRPr lang="fr-BE"/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914400"/>
            <a:ext cx="65913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143</a:t>
            </a:fld>
            <a:endParaRPr lang="fr-BE"/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1400175"/>
            <a:ext cx="64770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144</a:t>
            </a:fld>
            <a:endParaRPr lang="fr-BE"/>
          </a:p>
        </p:txBody>
      </p:sp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3975" y="1171575"/>
            <a:ext cx="6496050" cy="451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145</a:t>
            </a:fld>
            <a:endParaRPr lang="fr-BE"/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23975" y="895350"/>
            <a:ext cx="649605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146</a:t>
            </a:fld>
            <a:endParaRPr lang="fr-BE"/>
          </a:p>
        </p:txBody>
      </p:sp>
      <p:pic>
        <p:nvPicPr>
          <p:cNvPr id="1187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0175" y="990600"/>
            <a:ext cx="634365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147</a:t>
            </a:fld>
            <a:endParaRPr lang="fr-BE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809625"/>
            <a:ext cx="6248400" cy="523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148</a:t>
            </a:fld>
            <a:endParaRPr lang="fr-BE"/>
          </a:p>
        </p:txBody>
      </p:sp>
      <p:pic>
        <p:nvPicPr>
          <p:cNvPr id="1208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38275" y="942975"/>
            <a:ext cx="626745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149</a:t>
            </a:fld>
            <a:endParaRPr lang="fr-BE"/>
          </a:p>
        </p:txBody>
      </p:sp>
      <p:pic>
        <p:nvPicPr>
          <p:cNvPr id="1218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00175" y="1447800"/>
            <a:ext cx="634365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150</a:t>
            </a:fld>
            <a:endParaRPr lang="fr-BE"/>
          </a:p>
        </p:txBody>
      </p:sp>
      <p:pic>
        <p:nvPicPr>
          <p:cNvPr id="1228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43025" y="962025"/>
            <a:ext cx="645795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151</a:t>
            </a:fld>
            <a:endParaRPr lang="fr-BE"/>
          </a:p>
        </p:txBody>
      </p:sp>
      <p:pic>
        <p:nvPicPr>
          <p:cNvPr id="12390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857250"/>
            <a:ext cx="6477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152</a:t>
            </a:fld>
            <a:endParaRPr lang="fr-BE"/>
          </a:p>
        </p:txBody>
      </p:sp>
      <p:pic>
        <p:nvPicPr>
          <p:cNvPr id="1249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3925" y="1466850"/>
            <a:ext cx="7296150" cy="392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153</a:t>
            </a:fld>
            <a:endParaRPr lang="fr-BE"/>
          </a:p>
        </p:txBody>
      </p:sp>
      <p:pic>
        <p:nvPicPr>
          <p:cNvPr id="12595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1114425"/>
            <a:ext cx="723900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154</a:t>
            </a:fld>
            <a:endParaRPr lang="fr-BE"/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04900" y="1162050"/>
            <a:ext cx="6934200" cy="453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155</a:t>
            </a:fld>
            <a:endParaRPr lang="fr-BE"/>
          </a:p>
        </p:txBody>
      </p:sp>
      <p:pic>
        <p:nvPicPr>
          <p:cNvPr id="1280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1371600"/>
            <a:ext cx="7467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156</a:t>
            </a:fld>
            <a:endParaRPr lang="fr-BE"/>
          </a:p>
        </p:txBody>
      </p:sp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914400"/>
            <a:ext cx="76200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157</a:t>
            </a:fld>
            <a:endParaRPr lang="fr-BE"/>
          </a:p>
        </p:txBody>
      </p:sp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9650" y="771525"/>
            <a:ext cx="7124700" cy="531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158</a:t>
            </a:fld>
            <a:endParaRPr lang="fr-BE"/>
          </a:p>
        </p:txBody>
      </p:sp>
      <p:pic>
        <p:nvPicPr>
          <p:cNvPr id="131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28700" y="847725"/>
            <a:ext cx="7086600" cy="516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159</a:t>
            </a:fld>
            <a:endParaRPr lang="fr-BE"/>
          </a:p>
        </p:txBody>
      </p:sp>
      <p:pic>
        <p:nvPicPr>
          <p:cNvPr id="132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625" y="962025"/>
            <a:ext cx="752475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160</a:t>
            </a:fld>
            <a:endParaRPr lang="fr-BE"/>
          </a:p>
        </p:txBody>
      </p:sp>
      <p:pic>
        <p:nvPicPr>
          <p:cNvPr id="133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8225" y="800100"/>
            <a:ext cx="706755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161</a:t>
            </a:fld>
            <a:endParaRPr lang="fr-BE"/>
          </a:p>
        </p:txBody>
      </p:sp>
      <p:pic>
        <p:nvPicPr>
          <p:cNvPr id="134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0" y="857250"/>
            <a:ext cx="73914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162</a:t>
            </a:fld>
            <a:endParaRPr lang="fr-BE"/>
          </a:p>
        </p:txBody>
      </p:sp>
      <p:pic>
        <p:nvPicPr>
          <p:cNvPr id="135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5350" y="923925"/>
            <a:ext cx="7353300" cy="501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163</a:t>
            </a:fld>
            <a:endParaRPr lang="fr-BE"/>
          </a:p>
        </p:txBody>
      </p:sp>
      <p:pic>
        <p:nvPicPr>
          <p:cNvPr id="136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500" y="1152525"/>
            <a:ext cx="723900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164</a:t>
            </a:fld>
            <a:endParaRPr lang="fr-BE"/>
          </a:p>
        </p:txBody>
      </p:sp>
      <p:pic>
        <p:nvPicPr>
          <p:cNvPr id="137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25" y="1143000"/>
            <a:ext cx="638175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165</a:t>
            </a:fld>
            <a:endParaRPr lang="fr-BE"/>
          </a:p>
        </p:txBody>
      </p: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3550" y="1514475"/>
            <a:ext cx="56769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166</a:t>
            </a:fld>
            <a:endParaRPr lang="fr-BE"/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09675" y="981075"/>
            <a:ext cx="6724650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167</a:t>
            </a:fld>
            <a:endParaRPr lang="fr-BE"/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0650" y="1562100"/>
            <a:ext cx="63627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168</a:t>
            </a:fld>
            <a:endParaRPr lang="fr-BE"/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38325" y="1552575"/>
            <a:ext cx="5467350" cy="3752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169</a:t>
            </a:fld>
            <a:endParaRPr lang="fr-BE"/>
          </a:p>
        </p:txBody>
      </p:sp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1457325"/>
            <a:ext cx="65532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170</a:t>
            </a:fld>
            <a:endParaRPr lang="fr-BE"/>
          </a:p>
        </p:txBody>
      </p:sp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66850" y="1123950"/>
            <a:ext cx="6210300" cy="461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171</a:t>
            </a:fld>
            <a:endParaRPr lang="fr-BE"/>
          </a:p>
        </p:txBody>
      </p:sp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57300" y="895350"/>
            <a:ext cx="6629400" cy="506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172</a:t>
            </a:fld>
            <a:endParaRPr lang="fr-BE"/>
          </a:p>
        </p:txBody>
      </p:sp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4925" y="1152525"/>
            <a:ext cx="6534150" cy="455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173</a:t>
            </a:fld>
            <a:endParaRPr lang="fr-BE"/>
          </a:p>
        </p:txBody>
      </p:sp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6350" y="1057275"/>
            <a:ext cx="6591300" cy="474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492BCA53806E429F22E68A8BD32334" ma:contentTypeVersion="6" ma:contentTypeDescription="Crée un document." ma:contentTypeScope="" ma:versionID="d9bcfe699087c76c644a34eb271ac435">
  <xsd:schema xmlns:xsd="http://www.w3.org/2001/XMLSchema" xmlns:xs="http://www.w3.org/2001/XMLSchema" xmlns:p="http://schemas.microsoft.com/office/2006/metadata/properties" xmlns:ns2="943a7f99-9f79-45fe-beff-492343456aef" targetNamespace="http://schemas.microsoft.com/office/2006/metadata/properties" ma:root="true" ma:fieldsID="d98375468232112a1acc64aa5cafed68" ns2:_="">
    <xsd:import namespace="943a7f99-9f79-45fe-beff-492343456ae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3a7f99-9f79-45fe-beff-492343456a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DF44EA0-3D56-49EB-83B0-01FAFF40E686}"/>
</file>

<file path=customXml/itemProps2.xml><?xml version="1.0" encoding="utf-8"?>
<ds:datastoreItem xmlns:ds="http://schemas.openxmlformats.org/officeDocument/2006/customXml" ds:itemID="{6ADC1A85-0D7C-4C03-930B-55217DAD7CB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00E554-6FDC-4FDB-9F8C-2415409EC0BE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1510</TotalTime>
  <Words>400</Words>
  <Application>Microsoft Office PowerPoint</Application>
  <PresentationFormat>Affichage à l'écran (4:3)</PresentationFormat>
  <Paragraphs>218</Paragraphs>
  <Slides>173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173</vt:i4>
      </vt:variant>
    </vt:vector>
  </HeadingPairs>
  <TitlesOfParts>
    <vt:vector size="174" baseType="lpstr">
      <vt:lpstr>Solstice</vt:lpstr>
      <vt:lpstr>Entrepôt de données</vt:lpstr>
      <vt:lpstr>Objectifs </vt:lpstr>
      <vt:lpstr>Plan</vt:lpstr>
      <vt:lpstr>Systèmes d’information  &amp;  Aide à la décision</vt:lpstr>
      <vt:lpstr>Eléments de contenu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Introduction  aux  entrepôts de données</vt:lpstr>
      <vt:lpstr>Eléments de contenu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Conception  des  entrepôt de données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cp:lastModifiedBy>moi</cp:lastModifiedBy>
  <cp:revision>245</cp:revision>
  <dcterms:created xsi:type="dcterms:W3CDTF">2018-01-13T11:57:54Z</dcterms:created>
  <dcterms:modified xsi:type="dcterms:W3CDTF">2020-10-24T10:25:15Z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0x01010062492BCA53806E429F22E68A8BD32334</vt:lpwstr>
  </property>
</Properties>
</file>